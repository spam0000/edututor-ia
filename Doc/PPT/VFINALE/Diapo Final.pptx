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280" r:id="rId6"/>
    <p:sldId id="270" r:id="rId7"/>
    <p:sldId id="282" r:id="rId8"/>
    <p:sldId id="319" r:id="rId9"/>
    <p:sldId id="300" r:id="rId10"/>
    <p:sldId id="318" r:id="rId11"/>
    <p:sldId id="301" r:id="rId12"/>
    <p:sldId id="317" r:id="rId13"/>
    <p:sldId id="302" r:id="rId14"/>
    <p:sldId id="313" r:id="rId15"/>
    <p:sldId id="303" r:id="rId16"/>
    <p:sldId id="314" r:id="rId17"/>
    <p:sldId id="305" r:id="rId18"/>
    <p:sldId id="315" r:id="rId19"/>
    <p:sldId id="320" r:id="rId20"/>
    <p:sldId id="304" r:id="rId21"/>
    <p:sldId id="316" r:id="rId22"/>
    <p:sldId id="306" r:id="rId23"/>
    <p:sldId id="273" r:id="rId24"/>
    <p:sldId id="321" r:id="rId25"/>
    <p:sldId id="274" r:id="rId26"/>
    <p:sldId id="322" r:id="rId27"/>
    <p:sldId id="275" r:id="rId28"/>
    <p:sldId id="323" r:id="rId29"/>
    <p:sldId id="324" r:id="rId30"/>
    <p:sldId id="279" r:id="rId31"/>
    <p:sldId id="283" r:id="rId32"/>
    <p:sldId id="268" r:id="rId33"/>
    <p:sldId id="263" r:id="rId34"/>
    <p:sldId id="264" r:id="rId35"/>
    <p:sldId id="308" r:id="rId36"/>
    <p:sldId id="326" r:id="rId37"/>
    <p:sldId id="325" r:id="rId38"/>
    <p:sldId id="309" r:id="rId39"/>
    <p:sldId id="311" r:id="rId40"/>
    <p:sldId id="265" r:id="rId41"/>
    <p:sldId id="312" r:id="rId42"/>
    <p:sldId id="266" r:id="rId43"/>
    <p:sldId id="327" r:id="rId44"/>
    <p:sldId id="332" r:id="rId45"/>
    <p:sldId id="328" r:id="rId46"/>
    <p:sldId id="329" r:id="rId47"/>
    <p:sldId id="330" r:id="rId48"/>
    <p:sldId id="286" r:id="rId49"/>
    <p:sldId id="287" r:id="rId50"/>
    <p:sldId id="288" r:id="rId51"/>
    <p:sldId id="290" r:id="rId52"/>
    <p:sldId id="267" r:id="rId53"/>
    <p:sldId id="276" r:id="rId5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F699AA-9C66-4BF9-87C0-4322324F18A0}" v="195" dt="2026-07-02T21:03:32.003"/>
    <p1510:client id="{F9480093-531A-0536-A31F-C0C8492DA61F}" v="344" dt="2026-07-02T21:53:04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67E9F-787C-5093-B8F5-046BF70F3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BEC66B-1195-3868-8A73-07ADDAE1B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C20EA9-CCEF-38A4-0B10-A8B86862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9CBBAB-7FA3-ACE1-27D7-B0007CB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4C069F-D2BB-E20E-2EF6-7775DBAE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33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3020DD-878F-49D5-F361-16F471848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F35D61-D606-72C2-3B1C-B96D5F40F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643E65-58E4-3B73-D012-EF601F91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3CAE44-0EA2-4AB9-8D08-201982EF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84735C-9112-2D4E-1B81-FE34FE72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783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077BB1-126B-D427-1DB2-3D9CEDFB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38EDAE-1643-41BC-B758-CD978835B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73DFB0-BF9A-3990-814F-4565B822C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209884-A222-C167-8485-523962EB5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80B12E-70BC-9AFA-0FB2-847BDF5A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71237C-8417-B182-3D78-7633D907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7CA5F0-480B-5E24-5003-EB154468C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E9E624-4C2E-6263-418D-08550A436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45445F-43AB-200D-01CE-69AF4DC4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79739C-B654-6D2D-E5FB-6DE165C9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384DE6-974C-BE9B-AECE-A8787842E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280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866D6A-EF50-CF4E-2960-124094C7D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0BBD3D-E991-1ADD-37F3-376E63AD4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E99533-9131-14EB-999E-D99840372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39B9E9-4EB1-F216-7A7C-255EB2626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CC5DBD1-C2E2-11B3-29F1-DFC5CB8E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A85CA9C-5AEF-25A7-DAF4-919F2E67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21E680-E794-60C9-BCEF-DE44F785E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D087941-5A61-AE6C-0E69-F541AAE7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48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7712C-3132-BF77-B197-D1DD63E9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B9F5B82-65F6-11FD-3DE5-C3268F2A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E6C2B2-1BE7-9CB1-9C81-AE25999E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35BDE0-28F1-1DD2-EE20-A99AA6EDA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663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511BC58-2979-109B-B19C-0DEC50098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27639EB-33D7-B3F8-A229-71DA8154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1E32C7-9D64-FBBA-ACE6-AEB49B41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055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1F6DB9-2BB9-235A-DD71-1D61C0D67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7F15FA-F08D-6F2A-B486-BCF8E4D22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DA03E9-C0F5-DED0-5C9F-9FF0F1AFA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AC5C4D-09C3-ECCD-F45A-393618CA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DADC84-A4C2-C4DD-F367-19CDDC3A2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2DC822-8A72-A6CF-5779-DACD5652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380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B4CC41-528E-7BDC-D087-5D28FC34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87C9936-04B7-64D0-298E-27E52FCC5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21D43E-2191-FB8D-3259-36EA0082E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249FF7-45D2-6D1E-2098-FF3B833D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9DC926-1060-A56F-A79A-D849B5037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FCA63F-1FAE-F488-C77A-F86980637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6631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2AB71B-A00E-CD0D-7078-700031BA9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8A3194-1B9A-8833-D785-D2021CD20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18FF25-5601-0864-1E9D-7472BB8A3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321136-8BD6-2AE0-2637-5CC608E4F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637F9E-4DD1-734D-E7BF-56C4F19B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7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B421F6C-E149-5EDD-1541-F41736131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5CBFD0-FE4F-767F-47A3-B7C520E98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9E1D8F-B06A-BAD7-70BF-957BFC20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786623-CDE7-902E-A4CF-CC012F88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BDE5-1136-7BAB-01A4-520DEB31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90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67E9F-787C-5093-B8F5-046BF70F3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BEC66B-1195-3868-8A73-07ADDAE1B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C20EA9-CCEF-38A4-0B10-A8B86862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9CBBAB-7FA3-ACE1-27D7-B0007CB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4C069F-D2BB-E20E-2EF6-7775DBAE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5680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3020DD-878F-49D5-F361-16F471848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F35D61-D606-72C2-3B1C-B96D5F40F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643E65-58E4-3B73-D012-EF601F91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3CAE44-0EA2-4AB9-8D08-201982EF4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84735C-9112-2D4E-1B81-FE34FE72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6327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077BB1-126B-D427-1DB2-3D9CEDFB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38EDAE-1643-41BC-B758-CD978835B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73DFB0-BF9A-3990-814F-4565B822C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209884-A222-C167-8485-523962EB5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80B12E-70BC-9AFA-0FB2-847BDF5A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5389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71237C-8417-B182-3D78-7633D907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7CA5F0-480B-5E24-5003-EB154468C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E9E624-4C2E-6263-418D-08550A436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45445F-43AB-200D-01CE-69AF4DC4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79739C-B654-6D2D-E5FB-6DE165C9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384DE6-974C-BE9B-AECE-A8787842E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2624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866D6A-EF50-CF4E-2960-124094C7D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0BBD3D-E991-1ADD-37F3-376E63AD4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E99533-9131-14EB-999E-D99840372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39B9E9-4EB1-F216-7A7C-255EB2626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CC5DBD1-C2E2-11B3-29F1-DFC5CB8E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A85CA9C-5AEF-25A7-DAF4-919F2E67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21E680-E794-60C9-BCEF-DE44F785E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D087941-5A61-AE6C-0E69-F541AAE7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0886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7712C-3132-BF77-B197-D1DD63E9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B9F5B82-65F6-11FD-3DE5-C3268F2A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5E6C2B2-1BE7-9CB1-9C81-AE25999E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35BDE0-28F1-1DD2-EE20-A99AA6EDA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63638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511BC58-2979-109B-B19C-0DEC50098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27639EB-33D7-B3F8-A229-71DA8154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1E32C7-9D64-FBBA-ACE6-AEB49B41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21796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1F6DB9-2BB9-235A-DD71-1D61C0D67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7F15FA-F08D-6F2A-B486-BCF8E4D22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DA03E9-C0F5-DED0-5C9F-9FF0F1AFA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AC5C4D-09C3-ECCD-F45A-393618CA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DADC84-A4C2-C4DD-F367-19CDDC3A2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2DC822-8A72-A6CF-5779-DACD5652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78388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B4CC41-528E-7BDC-D087-5D28FC34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87C9936-04B7-64D0-298E-27E52FCC5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21D43E-2191-FB8D-3259-36EA0082E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249FF7-45D2-6D1E-2098-FF3B833D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9DC926-1060-A56F-A79A-D849B5037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FCA63F-1FAE-F488-C77A-F86980637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87691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2AB71B-A00E-CD0D-7078-700031BA9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8A3194-1B9A-8833-D785-D2021CD20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18FF25-5601-0864-1E9D-7472BB8A3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321136-8BD6-2AE0-2637-5CC608E4F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637F9E-4DD1-734D-E7BF-56C4F19B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0788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B421F6C-E149-5EDD-1541-F41736131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5CBFD0-FE4F-767F-47A3-B7C520E98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9E1D8F-B06A-BAD7-70BF-957BFC20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786623-CDE7-902E-A4CF-CC012F88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BDE5-1136-7BAB-01A4-520DEB31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56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69F78F7-A863-427F-C7FA-25B72C07A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AF54C0-F134-6DFE-6387-56B111D93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C0D367-2482-6290-0ABD-AD935E6ED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33C675-C919-5505-47E1-50B6AE81B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815581-CF9B-10F2-19FB-CE95BE1BA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13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69F78F7-A863-427F-C7FA-25B72C07A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AF54C0-F134-6DFE-6387-56B111D93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C0D367-2482-6290-0ABD-AD935E6ED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BABF7-8CF0-4FD4-87E6-CB75115C1270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33C675-C919-5505-47E1-50B6AE81B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815581-CF9B-10F2-19FB-CE95BE1BA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700F49-6CB8-4210-AA0A-C7A295B4DA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274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DF8973-C999-3A37-06A9-EC89D8D6C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0C34D2-11D0-37AB-FB80-AD4F233D0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F7BBF2-6609-A761-473A-D8125EA83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557EEA9-8C90-99E7-359F-B8B79D8E8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dirty="0" err="1">
                <a:solidFill>
                  <a:srgbClr val="FFFFFF"/>
                </a:solidFill>
              </a:rPr>
              <a:t>Sommaire</a:t>
            </a:r>
            <a:endParaRPr lang="en-US" sz="5600" b="1" dirty="0">
              <a:solidFill>
                <a:srgbClr val="FFFFFF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A236BB3-F496-4AB1-FF49-4515F31A7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C03C969F-960E-B025-BB69-D3A855637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FB79085B-C54F-FDB2-C107-5D58EFB32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B4DCD10C-A223-4F8B-236F-90D04F16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506434EE-44B9-4CCF-89D9-73CCC09D0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Présentation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l'équipe</a:t>
            </a:r>
            <a:endParaRPr lang="en-US" sz="18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Résumé du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projet</a:t>
            </a:r>
            <a:endParaRPr lang="en-US" sz="18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Présentation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de la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méthodologie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globale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et des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différents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artéfacts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Perturbation J1 —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Produit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/ Scope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Perturbation J2 — Technique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Perturbation J3 — Sécurité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Perturbation J3-bis — RGPD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Perturbation J4 — Retour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utilisateur</a:t>
            </a:r>
            <a:endParaRPr lang="en-US" sz="18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Bilan des perturbations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E63FFF-FC27-F9EF-862B-6EF3B0922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88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48E9F-ECB9-A1A6-F240-9304DE3F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B9C6B6-ED1C-4593-A847-2EED7A796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498" y="381935"/>
            <a:ext cx="4589154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Présentation de l'équipe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9B615D3A-EE6A-594B-C97E-56C93CEC9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Équipe </a:t>
            </a:r>
            <a:r>
              <a:rPr lang="en-US" sz="1600" b="1" dirty="0" err="1">
                <a:solidFill>
                  <a:schemeClr val="tx1">
                    <a:alpha val="80000"/>
                  </a:schemeClr>
                </a:solidFill>
              </a:rPr>
              <a:t>projet</a:t>
            </a: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 — </a:t>
            </a:r>
            <a:r>
              <a:rPr lang="en-US" sz="1600" b="1" dirty="0" err="1">
                <a:solidFill>
                  <a:schemeClr val="tx1">
                    <a:alpha val="80000"/>
                  </a:schemeClr>
                </a:solidFill>
              </a:rPr>
              <a:t>EduTutor</a:t>
            </a:r>
            <a:r>
              <a:rPr lang="en-US" sz="1600" b="1" dirty="0">
                <a:solidFill>
                  <a:schemeClr val="tx1">
                    <a:alpha val="80000"/>
                  </a:schemeClr>
                </a:solidFill>
              </a:rPr>
              <a:t> IA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Pierre GUITARD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—  Scrum Master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Kamil SERRAI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—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Développeur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 Full-Stack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Raphael TOUZET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 —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Développeur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 Full-Stack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Walid HDILOU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 — 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Développeur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 Full-Stack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Wael CHAIBI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 —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Développeur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 Full-Stack</a:t>
            </a: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Yassine AITELHACHEMI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 — 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Développeur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 Full-Stack</a:t>
            </a: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Amir IRADI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 — </a:t>
            </a:r>
            <a:r>
              <a:rPr lang="en-US" sz="1600" dirty="0" err="1">
                <a:solidFill>
                  <a:schemeClr val="tx1">
                    <a:alpha val="80000"/>
                  </a:schemeClr>
                </a:solidFill>
              </a:rPr>
              <a:t>Développeur</a:t>
            </a:r>
            <a:r>
              <a:rPr lang="en-US" sz="1600" dirty="0">
                <a:solidFill>
                  <a:schemeClr val="tx1">
                    <a:alpha val="80000"/>
                  </a:schemeClr>
                </a:solidFill>
              </a:rPr>
              <a:t> Full-Stack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>
                  <a:alpha val="80000"/>
                </a:srgb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673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B4162E-7618-0ECB-382F-E8DD035C1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267BEE0-DFE2-3C85-5DD7-4FF376FD1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5BB544-3558-7274-F461-877882DF2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7BE436-EE45-A579-D299-33AAE811A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dirty="0">
                <a:solidFill>
                  <a:srgbClr val="FFFFFF"/>
                </a:solidFill>
              </a:rPr>
              <a:t>Résumé du </a:t>
            </a:r>
            <a:r>
              <a:rPr lang="en-US" sz="5600" b="1" dirty="0" err="1">
                <a:solidFill>
                  <a:srgbClr val="FFFFFF"/>
                </a:solidFill>
              </a:rPr>
              <a:t>projet</a:t>
            </a:r>
            <a:endParaRPr lang="en-US" sz="5600" b="1" dirty="0">
              <a:solidFill>
                <a:srgbClr val="FFFFFF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7125CF4-5CD4-226A-EE83-E41E130E8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6779D3F5-39BD-8728-BDE0-84F81B6B3F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787845C4-0BE4-0187-AFEB-B11FA2DE5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DD5AA32D-CFCF-CE45-4606-4B95CB4228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C6E4ED53-865E-B408-599B-B17E9AEB0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chemeClr val="tx1">
                    <a:alpha val="80000"/>
                  </a:schemeClr>
                </a:solidFill>
              </a:rPr>
              <a:t>Contexte</a:t>
            </a:r>
            <a:endParaRPr lang="en-US" sz="1800" b="1" dirty="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EduTutor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IA est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une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startup edtech française qui met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l'IA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au service des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enseignants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et des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étudiants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. Nous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reprenons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une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base de code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existante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(brownfield) pour la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finaliser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et la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mettre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en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production.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alpha val="80000"/>
                  </a:schemeClr>
                </a:solidFill>
              </a:rPr>
              <a:t>Objectif du MVP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Permettre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à un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étudiant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réviser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à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partir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ses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propres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cours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: import d'un PDF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ou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d'un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texte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génération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d'un quiz de 10 QCM, correction, score et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historique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alpha val="80000"/>
                  </a:schemeClr>
                </a:solidFill>
              </a:rPr>
              <a:t>Stack technique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Django / DRF / PostgreSQL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côté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serveur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, React (Vite)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côté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interface, Docker Compose, et un LLM local (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Ollama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) pour la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souveraineté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des données (RGPD).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>
                    <a:alpha val="80000"/>
                  </a:schemeClr>
                </a:solidFill>
              </a:rPr>
              <a:t>Démarche Agile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Une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semaine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de simulation Scrum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ponctuée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de 5 perturbations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reproduisant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les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contraintes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d'un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projet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réel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 :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besoins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, technique, sécurité, RGPD et retours </a:t>
            </a:r>
            <a:r>
              <a:rPr lang="en-US" sz="1800" dirty="0" err="1">
                <a:solidFill>
                  <a:schemeClr val="tx1">
                    <a:alpha val="80000"/>
                  </a:schemeClr>
                </a:solidFill>
              </a:rPr>
              <a:t>utilisateurs</a:t>
            </a: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AB29E43-3F9E-9CB1-2B84-FD06E03F3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015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1CA4ED9-976D-4999-266A-43F0EF0E2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3062" y="2126975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Les </a:t>
            </a:r>
            <a:r>
              <a:rPr lang="en-US" sz="40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différents</a:t>
            </a: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artéfacts</a:t>
            </a:r>
          </a:p>
        </p:txBody>
      </p:sp>
      <p:pic>
        <p:nvPicPr>
          <p:cNvPr id="7" name="Graphic 6" descr="Coche">
            <a:extLst>
              <a:ext uri="{FF2B5EF4-FFF2-40B4-BE49-F238E27FC236}">
                <a16:creationId xmlns:a16="http://schemas.microsoft.com/office/drawing/2014/main" id="{A6F3AE1D-A8A2-587D-20DD-221A56A86C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15819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48E9F-ECB9-A1A6-F240-9304DE3F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B9C6B6-ED1C-4593-A847-2EED7A796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Product
Vision Board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9B615D3A-EE6A-594B-C97E-56C93CEC9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Définition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condensé en une page de la stratégie du produit.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Rôle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aligner toute l'équipe sur le « pourquoi » avant le « quoi ».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Contient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vision, cibles, besoins, produit et objectifs business.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Notre produit : </a:t>
            </a:r>
            <a:r>
              <a:rPr lang="fr-FR" sz="1600" dirty="0" err="1">
                <a:solidFill>
                  <a:schemeClr val="tx1">
                    <a:alpha val="80000"/>
                  </a:schemeClr>
                </a:solidFill>
              </a:rPr>
              <a:t>EduTutor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 IA - réviser via une IA locale, RGPD by design.</a:t>
            </a:r>
            <a:endParaRPr lang="fr-FR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22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C5D7C-3650-3654-B6B8-3B297AF6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E0E8C91-D525-7F54-7D42-67C126321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3971" y="2733582"/>
            <a:ext cx="10515600" cy="176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30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48E9F-ECB9-A1A6-F240-9304DE3F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B9C6B6-ED1C-4593-A847-2EED7A796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Fiches
Personas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9B615D3A-EE6A-594B-C97E-56C93CEC9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Définition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portraits fictifs mais réalistes des utilisateurs types.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Rôle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concevoir pour un utilisateur réel, pas pour soi.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Contient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profil, contexte, besoins et frustrations.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Nos </a:t>
            </a:r>
            <a:r>
              <a:rPr lang="fr-FR" sz="1600" b="1" dirty="0" err="1">
                <a:solidFill>
                  <a:schemeClr val="tx1">
                    <a:alpha val="80000"/>
                  </a:schemeClr>
                </a:solidFill>
              </a:rPr>
              <a:t>personas</a:t>
            </a: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 : 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Stéphanie (étudiante), Mme Lefèvre (formatrice), Jean (admin).</a:t>
            </a:r>
            <a:endParaRPr lang="fr-FR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958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CB8C8-EBBF-2B28-8DC5-DBFEDBF06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8FD2ECC-2E07-09E3-4BC3-711EBE133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2" y="141968"/>
            <a:ext cx="3476546" cy="4351338"/>
          </a:xfrm>
          <a:prstGeom prst="rect">
            <a:avLst/>
          </a:prstGeom>
        </p:spPr>
      </p:pic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7177971-0271-B1ED-1629-3E509E04C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94" y="4398964"/>
            <a:ext cx="4257675" cy="2457904"/>
          </a:xfrm>
          <a:prstGeom prst="rect">
            <a:avLst/>
          </a:prstGeom>
        </p:spPr>
      </p:pic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9F8AB398-EA74-E9BF-0106-17A68C42F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829" y="37193"/>
            <a:ext cx="4231369" cy="4359729"/>
          </a:xfrm>
          <a:prstGeom prst="rect">
            <a:avLst/>
          </a:prstGeom>
        </p:spPr>
      </p:pic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FDC22831-74F9-A599-5DC8-9B6BB43AA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7511" y="4485368"/>
            <a:ext cx="4360636" cy="1719036"/>
          </a:xfrm>
          <a:prstGeom prst="rect">
            <a:avLst/>
          </a:prstGeom>
        </p:spPr>
      </p:pic>
      <p:pic>
        <p:nvPicPr>
          <p:cNvPr id="11" name="Image 10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B8D0E30-8977-9BE1-1F85-EBAFAD2907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2929" y="23359"/>
            <a:ext cx="4089854" cy="5069569"/>
          </a:xfrm>
          <a:prstGeom prst="rect">
            <a:avLst/>
          </a:prstGeom>
        </p:spPr>
      </p:pic>
      <p:pic>
        <p:nvPicPr>
          <p:cNvPr id="13" name="Image 1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D74333C8-138A-46AD-3290-DC0E9A15E6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6332" y="5093153"/>
            <a:ext cx="4264479" cy="170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36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48E9F-ECB9-A1A6-F240-9304DE3F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B9C6B6-ED1C-4593-A847-2EED7A796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Customer
Journey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9B615D3A-EE6A-594B-C97E-56C93CEC9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Définition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carte des étapes vécues par l'utilisateur de bout en bout.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Rôle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repérer les points de friction pour prioriser les corrections.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Contient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étapes, émotions et irritants à chaque phase.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Un de nos parcours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Découvrir→ D'inscrire→ Rechercher un cours→ Générer un quizz→ Analyser les réponses.</a:t>
            </a:r>
            <a:endParaRPr lang="fr-FR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400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A09634-31B0-D079-113B-86DBFBB2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000" dirty="0"/>
              <a:t>Customer Journey du persona</a:t>
            </a:r>
            <a:r>
              <a:rPr lang="fr-FR" sz="4000"/>
              <a:t> Stéphanie Martin</a:t>
            </a:r>
          </a:p>
        </p:txBody>
      </p:sp>
      <p:pic>
        <p:nvPicPr>
          <p:cNvPr id="8" name="Image 7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AEF28856-02AD-C08B-0CBA-BB2207F8A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2155937"/>
            <a:ext cx="11684000" cy="26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58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48E9F-ECB9-A1A6-F240-9304DE3F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B9C6B6-ED1C-4593-A847-2EED7A796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Story Map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9B615D3A-EE6A-594B-C97E-56C93CEC9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Définition : 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vue 2D du produit — activités (colonnes) × priorités </a:t>
            </a:r>
            <a:r>
              <a:rPr lang="fr-FR" sz="1600" dirty="0" err="1">
                <a:solidFill>
                  <a:schemeClr val="tx1">
                    <a:alpha val="80000"/>
                  </a:schemeClr>
                </a:solidFill>
              </a:rPr>
              <a:t>MoSCoW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 (lignes).</a:t>
            </a: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Rôle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visualiser le périmètre et découper le MVP.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Contient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le parcours utilisateur en haut, les stories priorisées en dessous.</a:t>
            </a:r>
            <a:endParaRPr lang="fr-FR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101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BFB81CE0-7BDA-B2E5-DAAC-8EE1F661B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086" y="1686446"/>
            <a:ext cx="11981542" cy="349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228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48E9F-ECB9-A1A6-F240-9304DE3F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B9C6B6-ED1C-4593-A847-2EED7A796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Product
Backlog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9B615D3A-EE6A-594B-C97E-56C93CEC9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Définition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liste ordonnée et priorisée de toutes les User Stories.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Rôle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source de vérité unique du périmètre produit.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Contient : 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des US au format INVEST, priorisées </a:t>
            </a:r>
            <a:r>
              <a:rPr lang="fr-FR" sz="1600" dirty="0" err="1">
                <a:solidFill>
                  <a:schemeClr val="tx1">
                    <a:alpha val="80000"/>
                  </a:schemeClr>
                </a:solidFill>
              </a:rPr>
              <a:t>MoSCoW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, avec </a:t>
            </a:r>
            <a:r>
              <a:rPr lang="fr-FR" sz="1600" dirty="0" err="1">
                <a:solidFill>
                  <a:schemeClr val="tx1">
                    <a:alpha val="80000"/>
                  </a:schemeClr>
                </a:solidFill>
              </a:rPr>
              <a:t>DoR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 et DoD.</a:t>
            </a: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Notre </a:t>
            </a:r>
            <a:r>
              <a:rPr lang="fr-FR" sz="1600" b="1" dirty="0" err="1">
                <a:solidFill>
                  <a:schemeClr val="tx1">
                    <a:alpha val="80000"/>
                  </a:schemeClr>
                </a:solidFill>
              </a:rPr>
              <a:t>backlog</a:t>
            </a: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 : 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29 User Stories en fin de projet réparties en 10 </a:t>
            </a:r>
            <a:r>
              <a:rPr lang="fr-FR" sz="1600" dirty="0" err="1">
                <a:solidFill>
                  <a:schemeClr val="tx1">
                    <a:alpha val="80000"/>
                  </a:schemeClr>
                </a:solidFill>
              </a:rPr>
              <a:t>epics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.</a:t>
            </a: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1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D606195D-B4DC-BA87-9E14-D8D6FB955E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8312" y="2343944"/>
            <a:ext cx="871537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06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5338E-886E-DB86-358B-34B527BD5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B62B2D5-DF50-8527-3752-B9B39B3A5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2491" y="105569"/>
            <a:ext cx="9820275" cy="3219450"/>
          </a:xfrm>
          <a:prstGeom prst="rect">
            <a:avLst/>
          </a:prstGeom>
        </p:spPr>
      </p:pic>
      <p:pic>
        <p:nvPicPr>
          <p:cNvPr id="7" name="Image 6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1FC33249-5E0F-4939-0524-825320671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492" y="3430587"/>
            <a:ext cx="9820275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64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48E9F-ECB9-A1A6-F240-9304DE3F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B9C6B6-ED1C-4593-A847-2EED7A796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Release
Planning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9B615D3A-EE6A-594B-C97E-56C93CEC9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Définition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plan des livraisons du produit dans le temps.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Rôle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garder une vision long terme au-delà du sprint courant.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Contient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sprints, objectifs, jalons et releases.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endParaRPr lang="fr-FR" sz="1600" dirty="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fr-FR" sz="16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592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2F714-E29C-52AE-C1EB-072236D2D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A8ED82BC-0556-A7E8-FDA7-D8B75885E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4537" y="958283"/>
            <a:ext cx="816292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336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48E9F-ECB9-A1A6-F240-9304DE3F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B9C6B6-ED1C-4593-A847-2EED7A796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Sprint
Backlog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9B615D3A-EE6A-594B-C97E-56C93CEC9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Définition : 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les stories du sprint découpées en tâches techniques.</a:t>
            </a: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Rôle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organiser le travail concret d'un sprint.</a:t>
            </a:r>
            <a:endParaRPr lang="en-US" sz="1600">
              <a:solidFill>
                <a:srgbClr val="000000"/>
              </a:solidFill>
            </a:endParaRPr>
          </a:p>
          <a:p>
            <a:pPr marL="285750" indent="-228600" algn="l">
              <a:buFont typeface="Arial,Sans-Serif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Contient : 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des tâches fines (1-3 h), estimées et suivies en </a:t>
            </a:r>
            <a:r>
              <a:rPr lang="fr-FR" sz="1600" dirty="0" err="1">
                <a:solidFill>
                  <a:schemeClr val="tx1">
                    <a:alpha val="80000"/>
                  </a:schemeClr>
                </a:solidFill>
              </a:rPr>
              <a:t>daily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.</a:t>
            </a:r>
            <a:endParaRPr lang="en-US" sz="1600" dirty="0">
              <a:solidFill>
                <a:schemeClr val="tx1">
                  <a:alpha val="80000"/>
                </a:schemeClr>
              </a:solidFill>
            </a:endParaRPr>
          </a:p>
          <a:p>
            <a:pPr marL="57150" algn="l"/>
            <a:endParaRPr lang="fr-FR" sz="1600" dirty="0">
              <a:solidFill>
                <a:srgbClr val="000000">
                  <a:alpha val="80000"/>
                </a:srgb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223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885DF-044A-2053-2CB9-26A5BEFA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Appareils électroniques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68210AF4-FACA-0F64-279F-591679786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8542" y="1825625"/>
            <a:ext cx="769491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938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57522-CDC2-5C82-7823-355B0D164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96AE0F-BFC4-1C5D-A9C5-5F24C4B7E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6B0224-27BD-0E0F-D9CB-38623FEAB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0CB41C8-CF7D-AE9C-B25F-9B5B50676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3062" y="2126975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Les perturbations et </a:t>
            </a:r>
            <a:r>
              <a:rPr lang="en-US" sz="4000" dirty="0" err="1">
                <a:solidFill>
                  <a:schemeClr val="tx2"/>
                </a:solidFill>
              </a:rPr>
              <a:t>leurs</a:t>
            </a:r>
            <a:r>
              <a:rPr lang="en-US" sz="4000" dirty="0">
                <a:solidFill>
                  <a:schemeClr val="tx2"/>
                </a:solidFill>
              </a:rPr>
              <a:t> gestions</a:t>
            </a:r>
            <a:endParaRPr lang="en-US" sz="4000" kern="12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7" name="Graphic 6" descr="Coche">
            <a:extLst>
              <a:ext uri="{FF2B5EF4-FFF2-40B4-BE49-F238E27FC236}">
                <a16:creationId xmlns:a16="http://schemas.microsoft.com/office/drawing/2014/main" id="{7B28B256-C052-8D58-F284-D137D62268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160180E-10B9-2D95-E990-4FC0AFB1F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64D5646-AF08-6FE8-C1EB-DB0F0E70A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89D1748-E261-775F-A8B9-5CE0D353B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3FE9854-8CDD-C190-266C-7DD1B1F5D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69245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48E9F-ECB9-A1A6-F240-9304DE3F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B9C6B6-ED1C-4593-A847-2EED7A796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Perturbation J1 : </a:t>
            </a:r>
            <a:r>
              <a:rPr lang="en-US" sz="5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Arrivée</a:t>
            </a:r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5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Mme</a:t>
            </a:r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Lefèvre (</a:t>
            </a:r>
            <a:r>
              <a:rPr lang="en-US" sz="56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Produit</a:t>
            </a:r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/ Scope)</a:t>
            </a:r>
            <a:endParaRPr lang="en-US" sz="5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9B615D3A-EE6A-594B-C97E-56C93CEC9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Contexte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Après avoir terminé les artefacts de cadrage (Vision Board, Personas, Backlog...), un </a:t>
            </a: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nouveau persona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 apparaît : </a:t>
            </a: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Mme Lefèvre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, une enseignante souhaitant utiliser EduTutor IA pour créer rapidement des quiz à partir de ses supports de cours.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Pourquoi cette perturbation ?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Cette nouvelle cible remet en question les besoins identifiés le matin. L'équipe doit adapter son analyse sans repartir de zéro et revoir les priorités du produit.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Objectif</a:t>
            </a:r>
            <a:endParaRPr lang="en-US" sz="16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Ajouter le nouveau persona.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Mettre à jour le Product Backlog.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Reprioriser les User Stories avec la méthode </a:t>
            </a: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MoSCoW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Adapter le Sprint Backlog.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>
                    <a:alpha val="80000"/>
                  </a:schemeClr>
                </a:solidFill>
              </a:rPr>
              <a:t>Compétence évaluée :</a:t>
            </a:r>
            <a:r>
              <a:rPr lang="en-US" sz="1600">
                <a:solidFill>
                  <a:schemeClr val="tx1">
                    <a:alpha val="80000"/>
                  </a:schemeClr>
                </a:solidFill>
              </a:rPr>
              <a:t> capacité à gérer l'évolution des besoins dans un projet Agile.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389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769FCB-106E-0334-0291-C68F72A4C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Repriorisation</a:t>
            </a:r>
            <a:r>
              <a:rPr lang="fr-FR" dirty="0"/>
              <a:t> du persona comme primaire,  </a:t>
            </a:r>
            <a:r>
              <a:rPr lang="fr-FR" dirty="0" err="1"/>
              <a:t>customer</a:t>
            </a:r>
            <a:r>
              <a:rPr lang="fr-FR" dirty="0"/>
              <a:t> </a:t>
            </a:r>
            <a:r>
              <a:rPr lang="fr-FR" dirty="0" err="1"/>
              <a:t>journey</a:t>
            </a:r>
            <a:r>
              <a:rPr lang="fr-FR" dirty="0"/>
              <a:t> et story </a:t>
            </a:r>
            <a:r>
              <a:rPr lang="fr-FR" dirty="0" err="1"/>
              <a:t>map</a:t>
            </a:r>
            <a:r>
              <a:rPr lang="fr-FR" dirty="0"/>
              <a:t> adapté</a:t>
            </a:r>
          </a:p>
        </p:txBody>
      </p:sp>
      <p:pic>
        <p:nvPicPr>
          <p:cNvPr id="4" name="Espace réservé du contenu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DA593B5D-545C-BB11-8EE9-C6DD12D105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543" y="1716731"/>
            <a:ext cx="10515600" cy="2508097"/>
          </a:xfrm>
          <a:prstGeom prst="rect">
            <a:avLst/>
          </a:prstGeom>
        </p:spPr>
      </p:pic>
      <p:pic>
        <p:nvPicPr>
          <p:cNvPr id="6" name="Espace réservé du contenu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7B40A491-E41F-B6C1-AF28-293677919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543" y="4219189"/>
            <a:ext cx="9347200" cy="267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796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009D7-621D-0D71-ECDF-A53494ED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A9FFBE-918C-4B78-B056-F3B2B6CBF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Perturbation J2 : La latence inacceptable (Technique)</a:t>
            </a:r>
            <a:endParaRPr lang="en-US" sz="5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C364C713-5D71-EF89-706C-5E01A5912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Contexte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Les utilisateurs trouvent que la génération des quiz est trop lente. Le Product Owner demande d'améliorer les performances sans dégrader la qualité des questions générées.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Pourquoi cette perturbation ?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L'équipe doit prendre une décision technique justifiée, basée sur des mesures objectives et non sur des impressions.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Objectif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Réaliser un benchmark des modèles LLM.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Comparer les performances.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Choisir le meilleur modèle.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Justifier ce choix dans un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ADR (Architecture Decision Record)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Adapter l'application à l'aide d'un système feature flag.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Compétence évaluée :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prise de décision technique argumentée.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03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E5B262A-6A15-4B4A-BAD0-E66A6CA4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Impact sur les artéfactes: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FBB2148-920A-4954-51FE-40887E227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" y="3148131"/>
            <a:ext cx="6724758" cy="3226126"/>
          </a:xfrm>
          <a:prstGeom prst="rect">
            <a:avLst/>
          </a:prstGeom>
        </p:spPr>
      </p:pic>
      <p:pic>
        <p:nvPicPr>
          <p:cNvPr id="4" name="Espace réservé du contenu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F5D4A94F-08E5-D431-EB4F-4F58AAE6A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97182" y="3429652"/>
            <a:ext cx="5614416" cy="171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3736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8EDAB5-BB13-1137-E8AC-7C5D1CAD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Nouvelles tâches liés a la perturbation:</a:t>
            </a:r>
          </a:p>
        </p:txBody>
      </p:sp>
      <p:pic>
        <p:nvPicPr>
          <p:cNvPr id="4" name="Espace réservé du contenu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FD8A524A-E5A7-B7B4-E44E-74B9B9CCE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45839"/>
            <a:ext cx="10905066" cy="42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25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B0063-9063-880E-61FF-C41A9A266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525E23D-D7F3-0AF2-AA80-FBCC19D19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F202E0-E623-7121-9013-AC744B2A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274541-512F-72E5-A13E-88E86A852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dirty="0">
                <a:solidFill>
                  <a:srgbClr val="FFFFFF"/>
                </a:solidFill>
              </a:rPr>
              <a:t>Benchmark des </a:t>
            </a:r>
            <a:r>
              <a:rPr lang="en-US" sz="5600" b="1" dirty="0" err="1">
                <a:solidFill>
                  <a:srgbClr val="FFFFFF"/>
                </a:solidFill>
              </a:rPr>
              <a:t>modèles</a:t>
            </a:r>
            <a:r>
              <a:rPr lang="en-US" sz="5600" b="1" dirty="0">
                <a:solidFill>
                  <a:srgbClr val="FFFFFF"/>
                </a:solidFill>
              </a:rPr>
              <a:t> LLM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3905293-3FB8-F785-0382-0F7113E25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38676C55-3F68-4970-92CE-94CFF1627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BD93D8E0-9C15-72FB-53AF-FED0968B9C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676A705D-1FFE-73B7-DE84-2377B3045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C803BF86-B654-C4D8-015E-F1C212EBA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en-US" b="1" dirty="0" err="1"/>
              <a:t>Pourquoi</a:t>
            </a:r>
            <a:r>
              <a:rPr lang="en-US" b="1" dirty="0"/>
              <a:t> </a:t>
            </a:r>
            <a:r>
              <a:rPr lang="en-US" b="1" dirty="0" err="1"/>
              <a:t>ce</a:t>
            </a:r>
            <a:r>
              <a:rPr lang="en-US" b="1" dirty="0"/>
              <a:t> benchmark ?</a:t>
            </a:r>
          </a:p>
          <a:p>
            <a:r>
              <a:rPr lang="en-US" dirty="0">
                <a:ea typeface="+mn-lt"/>
                <a:cs typeface="+mn-lt"/>
              </a:rPr>
              <a:t>Lors de la perturbation J2, un retour </a:t>
            </a:r>
            <a:r>
              <a:rPr lang="en-US" dirty="0" err="1">
                <a:ea typeface="+mn-lt"/>
                <a:cs typeface="+mn-lt"/>
              </a:rPr>
              <a:t>utilisateur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signalait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génération</a:t>
            </a:r>
            <a:r>
              <a:rPr lang="en-US" dirty="0">
                <a:ea typeface="+mn-lt"/>
                <a:cs typeface="+mn-lt"/>
              </a:rPr>
              <a:t> des quiz </a:t>
            </a:r>
            <a:r>
              <a:rPr lang="en-US" dirty="0" err="1">
                <a:ea typeface="+mn-lt"/>
                <a:cs typeface="+mn-lt"/>
              </a:rPr>
              <a:t>prenait</a:t>
            </a:r>
            <a:r>
              <a:rPr lang="en-US" dirty="0">
                <a:ea typeface="+mn-lt"/>
                <a:cs typeface="+mn-lt"/>
              </a:rPr>
              <a:t> environ 45 </a:t>
            </a:r>
            <a:r>
              <a:rPr lang="en-US" dirty="0" err="1">
                <a:ea typeface="+mn-lt"/>
                <a:cs typeface="+mn-lt"/>
              </a:rPr>
              <a:t>secondes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rendant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l'application</a:t>
            </a:r>
            <a:r>
              <a:rPr lang="en-US" dirty="0">
                <a:ea typeface="+mn-lt"/>
                <a:cs typeface="+mn-lt"/>
              </a:rPr>
              <a:t> peu </a:t>
            </a:r>
            <a:r>
              <a:rPr lang="en-US" dirty="0" err="1">
                <a:ea typeface="+mn-lt"/>
                <a:cs typeface="+mn-lt"/>
              </a:rPr>
              <a:t>utilisable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</a:rPr>
              <a:t>Le sponsor nous </a:t>
            </a:r>
            <a:r>
              <a:rPr lang="en-US" dirty="0" err="1">
                <a:ea typeface="+mn-lt"/>
                <a:cs typeface="+mn-lt"/>
              </a:rPr>
              <a:t>demandait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donc</a:t>
            </a:r>
            <a:r>
              <a:rPr lang="en-US" dirty="0">
                <a:ea typeface="+mn-lt"/>
                <a:cs typeface="+mn-lt"/>
              </a:rPr>
              <a:t> de proposer </a:t>
            </a:r>
            <a:r>
              <a:rPr lang="en-US" dirty="0" err="1">
                <a:ea typeface="+mn-lt"/>
                <a:cs typeface="+mn-lt"/>
              </a:rPr>
              <a:t>rapidement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une</a:t>
            </a:r>
            <a:r>
              <a:rPr lang="en-US" dirty="0">
                <a:ea typeface="+mn-lt"/>
                <a:cs typeface="+mn-lt"/>
              </a:rPr>
              <a:t> solution </a:t>
            </a:r>
            <a:r>
              <a:rPr lang="en-US" dirty="0" err="1">
                <a:ea typeface="+mn-lt"/>
                <a:cs typeface="+mn-lt"/>
              </a:rPr>
              <a:t>afin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réduire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cette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latence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b="1" dirty="0"/>
              <a:t>Notre démarche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Réalisation</a:t>
            </a:r>
            <a:r>
              <a:rPr lang="en-US" dirty="0">
                <a:ea typeface="+mn-lt"/>
                <a:cs typeface="+mn-lt"/>
              </a:rPr>
              <a:t> d'un benchmark de </a:t>
            </a:r>
            <a:r>
              <a:rPr lang="en-US" dirty="0" err="1">
                <a:ea typeface="+mn-lt"/>
                <a:cs typeface="+mn-lt"/>
              </a:rPr>
              <a:t>plusieurs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modèles</a:t>
            </a:r>
            <a:r>
              <a:rPr lang="en-US" dirty="0">
                <a:ea typeface="+mn-lt"/>
                <a:cs typeface="+mn-lt"/>
              </a:rPr>
              <a:t> LLM 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Comparaison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selon</a:t>
            </a:r>
            <a:r>
              <a:rPr lang="en-US" dirty="0">
                <a:ea typeface="+mn-lt"/>
                <a:cs typeface="+mn-lt"/>
              </a:rPr>
              <a:t> des </a:t>
            </a:r>
            <a:r>
              <a:rPr lang="en-US" dirty="0" err="1">
                <a:ea typeface="+mn-lt"/>
                <a:cs typeface="+mn-lt"/>
              </a:rPr>
              <a:t>critères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objectifs</a:t>
            </a:r>
            <a:r>
              <a:rPr lang="en-US" dirty="0">
                <a:ea typeface="+mn-lt"/>
                <a:cs typeface="+mn-lt"/>
              </a:rPr>
              <a:t> : </a:t>
            </a:r>
          </a:p>
          <a:p>
            <a:pPr marL="742950" lvl="1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Temps de </a:t>
            </a:r>
            <a:r>
              <a:rPr lang="en-US" sz="2400" dirty="0" err="1">
                <a:ea typeface="+mn-lt"/>
                <a:cs typeface="+mn-lt"/>
              </a:rPr>
              <a:t>génération</a:t>
            </a:r>
            <a:r>
              <a:rPr lang="en-US" sz="2400" dirty="0">
                <a:ea typeface="+mn-lt"/>
                <a:cs typeface="+mn-lt"/>
              </a:rPr>
              <a:t> </a:t>
            </a:r>
          </a:p>
          <a:p>
            <a:pPr marL="742950" lvl="1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Qualité</a:t>
            </a:r>
            <a:r>
              <a:rPr lang="en-US" sz="2400" dirty="0">
                <a:ea typeface="+mn-lt"/>
                <a:cs typeface="+mn-lt"/>
              </a:rPr>
              <a:t> des quiz </a:t>
            </a:r>
            <a:r>
              <a:rPr lang="en-US" sz="2400" dirty="0" err="1">
                <a:ea typeface="+mn-lt"/>
                <a:cs typeface="+mn-lt"/>
              </a:rPr>
              <a:t>générés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Consommation</a:t>
            </a:r>
            <a:r>
              <a:rPr lang="en-US" sz="2400" dirty="0">
                <a:ea typeface="+mn-lt"/>
                <a:cs typeface="+mn-lt"/>
              </a:rPr>
              <a:t> des </a:t>
            </a:r>
            <a:r>
              <a:rPr lang="en-US" sz="2400" dirty="0" err="1">
                <a:ea typeface="+mn-lt"/>
                <a:cs typeface="+mn-lt"/>
              </a:rPr>
              <a:t>ressources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Coût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d'utilisation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3A19FCA-A1BD-8A6D-A593-954315D7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099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906767-39C0-7395-DBC0-1092E1DA2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035AF0E-EC64-7DEA-86F0-3EDA98788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8CFB4E-363E-8366-C6B0-5BC7658D0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317CE2-0A2D-6972-0BB8-C176F6BB6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dirty="0" err="1">
                <a:solidFill>
                  <a:srgbClr val="FFFFFF"/>
                </a:solidFill>
              </a:rPr>
              <a:t>Résultats</a:t>
            </a:r>
            <a:r>
              <a:rPr lang="en-US" sz="5600" b="1" dirty="0">
                <a:solidFill>
                  <a:srgbClr val="FFFFFF"/>
                </a:solidFill>
              </a:rPr>
              <a:t> du benchmark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E18D94-E999-B63F-7E62-ED51A477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2808B17D-B66F-F8EC-A135-5A7D2CEFF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0392A521-274D-AA97-1DDA-399C53FBDD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B89769DC-6CB5-FF3C-9381-39424A040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58D12D0E-66B4-1EE7-FEB5-346F9C2A3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Après </a:t>
            </a:r>
            <a:r>
              <a:rPr lang="en-US" b="1" dirty="0" err="1">
                <a:ea typeface="+mn-lt"/>
                <a:cs typeface="+mn-lt"/>
              </a:rPr>
              <a:t>comparaison</a:t>
            </a:r>
            <a:r>
              <a:rPr lang="en-US" b="1" dirty="0">
                <a:ea typeface="+mn-lt"/>
                <a:cs typeface="+mn-lt"/>
              </a:rPr>
              <a:t> des </a:t>
            </a:r>
            <a:r>
              <a:rPr lang="en-US" b="1" dirty="0" err="1">
                <a:ea typeface="+mn-lt"/>
                <a:cs typeface="+mn-lt"/>
              </a:rPr>
              <a:t>différents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modèles</a:t>
            </a:r>
            <a:r>
              <a:rPr lang="en-US" b="1" dirty="0">
                <a:ea typeface="+mn-lt"/>
                <a:cs typeface="+mn-lt"/>
              </a:rPr>
              <a:t> :</a:t>
            </a:r>
            <a:endParaRPr lang="en-US" b="1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Réduction</a:t>
            </a:r>
            <a:r>
              <a:rPr lang="en-US" dirty="0">
                <a:ea typeface="+mn-lt"/>
                <a:cs typeface="+mn-lt"/>
              </a:rPr>
              <a:t> significative du temps de </a:t>
            </a:r>
            <a:r>
              <a:rPr lang="en-US" dirty="0" err="1">
                <a:ea typeface="+mn-lt"/>
                <a:cs typeface="+mn-lt"/>
              </a:rPr>
              <a:t>génération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Qualité</a:t>
            </a:r>
            <a:r>
              <a:rPr lang="en-US" dirty="0">
                <a:ea typeface="+mn-lt"/>
                <a:cs typeface="+mn-lt"/>
              </a:rPr>
              <a:t> des quiz </a:t>
            </a:r>
            <a:r>
              <a:rPr lang="en-US" dirty="0" err="1">
                <a:ea typeface="+mn-lt"/>
                <a:cs typeface="+mn-lt"/>
              </a:rPr>
              <a:t>maintenue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Ressources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mieux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maîtrisées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Coût</a:t>
            </a:r>
            <a:r>
              <a:rPr lang="en-US" dirty="0">
                <a:ea typeface="+mn-lt"/>
                <a:cs typeface="+mn-lt"/>
              </a:rPr>
              <a:t> compatible avec les </a:t>
            </a:r>
            <a:r>
              <a:rPr lang="en-US" dirty="0" err="1">
                <a:ea typeface="+mn-lt"/>
                <a:cs typeface="+mn-lt"/>
              </a:rPr>
              <a:t>contraintes</a:t>
            </a:r>
            <a:r>
              <a:rPr lang="en-US" dirty="0">
                <a:ea typeface="+mn-lt"/>
                <a:cs typeface="+mn-lt"/>
              </a:rPr>
              <a:t> du </a:t>
            </a:r>
            <a:r>
              <a:rPr lang="en-US" dirty="0" err="1">
                <a:ea typeface="+mn-lt"/>
                <a:cs typeface="+mn-lt"/>
              </a:rPr>
              <a:t>projet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 err="1"/>
              <a:t>Décision</a:t>
            </a:r>
            <a:r>
              <a:rPr lang="en-US" dirty="0"/>
              <a:t> </a:t>
            </a:r>
            <a:r>
              <a:rPr lang="en-US" dirty="0" err="1"/>
              <a:t>retenue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Nous </a:t>
            </a:r>
            <a:r>
              <a:rPr lang="en-US" dirty="0" err="1">
                <a:ea typeface="+mn-lt"/>
                <a:cs typeface="+mn-lt"/>
              </a:rPr>
              <a:t>avons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retenu</a:t>
            </a:r>
            <a:r>
              <a:rPr lang="en-US" dirty="0">
                <a:ea typeface="+mn-lt"/>
                <a:cs typeface="+mn-lt"/>
              </a:rPr>
              <a:t> le </a:t>
            </a:r>
            <a:r>
              <a:rPr lang="en-US" dirty="0" err="1">
                <a:ea typeface="+mn-lt"/>
                <a:cs typeface="+mn-lt"/>
              </a:rPr>
              <a:t>modèle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offrant</a:t>
            </a:r>
            <a:r>
              <a:rPr lang="en-US" dirty="0">
                <a:ea typeface="+mn-lt"/>
                <a:cs typeface="+mn-lt"/>
              </a:rPr>
              <a:t> le </a:t>
            </a:r>
            <a:r>
              <a:rPr lang="en-US" b="1" dirty="0" err="1">
                <a:ea typeface="+mn-lt"/>
                <a:cs typeface="+mn-lt"/>
              </a:rPr>
              <a:t>meilleur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compromis</a:t>
            </a:r>
            <a:r>
              <a:rPr lang="en-US" dirty="0">
                <a:ea typeface="+mn-lt"/>
                <a:cs typeface="+mn-lt"/>
              </a:rPr>
              <a:t> entre :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Performance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Qualité</a:t>
            </a:r>
            <a:r>
              <a:rPr lang="en-US" dirty="0">
                <a:ea typeface="+mn-lt"/>
                <a:cs typeface="+mn-lt"/>
              </a:rPr>
              <a:t> des </a:t>
            </a:r>
            <a:r>
              <a:rPr lang="en-US" dirty="0" err="1">
                <a:ea typeface="+mn-lt"/>
                <a:cs typeface="+mn-lt"/>
              </a:rPr>
              <a:t>réponses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Consommation</a:t>
            </a:r>
            <a:r>
              <a:rPr lang="en-US" dirty="0">
                <a:ea typeface="+mn-lt"/>
                <a:cs typeface="+mn-lt"/>
              </a:rPr>
              <a:t> des </a:t>
            </a:r>
            <a:r>
              <a:rPr lang="en-US" dirty="0" err="1">
                <a:ea typeface="+mn-lt"/>
                <a:cs typeface="+mn-lt"/>
              </a:rPr>
              <a:t>ressources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Coût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ea typeface="+mn-lt"/>
                <a:cs typeface="+mn-lt"/>
              </a:rPr>
              <a:t>Cette </a:t>
            </a:r>
            <a:r>
              <a:rPr lang="en-US" dirty="0" err="1">
                <a:ea typeface="+mn-lt"/>
                <a:cs typeface="+mn-lt"/>
              </a:rPr>
              <a:t>décision</a:t>
            </a:r>
            <a:r>
              <a:rPr lang="en-US" dirty="0">
                <a:ea typeface="+mn-lt"/>
                <a:cs typeface="+mn-lt"/>
              </a:rPr>
              <a:t> a ensuite </a:t>
            </a:r>
            <a:r>
              <a:rPr lang="en-US" dirty="0" err="1">
                <a:ea typeface="+mn-lt"/>
                <a:cs typeface="+mn-lt"/>
              </a:rPr>
              <a:t>été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formalisée</a:t>
            </a:r>
            <a:r>
              <a:rPr lang="en-US" b="1" dirty="0">
                <a:ea typeface="+mn-lt"/>
                <a:cs typeface="+mn-lt"/>
              </a:rPr>
              <a:t> dans un ADR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afin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d'assurer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justification et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traçabilité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b="1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F8CA68F-CE46-BBF6-9F38-32CD38869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1760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48E9F-ECB9-A1A6-F240-9304DE3F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B9C6B6-ED1C-4593-A847-2EED7A796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 Decision Record</a:t>
            </a:r>
            <a:b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Pourquoi un ADR ?</a:t>
            </a:r>
            <a:endParaRPr lang="en-US" sz="5600" kern="1200"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9B615D3A-EE6A-594B-C97E-56C93CEC9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Lors de la </a:t>
            </a: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perturbation J2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, nous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devions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résoudre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un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problème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de performances : la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génération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des quiz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était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jugée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trop lente.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Plutôt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que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choisir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une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solution de manière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arbitraire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, nous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avons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rédigé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un </a:t>
            </a: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ADR (Architecture Decision Record)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afin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de documenter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notre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décision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technique et de conserver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une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trace de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notre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raisonnement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. </a:t>
            </a:r>
          </a:p>
          <a:p>
            <a:pPr algn="l"/>
            <a:br>
              <a:rPr lang="en-US" sz="1700" dirty="0">
                <a:solidFill>
                  <a:schemeClr val="tx1">
                    <a:alpha val="80000"/>
                  </a:schemeClr>
                </a:solidFill>
              </a:rPr>
            </a:b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Notre démarche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📊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Réalisation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d'un benchmark des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modèles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LLM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⚖️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Comparaison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des performances (temps de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réponse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qualité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consommation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de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ressources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)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🎯 Choix du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modèle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offrant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le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meilleur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compromis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📝 Documentation de la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décision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dans un ADR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459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009D7-621D-0D71-ECDF-A53494ED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A9FFBE-918C-4B78-B056-F3B2B6CBF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7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Structure de l'ADR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C364C713-5D71-EF89-706C-5E01A5912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 b="1" u="sng" dirty="0" err="1">
                <a:solidFill>
                  <a:schemeClr val="tx1">
                    <a:alpha val="80000"/>
                  </a:schemeClr>
                </a:solidFill>
              </a:rPr>
              <a:t>Contexte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Problème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identifié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Contraintes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du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projet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r>
              <a:rPr lang="en-US" sz="1400" b="1" u="sng" dirty="0" err="1">
                <a:solidFill>
                  <a:schemeClr val="tx1">
                    <a:alpha val="80000"/>
                  </a:schemeClr>
                </a:solidFill>
              </a:rPr>
              <a:t>Décision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Solution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retenue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Justification </a:t>
            </a:r>
          </a:p>
          <a:p>
            <a:r>
              <a:rPr lang="en-US" sz="1400" b="1" u="sng" dirty="0" err="1">
                <a:solidFill>
                  <a:schemeClr val="tx1">
                    <a:alpha val="80000"/>
                  </a:schemeClr>
                </a:solidFill>
              </a:rPr>
              <a:t>Conséquences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Avantages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Limites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r>
              <a:rPr lang="en-US" sz="1400" b="1" u="sng" dirty="0">
                <a:solidFill>
                  <a:schemeClr val="tx1">
                    <a:alpha val="80000"/>
                  </a:schemeClr>
                </a:solidFill>
              </a:rPr>
              <a:t>Alternatives </a:t>
            </a:r>
            <a:r>
              <a:rPr lang="en-US" sz="1400" b="1" u="sng" dirty="0" err="1">
                <a:solidFill>
                  <a:schemeClr val="tx1">
                    <a:alpha val="80000"/>
                  </a:schemeClr>
                </a:solidFill>
              </a:rPr>
              <a:t>étudiées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Solutions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écartées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Raisons du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rejet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br>
              <a:rPr lang="en-US" sz="1400" dirty="0">
                <a:solidFill>
                  <a:schemeClr val="tx1">
                    <a:alpha val="80000"/>
                  </a:schemeClr>
                </a:solidFill>
              </a:rPr>
            </a:br>
            <a:endParaRPr lang="en-US" sz="1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400" b="1" u="sng" dirty="0" err="1">
                <a:solidFill>
                  <a:schemeClr val="tx1">
                    <a:alpha val="80000"/>
                  </a:schemeClr>
                </a:solidFill>
              </a:rPr>
              <a:t>Bénéfices</a:t>
            </a:r>
            <a:endParaRPr lang="en-US" sz="1400" b="1" u="sng" dirty="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✔️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Décision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argumentée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✔️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Traçabilité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des choix techniques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✔️ Documentation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réutilisable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✔️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Facilite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la maintenance et les </a:t>
            </a:r>
            <a:r>
              <a:rPr lang="en-US" sz="1400" dirty="0" err="1">
                <a:solidFill>
                  <a:schemeClr val="tx1">
                    <a:alpha val="80000"/>
                  </a:schemeClr>
                </a:solidFill>
              </a:rPr>
              <a:t>évolutions</a:t>
            </a: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 futures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001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B5592-776A-A23B-AA82-FBE1EF86F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7EF0F9-3097-9927-1B61-FF7932C69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Perturbation J3 : Prompt Injection (Sécurité)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C5330570-6405-95AF-2783-1466693D5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Contexte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Une faille de sécurité est découverte : un utilisateur peut intégrer des instructions cachées dans un document afin de modifier le comportement du modèle d'intelligence artificielle.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Pourquoi cette perturbation ?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Les applications utilisant des LLM sont exposées aux attaques de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Prompt Injection (OWASP LLM Top 10)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. Il est donc nécessaire de renforcer la sécurité avant toute mise en production.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Objectif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Identifier la vulnérabilité.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Mettre en place un patch en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4 couches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Ajouter des tests adversariaux.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Documenter les mesures de sécurité.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Compétence évaluée :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sécurisation d'une application utilisant un LLM.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106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1DD84-FD87-61E6-85E0-C0E54922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6C09BF-BABF-E319-3057-22010A2C4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fr-FR" sz="4000" b="1" dirty="0">
                <a:solidFill>
                  <a:srgbClr val="FFFFFF"/>
                </a:solidFill>
              </a:rPr>
              <a:t>Perturbation J3 - Sécurité Prompt Injection</a:t>
            </a:r>
            <a:endParaRPr lang="fr-FR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AEA49B55-CC10-048D-01D9-F2E478765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0000" y="518400"/>
            <a:ext cx="5090000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/>
              <a:t>La perturbation :</a:t>
            </a:r>
            <a:r>
              <a:rPr lang="fr-FR" sz="1600" dirty="0"/>
              <a:t> en pleine semaine de développement (J3), une faille critique est identifiée sur </a:t>
            </a:r>
            <a:r>
              <a:rPr lang="fr-FR" sz="1600" dirty="0" err="1"/>
              <a:t>EduTutor</a:t>
            </a:r>
            <a:r>
              <a:rPr lang="fr-FR" sz="1600" dirty="0"/>
              <a:t> IA. Un utilisateur malveillant peut injecter des instructions dans le prompt LLM pour détourner le comportement du modèle (OWASP LLM-01). Il fallait sécuriser sans bloquer le sprint.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/>
              <a:t>Notre analyse :</a:t>
            </a:r>
            <a:r>
              <a:rPr lang="fr-FR" sz="1600" dirty="0"/>
              <a:t> nous avons qualifié la menace comme une injection de prompt directe (LLM-01). L'attaquant modifie le comportement du LLM via l'input utilisateur (ex. « ignore </a:t>
            </a:r>
            <a:r>
              <a:rPr lang="fr-FR" sz="1600" dirty="0" err="1"/>
              <a:t>previous</a:t>
            </a:r>
            <a:r>
              <a:rPr lang="fr-FR" sz="1600" dirty="0"/>
              <a:t> instructions »). Référence : OWASP LLM Top 10, risque LLM-01.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/>
              <a:t>Notre organisation :</a:t>
            </a:r>
            <a:r>
              <a:rPr lang="fr-FR" sz="1600" dirty="0"/>
              <a:t> plutôt que de bloquer le sprint, nous avons ajouté US-SEC-01 au </a:t>
            </a:r>
            <a:r>
              <a:rPr lang="fr-FR" sz="1600" dirty="0" err="1"/>
              <a:t>backlog</a:t>
            </a:r>
            <a:r>
              <a:rPr lang="fr-FR" sz="1600" dirty="0"/>
              <a:t> en priorité Must Have et traité la sécurité en parallèle du développement MVP, avec un system prompt protégé côté serveur Django.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330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522AC8-A479-3AE6-5DDD-5DE6AA54A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551872F-32E4-BFAE-CC33-CA899052E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B56C0C-69BD-9774-FAB1-941F335BB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Impact sur les artéfactes: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835431CE-17A6-7601-1679-C433609C0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space réservé du contenu 6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81775D9F-5A1C-F57E-F183-7E83224E25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391" y="2224768"/>
            <a:ext cx="8542075" cy="42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119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FCA59-253F-FF14-E002-FABBA28FA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6896"/>
            <a:ext cx="10515600" cy="1325563"/>
          </a:xfrm>
        </p:spPr>
        <p:txBody>
          <a:bodyPr/>
          <a:lstStyle/>
          <a:p>
            <a:pPr algn="ctr"/>
            <a:r>
              <a:rPr lang="fr-FR"/>
              <a:t>Nouvelles User-Stories créés</a:t>
            </a:r>
          </a:p>
        </p:txBody>
      </p:sp>
      <p:pic>
        <p:nvPicPr>
          <p:cNvPr id="4" name="Espace réservé du contenu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DBACD473-391B-339F-7B89-F084DF57A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6036" y="1825625"/>
            <a:ext cx="99599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507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851C5-FBAC-BA3E-CA84-9749C156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25DF5C-E078-E3F0-A1BB-C34FD7D26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fr-FR" sz="5600" b="1" dirty="0">
                <a:solidFill>
                  <a:srgbClr val="FFFFFF"/>
                </a:solidFill>
              </a:rPr>
              <a:t>Mesures de protection LLM</a:t>
            </a:r>
            <a:endParaRPr lang="fr-FR" sz="5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616B9B0F-6F2D-300F-868C-5C0DBC6DB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0000" y="518400"/>
            <a:ext cx="5090000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/>
              <a:t>System prompt protégé (US-SEC-01) :</a:t>
            </a:r>
            <a:r>
              <a:rPr lang="fr-FR" sz="1600" dirty="0"/>
              <a:t> un system prompt fixe et non modifiable est injecté avant chaque requête LLM. L'utilisateur ne peut pas surcharger ce prompt côté serveur Django — priorité Must Have, Story Points : 5.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 err="1"/>
              <a:t>Sanitisation</a:t>
            </a:r>
            <a:r>
              <a:rPr lang="fr-FR" sz="1600" b="1" dirty="0"/>
              <a:t> des inputs :</a:t>
            </a:r>
            <a:r>
              <a:rPr lang="fr-FR" sz="1600" dirty="0"/>
              <a:t> filtre côté Back Django sur les patterns d'injection classiques (« ignore </a:t>
            </a:r>
            <a:r>
              <a:rPr lang="fr-FR" sz="1600" dirty="0" err="1"/>
              <a:t>previous</a:t>
            </a:r>
            <a:r>
              <a:rPr lang="fr-FR" sz="1600" dirty="0"/>
              <a:t> instructions », jailbreak, etc.). Requêtes bloquées loguées en PostgreSQL (date, user, </a:t>
            </a:r>
            <a:r>
              <a:rPr lang="fr-FR" sz="1600" dirty="0" err="1"/>
              <a:t>payload</a:t>
            </a:r>
            <a:r>
              <a:rPr lang="fr-FR" sz="1600" dirty="0"/>
              <a:t>) pour audit admin.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/>
              <a:t>Tests de validation :</a:t>
            </a:r>
            <a:r>
              <a:rPr lang="fr-FR" sz="1600" dirty="0"/>
              <a:t> </a:t>
            </a:r>
            <a:r>
              <a:rPr lang="fr-FR" sz="1600" dirty="0" err="1"/>
              <a:t>payloads</a:t>
            </a:r>
            <a:r>
              <a:rPr lang="fr-FR" sz="1600" dirty="0"/>
              <a:t> OWASP LLM-01 testés — le system prompt tient. Taux de faux positifs validé sur corpus d'inputs normaux.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/>
              <a:t>Ce qu'on retient de cette perturbation :</a:t>
            </a:r>
            <a:r>
              <a:rPr lang="fr-FR" sz="1600" dirty="0"/>
              <a:t> la sécurité LLM se construit dès la conception, pas en </a:t>
            </a:r>
            <a:r>
              <a:rPr lang="fr-FR" sz="1600" dirty="0" err="1"/>
              <a:t>post-prod</a:t>
            </a:r>
            <a:r>
              <a:rPr lang="fr-FR" sz="1600" dirty="0"/>
              <a:t>. Un system prompt fixe est la première ligne de défense contre les injections de prompt.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2609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1DD84-FD87-61E6-85E0-C0E54922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6C09BF-BABF-E319-3057-22010A2C4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fr-FR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Perturbation J3- RGPD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AEA49B55-CC10-048D-01D9-F2E478765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0000" y="518400"/>
            <a:ext cx="5090000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La perturbation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en pleine finalisation du MVP (mercredi 01/07 à 14h), un utilisateur a exercé ses droits RGPD et demandé l'accès à toutes ses données, une SAR. Il fallait répondre sans bloquer le sprint.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Notre analyse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nous avons qualifié la demande comme une Subject Access Request (Art. 15), puis identifié les trois droits à couvrir : accès, effacement et portabilité, dans le délai légal d'un mois.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fr-FR" sz="1600" b="1">
                <a:solidFill>
                  <a:schemeClr val="tx1">
                    <a:alpha val="80000"/>
                  </a:schemeClr>
                </a:solidFill>
              </a:rPr>
              <a:t>Notre organisation : </a:t>
            </a:r>
            <a:r>
              <a:rPr lang="fr-FR" sz="1600">
                <a:solidFill>
                  <a:schemeClr val="tx1">
                    <a:alpha val="80000"/>
                  </a:schemeClr>
                </a:solidFill>
              </a:rPr>
              <a:t>plutôt que d'arrêter le développement, nous avons ajouté la demande au backlog et traité la conformité en parallèle du MVP.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0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1DD84-FD87-61E6-85E0-C0E54922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6C09BF-BABF-E319-3057-22010A2C4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Perturbation J3-bis : Demande RGPD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AEA49B55-CC10-048D-01D9-F2E478765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Contexte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En pleine finalisation du MVP, un utilisateur exerce ses droits RGPD et demande l'accès à l'ensemble de ses données personnelles.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Pourquoi cette perturbation ?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Même lorsqu'un produit est fonctionnel, il doit respecter les obligations réglementaires liées au traitement des données personnelles.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Objectif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Prioriser la demande.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Préparer une réponse à un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SAR (Subject Access Request)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Mettre à jour les documents RGPD.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Vérifier la conformité de l'application.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Compétence évaluée :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prise en compte des exigences réglementaires dans un projet logiciel.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811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851C5-FBAC-BA3E-CA84-9749C156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25DF5C-E078-E3F0-A1BB-C34FD7D26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fr-FR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Mentions légales &amp; conformité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616B9B0F-6F2D-300F-868C-5C0DBC6DB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0000" y="518400"/>
            <a:ext cx="5090000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Mentions légales (v1.2) : 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j'ai rédigé un document complet : éditeur, hébergement local-first, données collectées, finalités, durées de conservation et base légale de chaque traitement.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Accès &amp; portabilité : 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nous avons créé </a:t>
            </a:r>
            <a:r>
              <a:rPr lang="fr-FR" sz="1600" dirty="0" err="1">
                <a:solidFill>
                  <a:schemeClr val="tx1">
                    <a:alpha val="80000"/>
                  </a:schemeClr>
                </a:solidFill>
              </a:rPr>
              <a:t>l'endpoint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 GET /api/</a:t>
            </a:r>
            <a:r>
              <a:rPr lang="fr-FR" sz="1600" dirty="0" err="1">
                <a:solidFill>
                  <a:schemeClr val="tx1">
                    <a:alpha val="80000"/>
                  </a:schemeClr>
                </a:solidFill>
              </a:rPr>
              <a:t>users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/me/export/ qui restitue à l'utilisateur toutes ses données en JSON ou CSV (Art. 15 et 20).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Effacement : 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une fonction supprime le compte, les logs et les sauvegardes sur demande (Art. 17).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Sécurité &amp; cookies : 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logs conservés 1 an (L.34-1 CPCE) et un seul cookie de session </a:t>
            </a:r>
            <a:r>
              <a:rPr lang="fr-FR" sz="1600" dirty="0" err="1">
                <a:solidFill>
                  <a:schemeClr val="tx1">
                    <a:alpha val="80000"/>
                  </a:schemeClr>
                </a:solidFill>
              </a:rPr>
              <a:t>httpOnly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, sans traceur : donc sans bandeau de consentement (CNIL).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Ce qu’on retient de cette </a:t>
            </a:r>
            <a:r>
              <a:rPr lang="fr-FR" sz="1600" b="1" dirty="0" err="1">
                <a:solidFill>
                  <a:schemeClr val="tx1">
                    <a:alpha val="80000"/>
                  </a:schemeClr>
                </a:solidFill>
              </a:rPr>
              <a:t>pertubation</a:t>
            </a:r>
            <a:r>
              <a:rPr lang="fr-FR" sz="1600" b="1" dirty="0">
                <a:solidFill>
                  <a:schemeClr val="tx1">
                    <a:alpha val="80000"/>
                  </a:schemeClr>
                </a:solidFill>
              </a:rPr>
              <a:t> : </a:t>
            </a:r>
            <a:r>
              <a:rPr lang="fr-FR" sz="1600" dirty="0">
                <a:solidFill>
                  <a:schemeClr val="tx1">
                    <a:alpha val="80000"/>
                  </a:schemeClr>
                </a:solidFill>
              </a:rPr>
              <a:t>la conformité se construit au fur et a mesure de la création du projet et la documentation constitue la preuve de nos engagements.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367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851C5-FBAC-BA3E-CA84-9749C156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25DF5C-E078-E3F0-A1BB-C34FD7D26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Perturbation J4 : Le retour de Mme Lefèvre</a:t>
            </a:r>
            <a:endParaRPr lang="en-US" sz="5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616B9B0F-6F2D-300F-868C-5C0DBC6DB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Contexte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Après avoir utilisé l'application, Mme Lefèvre remonte plusieurs problèmes et propose des améliorations. L'équipe doit gérer ce retour tout en préparant la livraison finale.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Pourquoi cette perturbation ?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La qualité d'un produit ne dépend pas uniquement du développement, mais également de la capacité à intégrer les retours utilisateurs et à préparer les évolutions futures.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Objectif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Analyser les retours.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Corriger les anomalies prioritaires.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Réaliser un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Post-Mortem blameless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Préparer les fonctionnalités de la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Release 2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(ex. RAG, amélioration du feedback utilisateur).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Compétence évaluée :</a:t>
            </a: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 amélioration continue et gestion de la relation client.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7059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695905-9601-0753-0F74-3A55C2723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Les impact</a:t>
            </a:r>
            <a:r>
              <a:rPr lang="fr-FR" dirty="0">
                <a:solidFill>
                  <a:srgbClr val="000000"/>
                </a:solidFill>
                <a:latin typeface="Aptos Display"/>
              </a:rPr>
              <a:t>es sur les artéfacts :</a:t>
            </a:r>
            <a:endParaRPr lang="fr-FR" dirty="0"/>
          </a:p>
        </p:txBody>
      </p:sp>
      <p:pic>
        <p:nvPicPr>
          <p:cNvPr id="7" name="Espace réservé du contenu 6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D6F70133-92A7-362F-66EF-D8387DD09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80587"/>
            <a:ext cx="11321142" cy="347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750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E9EC2-BF88-6920-7BBA-EA9F5C0D0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20CC91-FA97-8468-533F-8C973E9F8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Nouveaux épics et </a:t>
            </a:r>
            <a:r>
              <a:rPr lang="fr-FR" dirty="0" err="1"/>
              <a:t>repriorisation</a:t>
            </a:r>
            <a:r>
              <a:rPr lang="fr-FR" dirty="0"/>
              <a:t> d'US</a:t>
            </a:r>
          </a:p>
        </p:txBody>
      </p:sp>
      <p:pic>
        <p:nvPicPr>
          <p:cNvPr id="4" name="Espace réservé du contenu 3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54D99E76-AD1E-52A4-E0AB-66BF4DED14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4975" y="1872456"/>
            <a:ext cx="878205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8496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3F525F-F289-6D9D-ADE0-453EF8CFD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9A1AA70-182E-0D6C-C7AF-DF621BFA9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143" y="170811"/>
            <a:ext cx="10515600" cy="3263137"/>
          </a:xfrm>
          <a:prstGeom prst="rect">
            <a:avLst/>
          </a:prstGeom>
        </p:spPr>
      </p:pic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9149A0C4-2DA5-7F88-FFBA-7D6B0682D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93" y="3431042"/>
            <a:ext cx="1062990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487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B96F04-6DD7-C34D-3D6C-03EFE21E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/>
              <a:t>Release Planning modifié</a:t>
            </a:r>
            <a:endParaRPr lang="fr-FR" dirty="0"/>
          </a:p>
        </p:txBody>
      </p:sp>
      <p:pic>
        <p:nvPicPr>
          <p:cNvPr id="4" name="Espace réservé du contenu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82ECFECC-A78C-F8CE-491C-4682D29980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2597" y="1825625"/>
            <a:ext cx="90668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797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ACCD8C-190B-E240-A269-0B05B39B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Création des tâches liés aux nouvelles US</a:t>
            </a:r>
          </a:p>
        </p:txBody>
      </p:sp>
      <p:pic>
        <p:nvPicPr>
          <p:cNvPr id="4" name="Espace réservé du contenu 3" descr="Une image contenant texte, capture d’écran, nombre, Parallèle&#10;&#10;Le contenu généré par l’IA peut être incorrect.">
            <a:extLst>
              <a:ext uri="{FF2B5EF4-FFF2-40B4-BE49-F238E27FC236}">
                <a16:creationId xmlns:a16="http://schemas.microsoft.com/office/drawing/2014/main" id="{807A7655-3ED1-D677-09BC-62D474FF3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4850" y="1825625"/>
            <a:ext cx="68823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5788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B085F-BECE-B88A-13A3-3EEFA4645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330F42B-CD19-A682-0B52-B11932759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9DFED4-A10E-94E0-E0BC-ACFF25B05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21739D9-7603-6D14-DBFB-3A1CDE5E4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755" y="381935"/>
            <a:ext cx="4835897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 sz="5600" b="1" dirty="0" err="1">
                <a:solidFill>
                  <a:srgbClr val="FFFFFF"/>
                </a:solidFill>
              </a:rPr>
              <a:t>Veille</a:t>
            </a:r>
            <a:r>
              <a:rPr lang="en-GB" sz="5600" b="1" dirty="0">
                <a:solidFill>
                  <a:srgbClr val="FFFFFF"/>
                </a:solidFill>
              </a:rPr>
              <a:t> </a:t>
            </a:r>
            <a:r>
              <a:rPr lang="en-GB" sz="5600" b="1" dirty="0" err="1">
                <a:solidFill>
                  <a:srgbClr val="FFFFFF"/>
                </a:solidFill>
              </a:rPr>
              <a:t>technologique</a:t>
            </a:r>
            <a:r>
              <a:rPr lang="en-GB" sz="5600" b="1" dirty="0">
                <a:solidFill>
                  <a:srgbClr val="FFFFFF"/>
                </a:solidFill>
              </a:rPr>
              <a:t> de sécurité</a:t>
            </a:r>
            <a:endParaRPr lang="en-US" sz="5600" b="1" dirty="0">
              <a:solidFill>
                <a:srgbClr val="FFFFFF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5C84EAF-7A62-5685-D3DF-B74D51D2B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CEF541CC-7431-BF08-6DAA-562076210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B08D1A8E-7F6C-3773-E41D-BDCEB94B7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78D85058-48BE-490C-134A-737C0C7CB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906B51D4-91D6-AEC3-B6F1-18F1A49AA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400" b="1" dirty="0" err="1"/>
              <a:t>Pourquoi</a:t>
            </a:r>
            <a:r>
              <a:rPr lang="en-GB" sz="1400" b="1" dirty="0"/>
              <a:t> </a:t>
            </a:r>
            <a:r>
              <a:rPr lang="en-GB" sz="1400" b="1" dirty="0" err="1"/>
              <a:t>cette</a:t>
            </a:r>
            <a:r>
              <a:rPr lang="en-GB" sz="1400" b="1" dirty="0"/>
              <a:t> </a:t>
            </a:r>
            <a:r>
              <a:rPr lang="en-GB" sz="1400" b="1" dirty="0" err="1"/>
              <a:t>veille</a:t>
            </a:r>
            <a:r>
              <a:rPr lang="en-GB" sz="1400" b="1" dirty="0"/>
              <a:t> ?</a:t>
            </a:r>
          </a:p>
          <a:p>
            <a:r>
              <a:rPr lang="en-GB" sz="1400" dirty="0"/>
              <a:t>Lors de la perturbation J3, </a:t>
            </a:r>
            <a:r>
              <a:rPr lang="en-GB" sz="1400" dirty="0" err="1"/>
              <a:t>une</a:t>
            </a:r>
            <a:r>
              <a:rPr lang="en-GB" sz="1400" dirty="0"/>
              <a:t> </a:t>
            </a:r>
            <a:r>
              <a:rPr lang="en-GB" sz="1400" dirty="0" err="1"/>
              <a:t>vulnérabilité</a:t>
            </a:r>
            <a:r>
              <a:rPr lang="en-GB" sz="1400" dirty="0"/>
              <a:t> de </a:t>
            </a:r>
            <a:r>
              <a:rPr lang="en-GB" sz="1400" b="1" dirty="0"/>
              <a:t>Prompt Injection (OWASP LLM-01)</a:t>
            </a:r>
            <a:r>
              <a:rPr lang="en-GB" sz="1400" dirty="0"/>
              <a:t> a </a:t>
            </a:r>
            <a:r>
              <a:rPr lang="en-GB" sz="1400" dirty="0" err="1"/>
              <a:t>été</a:t>
            </a:r>
            <a:r>
              <a:rPr lang="en-GB" sz="1400" dirty="0"/>
              <a:t> </a:t>
            </a:r>
            <a:r>
              <a:rPr lang="en-GB" sz="1400" dirty="0" err="1"/>
              <a:t>identifiée</a:t>
            </a:r>
            <a:r>
              <a:rPr lang="en-GB" sz="1400" dirty="0"/>
              <a:t> sur </a:t>
            </a:r>
            <a:r>
              <a:rPr lang="en-GB" sz="1400" dirty="0" err="1"/>
              <a:t>notre</a:t>
            </a:r>
            <a:r>
              <a:rPr lang="en-GB" sz="1400" dirty="0"/>
              <a:t> application.</a:t>
            </a:r>
          </a:p>
          <a:p>
            <a:r>
              <a:rPr lang="en-GB" sz="1400" dirty="0"/>
              <a:t>Le sponsor </a:t>
            </a:r>
            <a:r>
              <a:rPr lang="en-GB" sz="1400" dirty="0" err="1"/>
              <a:t>demandait</a:t>
            </a:r>
            <a:r>
              <a:rPr lang="en-GB" sz="1400" dirty="0"/>
              <a:t> </a:t>
            </a:r>
            <a:r>
              <a:rPr lang="en-GB" sz="1400" dirty="0" err="1"/>
              <a:t>donc</a:t>
            </a:r>
            <a:r>
              <a:rPr lang="en-GB" sz="1400" dirty="0"/>
              <a:t> de :</a:t>
            </a:r>
          </a:p>
          <a:p>
            <a:r>
              <a:rPr lang="en-GB" sz="1400" dirty="0" err="1"/>
              <a:t>comprendre</a:t>
            </a:r>
            <a:r>
              <a:rPr lang="en-GB" sz="1400" dirty="0"/>
              <a:t> </a:t>
            </a:r>
            <a:r>
              <a:rPr lang="en-GB" sz="1400" dirty="0" err="1"/>
              <a:t>rapidement</a:t>
            </a:r>
            <a:r>
              <a:rPr lang="en-GB" sz="1400" dirty="0"/>
              <a:t> </a:t>
            </a:r>
            <a:r>
              <a:rPr lang="en-GB" sz="1400" dirty="0" err="1"/>
              <a:t>cette</a:t>
            </a:r>
            <a:r>
              <a:rPr lang="en-GB" sz="1400" dirty="0"/>
              <a:t> </a:t>
            </a:r>
            <a:r>
              <a:rPr lang="en-GB" sz="1400" dirty="0" err="1"/>
              <a:t>vulnérabilité</a:t>
            </a:r>
            <a:r>
              <a:rPr lang="en-GB" sz="1400" dirty="0"/>
              <a:t> ; </a:t>
            </a:r>
          </a:p>
          <a:p>
            <a:r>
              <a:rPr lang="en-GB" sz="1400" dirty="0"/>
              <a:t>identifier les </a:t>
            </a:r>
            <a:r>
              <a:rPr lang="en-GB" sz="1400" dirty="0" err="1"/>
              <a:t>bonnes</a:t>
            </a:r>
            <a:r>
              <a:rPr lang="en-GB" sz="1400" dirty="0"/>
              <a:t> pratiques de protection ; </a:t>
            </a:r>
          </a:p>
          <a:p>
            <a:r>
              <a:rPr lang="en-GB" sz="1400" dirty="0"/>
              <a:t>proposer </a:t>
            </a:r>
            <a:r>
              <a:rPr lang="en-GB" sz="1400" dirty="0" err="1"/>
              <a:t>une</a:t>
            </a:r>
            <a:r>
              <a:rPr lang="en-GB" sz="1400" dirty="0"/>
              <a:t> solution avant la livraison. </a:t>
            </a:r>
          </a:p>
          <a:p>
            <a:r>
              <a:rPr lang="en-GB" sz="1400" b="1" dirty="0"/>
              <a:t>Notre démarche</a:t>
            </a:r>
          </a:p>
          <a:p>
            <a:r>
              <a:rPr lang="en-GB" sz="1400" dirty="0"/>
              <a:t>Étude de la documentation OWASP LLM Top 10 </a:t>
            </a:r>
          </a:p>
          <a:p>
            <a:r>
              <a:rPr lang="en-GB" sz="1400" dirty="0"/>
              <a:t>Analyse du podcast </a:t>
            </a:r>
            <a:r>
              <a:rPr lang="en-GB" sz="1400" dirty="0" err="1"/>
              <a:t>fourni</a:t>
            </a:r>
            <a:r>
              <a:rPr lang="en-GB" sz="1400" dirty="0"/>
              <a:t> </a:t>
            </a:r>
          </a:p>
          <a:p>
            <a:r>
              <a:rPr lang="en-GB" sz="1400" dirty="0"/>
              <a:t>Recherche sur les </a:t>
            </a:r>
            <a:r>
              <a:rPr lang="en-GB" sz="1400" dirty="0" err="1"/>
              <a:t>attaques</a:t>
            </a:r>
            <a:r>
              <a:rPr lang="en-GB" sz="1400" dirty="0"/>
              <a:t> </a:t>
            </a:r>
            <a:r>
              <a:rPr lang="en-GB" sz="1400" dirty="0" err="1"/>
              <a:t>réelles</a:t>
            </a:r>
            <a:r>
              <a:rPr lang="en-GB" sz="1400" dirty="0"/>
              <a:t> </a:t>
            </a:r>
          </a:p>
          <a:p>
            <a:r>
              <a:rPr lang="en-GB" sz="1400" dirty="0"/>
              <a:t>Identification des </a:t>
            </a:r>
            <a:r>
              <a:rPr lang="en-GB" sz="1400" dirty="0" err="1"/>
              <a:t>contre-mesures</a:t>
            </a:r>
            <a:r>
              <a:rPr lang="en-GB" sz="1400" dirty="0"/>
              <a:t>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C96862F-8034-EFA9-CEC5-E19A72238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8531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7F757-C2CB-5918-3E60-0C7AAC4D1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533508A-3E6B-CF83-988B-479AD38FA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E69BFB-6E28-A118-83E5-7D598AEBE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C0D4E98-FB8A-7F76-C8AB-29656777F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755" y="381935"/>
            <a:ext cx="4835897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 sz="5600" b="1" dirty="0" err="1">
                <a:solidFill>
                  <a:srgbClr val="FFFFFF"/>
                </a:solidFill>
              </a:rPr>
              <a:t>Résultats</a:t>
            </a:r>
            <a:r>
              <a:rPr lang="en-GB" sz="5600" b="1" dirty="0">
                <a:solidFill>
                  <a:srgbClr val="FFFFFF"/>
                </a:solidFill>
              </a:rPr>
              <a:t> de la </a:t>
            </a:r>
            <a:r>
              <a:rPr lang="en-GB" sz="5600" b="1" dirty="0" err="1">
                <a:solidFill>
                  <a:srgbClr val="FFFFFF"/>
                </a:solidFill>
              </a:rPr>
              <a:t>veille</a:t>
            </a:r>
            <a:r>
              <a:rPr lang="en-GB" sz="5600" b="1" dirty="0">
                <a:solidFill>
                  <a:srgbClr val="FFFFFF"/>
                </a:solidFill>
              </a:rPr>
              <a:t> </a:t>
            </a:r>
            <a:r>
              <a:rPr lang="en-GB" sz="5600" b="1" dirty="0" err="1">
                <a:solidFill>
                  <a:srgbClr val="FFFFFF"/>
                </a:solidFill>
              </a:rPr>
              <a:t>technologique</a:t>
            </a:r>
            <a:endParaRPr lang="en-US" sz="5600" b="1" dirty="0">
              <a:solidFill>
                <a:srgbClr val="FFFFFF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78A930-4E11-377A-C73B-912D87171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F3FB4A72-055A-493F-4B37-64CD87146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3404AA1A-AD8F-0EBE-A1AB-E4E094202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541AF9EA-A035-062D-0CA9-F28F276EB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2EB54F96-179A-8EBD-5CD1-9E6293443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 b="1" dirty="0"/>
              <a:t>Après analyse</a:t>
            </a:r>
          </a:p>
          <a:p>
            <a:r>
              <a:rPr lang="en-GB" sz="1800" dirty="0" err="1"/>
              <a:t>Compréhension</a:t>
            </a:r>
            <a:r>
              <a:rPr lang="en-GB" sz="1800" dirty="0"/>
              <a:t> du </a:t>
            </a:r>
            <a:r>
              <a:rPr lang="en-GB" sz="1800" dirty="0" err="1"/>
              <a:t>fonctionnement</a:t>
            </a:r>
            <a:r>
              <a:rPr lang="en-GB" sz="1800" dirty="0"/>
              <a:t> </a:t>
            </a:r>
            <a:r>
              <a:rPr lang="en-GB" sz="1800" dirty="0" err="1"/>
              <a:t>d'une</a:t>
            </a:r>
            <a:r>
              <a:rPr lang="en-GB" sz="1800" dirty="0"/>
              <a:t> Prompt Injection </a:t>
            </a:r>
          </a:p>
          <a:p>
            <a:r>
              <a:rPr lang="en-GB" sz="1800" dirty="0"/>
              <a:t>Identification des </a:t>
            </a:r>
            <a:r>
              <a:rPr lang="en-GB" sz="1800" dirty="0" err="1"/>
              <a:t>risques</a:t>
            </a:r>
            <a:r>
              <a:rPr lang="en-GB" sz="1800" dirty="0"/>
              <a:t> pour les LLM </a:t>
            </a:r>
          </a:p>
          <a:p>
            <a:r>
              <a:rPr lang="en-GB" sz="1800" dirty="0" err="1"/>
              <a:t>Définition</a:t>
            </a:r>
            <a:r>
              <a:rPr lang="en-GB" sz="1800" dirty="0"/>
              <a:t> de </a:t>
            </a:r>
            <a:r>
              <a:rPr lang="en-GB" sz="1800" dirty="0" err="1"/>
              <a:t>plusieurs</a:t>
            </a:r>
            <a:r>
              <a:rPr lang="en-GB" sz="1800" dirty="0"/>
              <a:t> couches de protection </a:t>
            </a:r>
          </a:p>
          <a:p>
            <a:pPr lvl="1"/>
            <a:r>
              <a:rPr lang="en-GB" sz="1800" dirty="0"/>
              <a:t>Prompt </a:t>
            </a:r>
            <a:r>
              <a:rPr lang="en-GB" sz="1800" dirty="0" err="1"/>
              <a:t>système</a:t>
            </a:r>
            <a:r>
              <a:rPr lang="en-GB" sz="1800" dirty="0"/>
              <a:t> </a:t>
            </a:r>
            <a:r>
              <a:rPr lang="en-GB" sz="1800" dirty="0" err="1"/>
              <a:t>défensif</a:t>
            </a:r>
            <a:r>
              <a:rPr lang="en-GB" sz="1800" dirty="0"/>
              <a:t> </a:t>
            </a:r>
          </a:p>
          <a:p>
            <a:pPr lvl="1"/>
            <a:r>
              <a:rPr lang="en-GB" sz="1800" dirty="0"/>
              <a:t>Validation des entrées </a:t>
            </a:r>
            <a:r>
              <a:rPr lang="en-GB" sz="1800" dirty="0" err="1"/>
              <a:t>utilisateur</a:t>
            </a:r>
            <a:r>
              <a:rPr lang="en-GB" sz="1800" dirty="0"/>
              <a:t> </a:t>
            </a:r>
          </a:p>
          <a:p>
            <a:pPr lvl="1"/>
            <a:r>
              <a:rPr lang="en-GB" sz="1800" dirty="0" err="1"/>
              <a:t>Vérification</a:t>
            </a:r>
            <a:r>
              <a:rPr lang="en-GB" sz="1800" dirty="0"/>
              <a:t> des </a:t>
            </a:r>
            <a:r>
              <a:rPr lang="en-GB" sz="1800" dirty="0" err="1"/>
              <a:t>réponses</a:t>
            </a:r>
            <a:r>
              <a:rPr lang="en-GB" sz="1800" dirty="0"/>
              <a:t> </a:t>
            </a:r>
            <a:r>
              <a:rPr lang="en-GB" sz="1800" dirty="0" err="1"/>
              <a:t>générées</a:t>
            </a:r>
            <a:r>
              <a:rPr lang="en-GB" sz="1800" dirty="0"/>
              <a:t> </a:t>
            </a:r>
          </a:p>
          <a:p>
            <a:r>
              <a:rPr lang="en-GB" sz="1800" b="1" dirty="0" err="1"/>
              <a:t>Décision</a:t>
            </a:r>
            <a:r>
              <a:rPr lang="en-GB" sz="1800" b="1" dirty="0"/>
              <a:t> </a:t>
            </a:r>
            <a:r>
              <a:rPr lang="en-GB" sz="1800" b="1" dirty="0" err="1"/>
              <a:t>retenue</a:t>
            </a:r>
            <a:endParaRPr lang="en-GB" sz="1800" b="1" dirty="0"/>
          </a:p>
          <a:p>
            <a:r>
              <a:rPr lang="en-GB" sz="1800" dirty="0"/>
              <a:t>Nous </a:t>
            </a:r>
            <a:r>
              <a:rPr lang="en-GB" sz="1800" dirty="0" err="1"/>
              <a:t>avons</a:t>
            </a:r>
            <a:r>
              <a:rPr lang="en-GB" sz="1800" dirty="0"/>
              <a:t> </a:t>
            </a:r>
            <a:r>
              <a:rPr lang="en-GB" sz="1800" dirty="0" err="1"/>
              <a:t>intégré</a:t>
            </a:r>
            <a:r>
              <a:rPr lang="en-GB" sz="1800" dirty="0"/>
              <a:t> </a:t>
            </a:r>
            <a:r>
              <a:rPr lang="en-GB" sz="1800" dirty="0" err="1"/>
              <a:t>ces</a:t>
            </a:r>
            <a:r>
              <a:rPr lang="en-GB" sz="1800" dirty="0"/>
              <a:t> </a:t>
            </a:r>
            <a:r>
              <a:rPr lang="en-GB" sz="1800" dirty="0" err="1"/>
              <a:t>recommandations</a:t>
            </a:r>
            <a:r>
              <a:rPr lang="en-GB" sz="1800" dirty="0"/>
              <a:t> </a:t>
            </a:r>
            <a:r>
              <a:rPr lang="en-GB" sz="1800" dirty="0" err="1"/>
              <a:t>afin</a:t>
            </a:r>
            <a:r>
              <a:rPr lang="en-GB" sz="1800" dirty="0"/>
              <a:t> de :</a:t>
            </a:r>
          </a:p>
          <a:p>
            <a:r>
              <a:rPr lang="en-GB" sz="1800" dirty="0"/>
              <a:t>limiter les </a:t>
            </a:r>
            <a:r>
              <a:rPr lang="en-GB" sz="1800" dirty="0" err="1"/>
              <a:t>risques</a:t>
            </a:r>
            <a:r>
              <a:rPr lang="en-GB" sz="1800" dirty="0"/>
              <a:t> </a:t>
            </a:r>
            <a:r>
              <a:rPr lang="en-GB" sz="1800" dirty="0" err="1"/>
              <a:t>d'injection</a:t>
            </a:r>
            <a:r>
              <a:rPr lang="en-GB" sz="1800" dirty="0"/>
              <a:t> </a:t>
            </a:r>
          </a:p>
          <a:p>
            <a:r>
              <a:rPr lang="en-GB" sz="1800" dirty="0" err="1"/>
              <a:t>renforcer</a:t>
            </a:r>
            <a:r>
              <a:rPr lang="en-GB" sz="1800" dirty="0"/>
              <a:t> la sécurité de </a:t>
            </a:r>
            <a:r>
              <a:rPr lang="en-GB" sz="1800" dirty="0" err="1"/>
              <a:t>l'application</a:t>
            </a:r>
            <a:r>
              <a:rPr lang="en-GB" sz="1800" dirty="0"/>
              <a:t> </a:t>
            </a:r>
          </a:p>
          <a:p>
            <a:r>
              <a:rPr lang="en-GB" sz="1800" dirty="0"/>
              <a:t>respecter les exigences du sponsor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85DFA9-6CF4-1C19-9FCD-45368A4B0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6488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5D0DD-8AD8-05A7-680F-5ACD61084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42A5917-5388-D23C-F742-68634ABDF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9B9689-F0C7-07D8-7CDC-0A7413433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01D087-4CA2-C14F-2350-4D51441A69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 sz="5600" b="1" dirty="0">
                <a:solidFill>
                  <a:srgbClr val="FFFFFF"/>
                </a:solidFill>
              </a:rPr>
              <a:t>Analyse des </a:t>
            </a:r>
            <a:r>
              <a:rPr lang="en-GB" sz="5600" b="1" dirty="0" err="1">
                <a:solidFill>
                  <a:srgbClr val="FFFFFF"/>
                </a:solidFill>
              </a:rPr>
              <a:t>risques</a:t>
            </a:r>
            <a:endParaRPr lang="en-US" sz="5600" b="1" dirty="0">
              <a:solidFill>
                <a:srgbClr val="FFFFFF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0573B28-C7E4-42E6-6874-6957FF1FA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255BF3ED-2283-2732-6DF6-B1828E264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860C2F93-EE74-BC07-DEAB-553DC6C4C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654EEB90-3F20-B77F-0893-9E74469DF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39529D05-37B5-6A70-1C94-C44E8B2B3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 b="1" dirty="0" err="1"/>
              <a:t>Pourquoi</a:t>
            </a:r>
            <a:r>
              <a:rPr lang="en-GB" sz="1800" b="1" dirty="0"/>
              <a:t> </a:t>
            </a:r>
            <a:r>
              <a:rPr lang="en-GB" sz="1800" b="1" dirty="0" err="1"/>
              <a:t>cette</a:t>
            </a:r>
            <a:r>
              <a:rPr lang="en-GB" sz="1800" b="1" dirty="0"/>
              <a:t> analyse ?</a:t>
            </a:r>
          </a:p>
          <a:p>
            <a:r>
              <a:rPr lang="en-GB" sz="1800" dirty="0"/>
              <a:t>La perturbation J3 impose de prendre </a:t>
            </a:r>
            <a:r>
              <a:rPr lang="en-GB" sz="1800" dirty="0" err="1"/>
              <a:t>en</a:t>
            </a:r>
            <a:r>
              <a:rPr lang="en-GB" sz="1800" dirty="0"/>
              <a:t> compte les </a:t>
            </a:r>
            <a:r>
              <a:rPr lang="en-GB" sz="1800" dirty="0" err="1"/>
              <a:t>risques</a:t>
            </a:r>
            <a:r>
              <a:rPr lang="en-GB" sz="1800" dirty="0"/>
              <a:t> </a:t>
            </a:r>
            <a:r>
              <a:rPr lang="en-GB" sz="1800" dirty="0" err="1"/>
              <a:t>liés</a:t>
            </a:r>
            <a:r>
              <a:rPr lang="en-GB" sz="1800" dirty="0"/>
              <a:t> à </a:t>
            </a:r>
            <a:r>
              <a:rPr lang="en-GB" sz="1800" dirty="0" err="1"/>
              <a:t>l'utilisation</a:t>
            </a:r>
            <a:r>
              <a:rPr lang="en-GB" sz="1800" dirty="0"/>
              <a:t> d'un LLM.</a:t>
            </a:r>
          </a:p>
          <a:p>
            <a:r>
              <a:rPr lang="en-GB" sz="1800" dirty="0"/>
              <a:t>Notre </a:t>
            </a:r>
            <a:r>
              <a:rPr lang="en-GB" sz="1800" dirty="0" err="1"/>
              <a:t>objectif</a:t>
            </a:r>
            <a:r>
              <a:rPr lang="en-GB" sz="1800" dirty="0"/>
              <a:t> </a:t>
            </a:r>
            <a:r>
              <a:rPr lang="en-GB" sz="1800" dirty="0" err="1"/>
              <a:t>était</a:t>
            </a:r>
            <a:r>
              <a:rPr lang="en-GB" sz="1800" dirty="0"/>
              <a:t> de :</a:t>
            </a:r>
          </a:p>
          <a:p>
            <a:r>
              <a:rPr lang="en-GB" sz="1800" dirty="0"/>
              <a:t>identifier les menaces </a:t>
            </a:r>
            <a:r>
              <a:rPr lang="en-GB" sz="1800" dirty="0" err="1"/>
              <a:t>principales</a:t>
            </a:r>
            <a:r>
              <a:rPr lang="en-GB" sz="1800" dirty="0"/>
              <a:t> ; </a:t>
            </a:r>
          </a:p>
          <a:p>
            <a:r>
              <a:rPr lang="en-GB" sz="1800" dirty="0" err="1"/>
              <a:t>évaluer</a:t>
            </a:r>
            <a:r>
              <a:rPr lang="en-GB" sz="1800" dirty="0"/>
              <a:t> </a:t>
            </a:r>
            <a:r>
              <a:rPr lang="en-GB" sz="1800" dirty="0" err="1"/>
              <a:t>leur</a:t>
            </a:r>
            <a:r>
              <a:rPr lang="en-GB" sz="1800" dirty="0"/>
              <a:t> impact ; </a:t>
            </a:r>
          </a:p>
          <a:p>
            <a:r>
              <a:rPr lang="en-GB" sz="1800" dirty="0" err="1"/>
              <a:t>définir</a:t>
            </a:r>
            <a:r>
              <a:rPr lang="en-GB" sz="1800" dirty="0"/>
              <a:t> des </a:t>
            </a:r>
            <a:r>
              <a:rPr lang="en-GB" sz="1800" dirty="0" err="1"/>
              <a:t>mesures</a:t>
            </a:r>
            <a:r>
              <a:rPr lang="en-GB" sz="1800" dirty="0"/>
              <a:t> de </a:t>
            </a:r>
            <a:r>
              <a:rPr lang="en-GB" sz="1800" dirty="0" err="1"/>
              <a:t>réduction</a:t>
            </a:r>
            <a:r>
              <a:rPr lang="en-GB" sz="1800" dirty="0"/>
              <a:t> des </a:t>
            </a:r>
            <a:r>
              <a:rPr lang="en-GB" sz="1800" dirty="0" err="1"/>
              <a:t>risques</a:t>
            </a:r>
            <a:r>
              <a:rPr lang="en-GB" sz="1800" dirty="0"/>
              <a:t>. </a:t>
            </a:r>
          </a:p>
          <a:p>
            <a:r>
              <a:rPr lang="en-GB" sz="1800" b="1" dirty="0"/>
              <a:t>Notre démarche</a:t>
            </a:r>
          </a:p>
          <a:p>
            <a:r>
              <a:rPr lang="en-GB" sz="1800" dirty="0"/>
              <a:t>Identification des </a:t>
            </a:r>
            <a:r>
              <a:rPr lang="en-GB" sz="1800" dirty="0" err="1"/>
              <a:t>risques</a:t>
            </a:r>
            <a:r>
              <a:rPr lang="en-GB" sz="1800" dirty="0"/>
              <a:t> </a:t>
            </a:r>
          </a:p>
          <a:p>
            <a:r>
              <a:rPr lang="en-GB" sz="1800" dirty="0" err="1"/>
              <a:t>Évaluation</a:t>
            </a:r>
            <a:r>
              <a:rPr lang="en-GB" sz="1800" dirty="0"/>
              <a:t> de </a:t>
            </a:r>
            <a:r>
              <a:rPr lang="en-GB" sz="1800" dirty="0" err="1"/>
              <a:t>leur</a:t>
            </a:r>
            <a:r>
              <a:rPr lang="en-GB" sz="1800" dirty="0"/>
              <a:t> </a:t>
            </a:r>
            <a:r>
              <a:rPr lang="en-GB" sz="1800" dirty="0" err="1"/>
              <a:t>probabilité</a:t>
            </a:r>
            <a:r>
              <a:rPr lang="en-GB" sz="1800" dirty="0"/>
              <a:t> </a:t>
            </a:r>
          </a:p>
          <a:p>
            <a:r>
              <a:rPr lang="en-GB" sz="1800" dirty="0" err="1"/>
              <a:t>Évaluation</a:t>
            </a:r>
            <a:r>
              <a:rPr lang="en-GB" sz="1800" dirty="0"/>
              <a:t> de </a:t>
            </a:r>
            <a:r>
              <a:rPr lang="en-GB" sz="1800" dirty="0" err="1"/>
              <a:t>leur</a:t>
            </a:r>
            <a:r>
              <a:rPr lang="en-GB" sz="1800" dirty="0"/>
              <a:t> impact </a:t>
            </a:r>
          </a:p>
          <a:p>
            <a:r>
              <a:rPr lang="en-GB" sz="1800" dirty="0"/>
              <a:t>Proposition </a:t>
            </a:r>
            <a:r>
              <a:rPr lang="en-GB" sz="1800" dirty="0" err="1"/>
              <a:t>d'actions</a:t>
            </a:r>
            <a:r>
              <a:rPr lang="en-GB" sz="1800" dirty="0"/>
              <a:t> correctives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D6DC692-C2FF-1C5E-D69D-02E384775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4334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C276D-0D79-70AC-11AF-82A52DD1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822334E-370C-94A3-5241-FAA2CEF9F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70627C-19ED-04F3-560F-D67C7DE04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417E84D-126F-A2B1-639D-E3E9CC62A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GB" sz="5600" b="1" dirty="0" err="1">
                <a:solidFill>
                  <a:srgbClr val="FFFFFF"/>
                </a:solidFill>
              </a:rPr>
              <a:t>Résultats</a:t>
            </a:r>
            <a:r>
              <a:rPr lang="en-GB" sz="5600" b="1" dirty="0">
                <a:solidFill>
                  <a:srgbClr val="FFFFFF"/>
                </a:solidFill>
              </a:rPr>
              <a:t> de </a:t>
            </a:r>
            <a:r>
              <a:rPr lang="en-GB" sz="5600" b="1" dirty="0" err="1">
                <a:solidFill>
                  <a:srgbClr val="FFFFFF"/>
                </a:solidFill>
              </a:rPr>
              <a:t>l'analyse</a:t>
            </a:r>
            <a:r>
              <a:rPr lang="en-GB" sz="5600" b="1" dirty="0">
                <a:solidFill>
                  <a:srgbClr val="FFFFFF"/>
                </a:solidFill>
              </a:rPr>
              <a:t> des </a:t>
            </a:r>
            <a:r>
              <a:rPr lang="en-GB" sz="5600" b="1" dirty="0" err="1">
                <a:solidFill>
                  <a:srgbClr val="FFFFFF"/>
                </a:solidFill>
              </a:rPr>
              <a:t>risques</a:t>
            </a:r>
            <a:endParaRPr lang="en-US" sz="5600" b="1" dirty="0">
              <a:solidFill>
                <a:srgbClr val="FFFFFF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883ED83-3663-435F-D60E-B20396986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7" name="Graphic 11">
              <a:extLst>
                <a:ext uri="{FF2B5EF4-FFF2-40B4-BE49-F238E27FC236}">
                  <a16:creationId xmlns:a16="http://schemas.microsoft.com/office/drawing/2014/main" id="{02156B23-C9CB-BBBA-96D1-1FC5E06E6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8" name="Graphic 10">
              <a:extLst>
                <a:ext uri="{FF2B5EF4-FFF2-40B4-BE49-F238E27FC236}">
                  <a16:creationId xmlns:a16="http://schemas.microsoft.com/office/drawing/2014/main" id="{121A9DFC-C722-12A2-01BF-C13B90B08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C5AA94CE-C9D4-3A30-6A99-C55B594C1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A9F98872-0DB6-FDD3-31EC-7A251A5EC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 b="1" dirty="0" err="1"/>
              <a:t>Principaux</a:t>
            </a:r>
            <a:r>
              <a:rPr lang="en-GB" sz="1800" b="1" dirty="0"/>
              <a:t> </a:t>
            </a:r>
            <a:r>
              <a:rPr lang="en-GB" sz="1800" b="1" dirty="0" err="1"/>
              <a:t>risques</a:t>
            </a:r>
            <a:r>
              <a:rPr lang="en-GB" sz="1800" b="1" dirty="0"/>
              <a:t> </a:t>
            </a:r>
            <a:r>
              <a:rPr lang="en-GB" sz="1800" b="1" dirty="0" err="1"/>
              <a:t>identifiés</a:t>
            </a:r>
            <a:endParaRPr lang="en-GB" sz="1800" b="1" dirty="0"/>
          </a:p>
          <a:p>
            <a:r>
              <a:rPr lang="en-GB" sz="1800" dirty="0"/>
              <a:t>Prompt Injection </a:t>
            </a:r>
          </a:p>
          <a:p>
            <a:r>
              <a:rPr lang="en-GB" sz="1800" dirty="0" err="1"/>
              <a:t>Fuite</a:t>
            </a:r>
            <a:r>
              <a:rPr lang="en-GB" sz="1800" dirty="0"/>
              <a:t> de données </a:t>
            </a:r>
            <a:r>
              <a:rPr lang="en-GB" sz="1800" dirty="0" err="1"/>
              <a:t>sensibles</a:t>
            </a:r>
            <a:r>
              <a:rPr lang="en-GB" sz="1800" dirty="0"/>
              <a:t> </a:t>
            </a:r>
          </a:p>
          <a:p>
            <a:r>
              <a:rPr lang="en-GB" sz="1800" dirty="0" err="1"/>
              <a:t>Génération</a:t>
            </a:r>
            <a:r>
              <a:rPr lang="en-GB" sz="1800" dirty="0"/>
              <a:t> de </a:t>
            </a:r>
            <a:r>
              <a:rPr lang="en-GB" sz="1800" dirty="0" err="1"/>
              <a:t>réponses</a:t>
            </a:r>
            <a:r>
              <a:rPr lang="en-GB" sz="1800" dirty="0"/>
              <a:t> </a:t>
            </a:r>
            <a:r>
              <a:rPr lang="en-GB" sz="1800" dirty="0" err="1"/>
              <a:t>erronées</a:t>
            </a:r>
            <a:r>
              <a:rPr lang="en-GB" sz="1800" dirty="0"/>
              <a:t> </a:t>
            </a:r>
          </a:p>
          <a:p>
            <a:r>
              <a:rPr lang="en-GB" sz="1800" dirty="0" err="1"/>
              <a:t>Contournement</a:t>
            </a:r>
            <a:r>
              <a:rPr lang="en-GB" sz="1800" dirty="0"/>
              <a:t> des </a:t>
            </a:r>
            <a:r>
              <a:rPr lang="en-GB" sz="1800" dirty="0" err="1"/>
              <a:t>règles</a:t>
            </a:r>
            <a:r>
              <a:rPr lang="en-GB" sz="1800" dirty="0"/>
              <a:t> de sécurité </a:t>
            </a:r>
          </a:p>
          <a:p>
            <a:r>
              <a:rPr lang="en-GB" sz="1800" b="1" dirty="0" err="1"/>
              <a:t>Mesures</a:t>
            </a:r>
            <a:r>
              <a:rPr lang="en-GB" sz="1800" b="1" dirty="0"/>
              <a:t> </a:t>
            </a:r>
            <a:r>
              <a:rPr lang="en-GB" sz="1800" b="1" dirty="0" err="1"/>
              <a:t>retenues</a:t>
            </a:r>
            <a:endParaRPr lang="en-GB" sz="1800" b="1" dirty="0"/>
          </a:p>
          <a:p>
            <a:r>
              <a:rPr lang="en-GB" sz="1800" dirty="0"/>
              <a:t>Validation des prompts </a:t>
            </a:r>
            <a:r>
              <a:rPr lang="en-GB" sz="1800" dirty="0" err="1"/>
              <a:t>utilisateurs</a:t>
            </a:r>
            <a:r>
              <a:rPr lang="en-GB" sz="1800" dirty="0"/>
              <a:t> </a:t>
            </a:r>
          </a:p>
          <a:p>
            <a:r>
              <a:rPr lang="en-GB" sz="1800" dirty="0" err="1"/>
              <a:t>Renforcement</a:t>
            </a:r>
            <a:r>
              <a:rPr lang="en-GB" sz="1800" dirty="0"/>
              <a:t> du prompt </a:t>
            </a:r>
            <a:r>
              <a:rPr lang="en-GB" sz="1800" dirty="0" err="1"/>
              <a:t>système</a:t>
            </a:r>
            <a:r>
              <a:rPr lang="en-GB" sz="1800" dirty="0"/>
              <a:t> </a:t>
            </a:r>
          </a:p>
          <a:p>
            <a:r>
              <a:rPr lang="en-GB" sz="1800" dirty="0" err="1"/>
              <a:t>Contrôle</a:t>
            </a:r>
            <a:r>
              <a:rPr lang="en-GB" sz="1800" dirty="0"/>
              <a:t> des </a:t>
            </a:r>
            <a:r>
              <a:rPr lang="en-GB" sz="1800" dirty="0" err="1"/>
              <a:t>réponses</a:t>
            </a:r>
            <a:r>
              <a:rPr lang="en-GB" sz="1800" dirty="0"/>
              <a:t> </a:t>
            </a:r>
            <a:r>
              <a:rPr lang="en-GB" sz="1800" dirty="0" err="1"/>
              <a:t>générées</a:t>
            </a:r>
            <a:r>
              <a:rPr lang="en-GB" sz="1800" dirty="0"/>
              <a:t> </a:t>
            </a:r>
          </a:p>
          <a:p>
            <a:r>
              <a:rPr lang="en-GB" sz="1800" dirty="0"/>
              <a:t>Documentation des </a:t>
            </a:r>
            <a:r>
              <a:rPr lang="en-GB" sz="1800" dirty="0" err="1"/>
              <a:t>risques</a:t>
            </a:r>
            <a:r>
              <a:rPr lang="en-GB" sz="1800" dirty="0"/>
              <a:t> dans un document </a:t>
            </a:r>
            <a:r>
              <a:rPr lang="en-GB" sz="1800" dirty="0" err="1"/>
              <a:t>d'analyse</a:t>
            </a:r>
            <a:r>
              <a:rPr lang="en-GB" sz="1800" dirty="0"/>
              <a:t> </a:t>
            </a:r>
          </a:p>
          <a:p>
            <a:r>
              <a:rPr lang="en-GB" sz="1800" dirty="0"/>
              <a:t>Cette analyse nous a </a:t>
            </a:r>
            <a:r>
              <a:rPr lang="en-GB" sz="1800" dirty="0" err="1"/>
              <a:t>permis</a:t>
            </a:r>
            <a:r>
              <a:rPr lang="en-GB" sz="1800" dirty="0"/>
              <a:t> de justifier les choix de sécurité </a:t>
            </a:r>
            <a:r>
              <a:rPr lang="en-GB" sz="1800" dirty="0" err="1"/>
              <a:t>retenus</a:t>
            </a:r>
            <a:r>
              <a:rPr lang="en-GB" sz="1800" dirty="0"/>
              <a:t> pour le </a:t>
            </a:r>
            <a:r>
              <a:rPr lang="en-GB" sz="1800" dirty="0" err="1"/>
              <a:t>projet</a:t>
            </a:r>
            <a:r>
              <a:rPr lang="en-GB" sz="1800" dirty="0"/>
              <a:t>.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C6891B2-7B76-54FA-A5CD-37339A72F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4087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BC1FC-6059-BD7A-E9FC-C9E7D5B8A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6C80E42-8EE9-7D6C-AB6F-D873278FA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069" y="381935"/>
            <a:ext cx="4008583" cy="59744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Bilan des perturbations</a:t>
            </a:r>
            <a:b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5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Objectif global</a:t>
            </a:r>
            <a:endParaRPr lang="en-US" sz="5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A11C4F25-F42D-D84F-E4E1-DA781E0CA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Les perturbations ont permis de reproduire les contraintes d'un véritable projet informatique :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📌 évolution des besoins métier ;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⚙️ prise de décision technique ;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🔒 sécurisation d'une IA générative ;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⚖️ conformité RGPD ;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🤝 prise en compte des retours utilisateurs.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Ce que nous avons retenu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Une planification doit rester adaptable.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Les décisions doivent être argumentées et documentées.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La sécurité et la conformité sont des éléments essentiels du projet.</a:t>
            </a:r>
          </a:p>
          <a:p>
            <a:pPr marL="342900" lvl="0"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Les retours utilisateurs permettent d'améliorer le produit en continu.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Cette simulation nous a permis de mettre en pratique les principes Scrum dans un contexte proche d'un projet réel.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389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7086EA-C929-2D8A-6DA3-9284E22D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Merci pour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votre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écoute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78680D91-FC5A-81A8-57A0-C55C4ED095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59A158B2-6FC6-4407-ACB5-8DC44BC21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578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E35FF551331140B273BB19EEA78143" ma:contentTypeVersion="10" ma:contentTypeDescription="Crée un document." ma:contentTypeScope="" ma:versionID="5a865a7a6de2f2e2466daf78c60cb2ad">
  <xsd:schema xmlns:xsd="http://www.w3.org/2001/XMLSchema" xmlns:xs="http://www.w3.org/2001/XMLSchema" xmlns:p="http://schemas.microsoft.com/office/2006/metadata/properties" xmlns:ns2="aa7a771e-02cb-4c1a-a357-20624cfae5a5" xmlns:ns3="78c7a825-5576-4260-86cd-49ed1229aaf2" targetNamespace="http://schemas.microsoft.com/office/2006/metadata/properties" ma:root="true" ma:fieldsID="a556321fbc9c08b9748fbc72a54dcaf4" ns2:_="" ns3:_="">
    <xsd:import namespace="aa7a771e-02cb-4c1a-a357-20624cfae5a5"/>
    <xsd:import namespace="78c7a825-5576-4260-86cd-49ed1229aa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a771e-02cb-4c1a-a357-20624cfae5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a567f5d5-0c03-422f-bbbb-479e45a213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c7a825-5576-4260-86cd-49ed1229aaf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e3cf94d-7b4a-4765-9027-e93108760d61}" ma:internalName="TaxCatchAll" ma:showField="CatchAllData" ma:web="78c7a825-5576-4260-86cd-49ed1229aa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7a771e-02cb-4c1a-a357-20624cfae5a5">
      <Terms xmlns="http://schemas.microsoft.com/office/infopath/2007/PartnerControls"/>
    </lcf76f155ced4ddcb4097134ff3c332f>
    <TaxCatchAll xmlns="78c7a825-5576-4260-86cd-49ed1229aaf2" xsi:nil="true"/>
  </documentManagement>
</p:properties>
</file>

<file path=customXml/itemProps1.xml><?xml version="1.0" encoding="utf-8"?>
<ds:datastoreItem xmlns:ds="http://schemas.openxmlformats.org/officeDocument/2006/customXml" ds:itemID="{5EB6B62F-0935-4C73-86B8-D7213D2BD9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7a771e-02cb-4c1a-a357-20624cfae5a5"/>
    <ds:schemaRef ds:uri="78c7a825-5576-4260-86cd-49ed1229aa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02549E-03EE-4A9B-8A94-5B80C847C8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71375A-583D-4202-AEB4-CE07CCBA59A4}">
  <ds:schemaRefs>
    <ds:schemaRef ds:uri="78c7a825-5576-4260-86cd-49ed1229aaf2"/>
    <ds:schemaRef ds:uri="aa7a771e-02cb-4c1a-a357-20624cfae5a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3818</Words>
  <Application>Microsoft Office PowerPoint</Application>
  <PresentationFormat>Grand écran</PresentationFormat>
  <Paragraphs>409</Paragraphs>
  <Slides>49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49</vt:i4>
      </vt:variant>
    </vt:vector>
  </HeadingPairs>
  <TitlesOfParts>
    <vt:vector size="51" baseType="lpstr">
      <vt:lpstr>Thème Office</vt:lpstr>
      <vt:lpstr>1_Thème Office</vt:lpstr>
      <vt:lpstr>Sommaire</vt:lpstr>
      <vt:lpstr>Présentation de l'équipe</vt:lpstr>
      <vt:lpstr>Résumé du projet</vt:lpstr>
      <vt:lpstr>Les différents artéfacts</vt:lpstr>
      <vt:lpstr>Product
Vision Board</vt:lpstr>
      <vt:lpstr>Présentation PowerPoint</vt:lpstr>
      <vt:lpstr>Fiches
Personas</vt:lpstr>
      <vt:lpstr>Présentation PowerPoint</vt:lpstr>
      <vt:lpstr>Customer
Journey</vt:lpstr>
      <vt:lpstr>Customer Journey du persona Stéphanie Martin</vt:lpstr>
      <vt:lpstr>Story Map</vt:lpstr>
      <vt:lpstr>Présentation PowerPoint</vt:lpstr>
      <vt:lpstr>Product
Backlog</vt:lpstr>
      <vt:lpstr>Présentation PowerPoint</vt:lpstr>
      <vt:lpstr>Présentation PowerPoint</vt:lpstr>
      <vt:lpstr>Release
Planning</vt:lpstr>
      <vt:lpstr>Présentation PowerPoint</vt:lpstr>
      <vt:lpstr>Sprint
Backlog</vt:lpstr>
      <vt:lpstr>Présentation PowerPoint</vt:lpstr>
      <vt:lpstr>Les perturbations et leurs gestions</vt:lpstr>
      <vt:lpstr>Perturbation J1 : Arrivée de Mme Lefèvre (Produit / Scope)</vt:lpstr>
      <vt:lpstr>Repriorisation du persona comme primaire,  customer journey et story map adapté</vt:lpstr>
      <vt:lpstr>Perturbation J2 : La latence inacceptable (Technique)</vt:lpstr>
      <vt:lpstr>Impact sur les artéfactes:</vt:lpstr>
      <vt:lpstr>Nouvelles tâches liés a la perturbation:</vt:lpstr>
      <vt:lpstr>Benchmark des modèles LLM</vt:lpstr>
      <vt:lpstr>Résultats du benchmark</vt:lpstr>
      <vt:lpstr>Architecture Decision Record Pourquoi un ADR ?</vt:lpstr>
      <vt:lpstr>Structure de l'ADR</vt:lpstr>
      <vt:lpstr>Perturbation J3 : Prompt Injection (Sécurité)</vt:lpstr>
      <vt:lpstr>Perturbation J3 - Sécurité Prompt Injection</vt:lpstr>
      <vt:lpstr>Impact sur les artéfactes:</vt:lpstr>
      <vt:lpstr>Nouvelles User-Stories créés</vt:lpstr>
      <vt:lpstr>Mesures de protection LLM</vt:lpstr>
      <vt:lpstr>Perturbation J3- RGPD</vt:lpstr>
      <vt:lpstr>Perturbation J3-bis : Demande RGPD</vt:lpstr>
      <vt:lpstr>Mentions légales &amp; conformité</vt:lpstr>
      <vt:lpstr>Perturbation J4 : Le retour de Mme Lefèvre</vt:lpstr>
      <vt:lpstr>Les impactes sur les artéfacts :</vt:lpstr>
      <vt:lpstr>Nouveaux épics et repriorisation d'US</vt:lpstr>
      <vt:lpstr>Présentation PowerPoint</vt:lpstr>
      <vt:lpstr>Release Planning modifié</vt:lpstr>
      <vt:lpstr>Création des tâches liés aux nouvelles US</vt:lpstr>
      <vt:lpstr>Veille technologique de sécurité</vt:lpstr>
      <vt:lpstr>Résultats de la veille technologique</vt:lpstr>
      <vt:lpstr>Analyse des risques</vt:lpstr>
      <vt:lpstr>Résultats de l'analyse des risques</vt:lpstr>
      <vt:lpstr>Bilan des perturbations Objectif global</vt:lpstr>
      <vt:lpstr>Merci pour votre écoute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Touzet</dc:creator>
  <cp:lastModifiedBy>Raphael Touzet</cp:lastModifiedBy>
  <cp:revision>270</cp:revision>
  <dcterms:created xsi:type="dcterms:W3CDTF">2026-07-02T10:03:48Z</dcterms:created>
  <dcterms:modified xsi:type="dcterms:W3CDTF">2026-07-02T21:53:35Z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0x01010047E35FF551331140B273BB19EEA78143</vt:lpwstr>
  </property>
  <property fmtid="{D5CDD505-2E9C-101B-9397-08002B2CF9AE}" pid="3" name="MediaServiceImageTags">
    <vt:lpwstr/>
  </property>
</Properties>
</file>