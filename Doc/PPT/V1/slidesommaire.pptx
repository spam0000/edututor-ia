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69" r:id="rId5"/>
    <p:sldId id="270" r:id="rId6"/>
    <p:sldId id="271" r:id="rId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91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667E9F-787C-5093-B8F5-046BF70F3F3B}"/>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79BEC66B-1195-3868-8A73-07ADDAE1B8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F6C20EA9-CCEF-38A4-0B10-A8B86862114D}"/>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5" name="Espace réservé du pied de page 4">
            <a:extLst>
              <a:ext uri="{FF2B5EF4-FFF2-40B4-BE49-F238E27FC236}">
                <a16:creationId xmlns:a16="http://schemas.microsoft.com/office/drawing/2014/main" id="{6C9CBBAB-7FA3-ACE1-27D7-B0007CBB588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84C069F-D2BB-E20E-2EF6-7775DBAEECD1}"/>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4167339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3020DD-878F-49D5-F361-16F471848BA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0F35D61-D606-72C2-3B1C-B96D5F40F96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4643E65-58E4-3B73-D012-EF601F912C5C}"/>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5" name="Espace réservé du pied de page 4">
            <a:extLst>
              <a:ext uri="{FF2B5EF4-FFF2-40B4-BE49-F238E27FC236}">
                <a16:creationId xmlns:a16="http://schemas.microsoft.com/office/drawing/2014/main" id="{743CAE44-0EA2-4AB9-8D08-201982EF4C5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684735C-9112-2D4E-1B81-FE34FE72DA29}"/>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3777832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77BB1-126B-D427-1DB2-3D9CEDFB7C0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BE38EDAE-1643-41BC-B758-CD978835B7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B73DFB0-BF9A-3990-814F-4565B822C170}"/>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5" name="Espace réservé du pied de page 4">
            <a:extLst>
              <a:ext uri="{FF2B5EF4-FFF2-40B4-BE49-F238E27FC236}">
                <a16:creationId xmlns:a16="http://schemas.microsoft.com/office/drawing/2014/main" id="{E8209884-A222-C167-8485-523962EB502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080B12E-70BC-9AFA-0FB2-847BDF5A5409}"/>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43344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71237C-8417-B182-3D78-7633D9079F4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77CA5F0-480B-5E24-5003-EB154468CFDC}"/>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54E9E624-4C2E-6263-418D-08550A436A6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DE45445F-43AB-200D-01CE-69AF4DC442C0}"/>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6" name="Espace réservé du pied de page 5">
            <a:extLst>
              <a:ext uri="{FF2B5EF4-FFF2-40B4-BE49-F238E27FC236}">
                <a16:creationId xmlns:a16="http://schemas.microsoft.com/office/drawing/2014/main" id="{C579739C-B654-6D2D-E5FB-6DE165C983D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0384DE6-974C-BE9B-AECE-A8787842E236}"/>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612807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866D6A-EF50-CF4E-2960-124094C7D815}"/>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1C0BBD3D-E991-1ADD-37F3-376E63AD4A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9E99533-9131-14EB-999E-D99840372A69}"/>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739B9E9-4EB1-F216-7A7C-255EB26264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CC5DBD1-C2E2-11B3-29F1-DFC5CB8E15E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A85CA9C-5AEF-25A7-DAF4-919F2E676C6B}"/>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8" name="Espace réservé du pied de page 7">
            <a:extLst>
              <a:ext uri="{FF2B5EF4-FFF2-40B4-BE49-F238E27FC236}">
                <a16:creationId xmlns:a16="http://schemas.microsoft.com/office/drawing/2014/main" id="{CB21E680-E794-60C9-BCEF-DE44F785E93F}"/>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ED087941-5A61-AE6C-0E69-F541AAE79E2F}"/>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913485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27712C-3132-BF77-B197-D1DD63E99913}"/>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B9F5B82-65F6-11FD-3DE5-C3268F2A6257}"/>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4" name="Espace réservé du pied de page 3">
            <a:extLst>
              <a:ext uri="{FF2B5EF4-FFF2-40B4-BE49-F238E27FC236}">
                <a16:creationId xmlns:a16="http://schemas.microsoft.com/office/drawing/2014/main" id="{D5E6C2B2-1BE7-9CB1-9C81-AE25999E5E5A}"/>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C35BDE0-28F1-1DD2-EE20-A99AA6EDAE40}"/>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3506635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511BC58-2979-109B-B19C-0DEC50098D9D}"/>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3" name="Espace réservé du pied de page 2">
            <a:extLst>
              <a:ext uri="{FF2B5EF4-FFF2-40B4-BE49-F238E27FC236}">
                <a16:creationId xmlns:a16="http://schemas.microsoft.com/office/drawing/2014/main" id="{D27639EB-33D7-B3F8-A229-71DA81549598}"/>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391E32C7-9D64-FBBA-ACE6-AEB49B414A44}"/>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3660555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1F6DB9-2BB9-235A-DD71-1D61C0D67DE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A67F15FA-F08D-6F2A-B486-BCF8E4D228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0DA03E9-C0F5-DED0-5C9F-9FF0F1AFA8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0AC5C4D-09C3-ECCD-F45A-393618CA310D}"/>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6" name="Espace réservé du pied de page 5">
            <a:extLst>
              <a:ext uri="{FF2B5EF4-FFF2-40B4-BE49-F238E27FC236}">
                <a16:creationId xmlns:a16="http://schemas.microsoft.com/office/drawing/2014/main" id="{11DADC84-A4C2-C4DD-F367-19CDDC3A29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D2DC822-8A72-A6CF-5779-DACD56524EBA}"/>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1326380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B4CC41-528E-7BDC-D087-5D28FC3466F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87C9936-04B7-64D0-298E-27E52FCC5C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A121D43E-2191-FB8D-3259-36EA0082EB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2249FF7-45D2-6D1E-2098-FF3B833D2DE2}"/>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6" name="Espace réservé du pied de page 5">
            <a:extLst>
              <a:ext uri="{FF2B5EF4-FFF2-40B4-BE49-F238E27FC236}">
                <a16:creationId xmlns:a16="http://schemas.microsoft.com/office/drawing/2014/main" id="{399DC926-1060-A56F-A79A-D849B503705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BFCA63F-1FAE-F488-C77A-F86980637EBC}"/>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1186631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2AB71B-A00E-CD0D-7078-700031BA918C}"/>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68A3194-1B9A-8833-D785-D2021CD2026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C18FF25-5601-0864-1E9D-7472BB8A3D92}"/>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5" name="Espace réservé du pied de page 4">
            <a:extLst>
              <a:ext uri="{FF2B5EF4-FFF2-40B4-BE49-F238E27FC236}">
                <a16:creationId xmlns:a16="http://schemas.microsoft.com/office/drawing/2014/main" id="{CC321136-8BD6-2AE0-2637-5CC608E4F7A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637F9E-4DD1-734D-E7BF-56C4F19B3F3A}"/>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10257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B421F6C-E149-5EDD-1541-F417361316A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165CBFD0-FE4F-767F-47A3-B7C520E98FEB}"/>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59E1D8F-B06A-BAD7-70BF-957BFC20D9AE}"/>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5" name="Espace réservé du pied de page 4">
            <a:extLst>
              <a:ext uri="{FF2B5EF4-FFF2-40B4-BE49-F238E27FC236}">
                <a16:creationId xmlns:a16="http://schemas.microsoft.com/office/drawing/2014/main" id="{D4786623-CDE7-902E-A4CF-CC012F88652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F09BDE5-1136-7BAB-01A4-520DEB315B13}"/>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381790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69F78F7-A863-427F-C7FA-25B72C07AF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CAF54C0-F134-6DFE-6387-56B111D932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4C0D367-2482-6290-0ABD-AD935E6EDC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EBABF7-8CF0-4FD4-87E6-CB75115C1270}" type="datetimeFigureOut">
              <a:rPr lang="fr-FR" smtClean="0"/>
              <a:t>02/07/2026</a:t>
            </a:fld>
            <a:endParaRPr lang="fr-FR"/>
          </a:p>
        </p:txBody>
      </p:sp>
      <p:sp>
        <p:nvSpPr>
          <p:cNvPr id="5" name="Espace réservé du pied de page 4">
            <a:extLst>
              <a:ext uri="{FF2B5EF4-FFF2-40B4-BE49-F238E27FC236}">
                <a16:creationId xmlns:a16="http://schemas.microsoft.com/office/drawing/2014/main" id="{5233C675-C919-5505-47E1-50B6AE81B6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D5815581-CF9B-10F2-19FB-CE95BE1BA5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700F49-6CB8-4210-AA0A-C7A295B4DA9C}" type="slidenum">
              <a:rPr lang="fr-FR" smtClean="0"/>
              <a:t>‹N°›</a:t>
            </a:fld>
            <a:endParaRPr lang="fr-FR"/>
          </a:p>
        </p:txBody>
      </p:sp>
    </p:spTree>
    <p:extLst>
      <p:ext uri="{BB962C8B-B14F-4D97-AF65-F5344CB8AC3E}">
        <p14:creationId xmlns:p14="http://schemas.microsoft.com/office/powerpoint/2010/main" val="33591372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848E9F-ECB9-A1A6-F240-9304DE3F856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re 1">
            <a:extLst>
              <a:ext uri="{FF2B5EF4-FFF2-40B4-BE49-F238E27FC236}">
                <a16:creationId xmlns:a16="http://schemas.microsoft.com/office/drawing/2014/main" id="{E8B9C6B6-ED1C-4593-A847-2EED7A79650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kern="1200">
                <a:solidFill>
                  <a:srgbClr val="FFFFFF"/>
                </a:solidFill>
                <a:latin typeface="+mj-lt"/>
                <a:ea typeface="+mj-ea"/>
                <a:cs typeface="+mj-cs"/>
              </a:rPr>
              <a:t>Sommaire</a:t>
            </a:r>
            <a:endParaRPr lang="en-US" sz="5600" kern="1200">
              <a:solidFill>
                <a:srgbClr val="FFFFFF"/>
              </a:solidFill>
              <a:latin typeface="+mj-lt"/>
              <a:ea typeface="+mj-ea"/>
              <a:cs typeface="+mj-cs"/>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Sous-titre 2">
            <a:extLst>
              <a:ext uri="{FF2B5EF4-FFF2-40B4-BE49-F238E27FC236}">
                <a16:creationId xmlns:a16="http://schemas.microsoft.com/office/drawing/2014/main" id="{9B615D3A-EE6A-594B-C97E-56C93CEC9424}"/>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en-US" sz="1600">
                <a:solidFill>
                  <a:schemeClr val="tx1">
                    <a:alpha val="80000"/>
                  </a:schemeClr>
                </a:solidFill>
              </a:rPr>
              <a:t>Présentation de l'équipe</a:t>
            </a:r>
          </a:p>
          <a:p>
            <a:pPr indent="-228600" algn="l">
              <a:buFont typeface="Arial" panose="020B0604020202020204" pitchFamily="34" charset="0"/>
              <a:buChar char="•"/>
            </a:pPr>
            <a:r>
              <a:rPr lang="en-US" sz="1600">
                <a:solidFill>
                  <a:schemeClr val="tx1">
                    <a:alpha val="80000"/>
                  </a:schemeClr>
                </a:solidFill>
              </a:rPr>
              <a:t>Résumé du projet</a:t>
            </a:r>
          </a:p>
          <a:p>
            <a:pPr indent="-228600" algn="l">
              <a:buFont typeface="Arial" panose="020B0604020202020204" pitchFamily="34" charset="0"/>
              <a:buChar char="•"/>
            </a:pPr>
            <a:r>
              <a:rPr lang="en-US" sz="1600">
                <a:solidFill>
                  <a:schemeClr val="tx1">
                    <a:alpha val="80000"/>
                  </a:schemeClr>
                </a:solidFill>
              </a:rPr>
              <a:t>Perturbation J1 — Produit / Scope</a:t>
            </a:r>
          </a:p>
          <a:p>
            <a:pPr indent="-228600" algn="l">
              <a:buFont typeface="Arial" panose="020B0604020202020204" pitchFamily="34" charset="0"/>
              <a:buChar char="•"/>
            </a:pPr>
            <a:r>
              <a:rPr lang="en-US" sz="1600">
                <a:solidFill>
                  <a:schemeClr val="tx1">
                    <a:alpha val="80000"/>
                  </a:schemeClr>
                </a:solidFill>
              </a:rPr>
              <a:t>Perturbation J2 — Technique</a:t>
            </a:r>
          </a:p>
          <a:p>
            <a:pPr indent="-228600" algn="l">
              <a:buFont typeface="Arial" panose="020B0604020202020204" pitchFamily="34" charset="0"/>
              <a:buChar char="•"/>
            </a:pPr>
            <a:r>
              <a:rPr lang="en-US" sz="1600">
                <a:solidFill>
                  <a:schemeClr val="tx1">
                    <a:alpha val="80000"/>
                  </a:schemeClr>
                </a:solidFill>
              </a:rPr>
              <a:t>Perturbation J3 — Sécurité</a:t>
            </a:r>
          </a:p>
          <a:p>
            <a:pPr indent="-228600" algn="l">
              <a:buFont typeface="Arial" panose="020B0604020202020204" pitchFamily="34" charset="0"/>
              <a:buChar char="•"/>
            </a:pPr>
            <a:r>
              <a:rPr lang="en-US" sz="1600">
                <a:solidFill>
                  <a:schemeClr val="tx1">
                    <a:alpha val="80000"/>
                  </a:schemeClr>
                </a:solidFill>
              </a:rPr>
              <a:t>Perturbation J3-bis — RGPD</a:t>
            </a:r>
          </a:p>
          <a:p>
            <a:pPr indent="-228600" algn="l">
              <a:buFont typeface="Arial" panose="020B0604020202020204" pitchFamily="34" charset="0"/>
              <a:buChar char="•"/>
            </a:pPr>
            <a:r>
              <a:rPr lang="en-US" sz="1600">
                <a:solidFill>
                  <a:schemeClr val="tx1">
                    <a:alpha val="80000"/>
                  </a:schemeClr>
                </a:solidFill>
              </a:rPr>
              <a:t>Perturbation J4 — Retour utilisateur</a:t>
            </a:r>
          </a:p>
          <a:p>
            <a:pPr indent="-228600" algn="l">
              <a:buFont typeface="Arial" panose="020B0604020202020204" pitchFamily="34" charset="0"/>
              <a:buChar char="•"/>
            </a:pPr>
            <a:r>
              <a:rPr lang="en-US" sz="1600">
                <a:solidFill>
                  <a:schemeClr val="tx1">
                    <a:alpha val="80000"/>
                  </a:schemeClr>
                </a:solidFill>
              </a:rPr>
              <a:t>Bilan des perturbations</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5673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848E9F-ECB9-A1A6-F240-9304DE3F856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re 1">
            <a:extLst>
              <a:ext uri="{FF2B5EF4-FFF2-40B4-BE49-F238E27FC236}">
                <a16:creationId xmlns:a16="http://schemas.microsoft.com/office/drawing/2014/main" id="{E8B9C6B6-ED1C-4593-A847-2EED7A79650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kern="1200">
                <a:solidFill>
                  <a:srgbClr val="FFFFFF"/>
                </a:solidFill>
                <a:latin typeface="+mj-lt"/>
                <a:ea typeface="+mj-ea"/>
                <a:cs typeface="+mj-cs"/>
              </a:rPr>
              <a:t>Présentation de l'équipe</a:t>
            </a:r>
            <a:endParaRPr lang="en-US" sz="5600" kern="1200">
              <a:solidFill>
                <a:srgbClr val="FFFFFF"/>
              </a:solidFill>
              <a:latin typeface="+mj-lt"/>
              <a:ea typeface="+mj-ea"/>
              <a:cs typeface="+mj-cs"/>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Sous-titre 2">
            <a:extLst>
              <a:ext uri="{FF2B5EF4-FFF2-40B4-BE49-F238E27FC236}">
                <a16:creationId xmlns:a16="http://schemas.microsoft.com/office/drawing/2014/main" id="{9B615D3A-EE6A-594B-C97E-56C93CEC9424}"/>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en-US" sz="1600" b="1">
                <a:solidFill>
                  <a:schemeClr val="tx1">
                    <a:alpha val="80000"/>
                  </a:schemeClr>
                </a:solidFill>
              </a:rPr>
              <a:t>Équipe projet — EduTutor IA</a:t>
            </a:r>
          </a:p>
          <a:p>
            <a:pPr indent="-228600" algn="l">
              <a:buFont typeface="Arial" panose="020B0604020202020204" pitchFamily="34" charset="0"/>
              <a:buChar char="•"/>
            </a:pPr>
            <a:r>
              <a:rPr lang="en-US" sz="1600" b="1">
                <a:solidFill>
                  <a:schemeClr val="tx1">
                    <a:alpha val="80000"/>
                  </a:schemeClr>
                </a:solidFill>
              </a:rPr>
              <a:t>Prénom Nom</a:t>
            </a:r>
            <a:r>
              <a:rPr lang="en-US" sz="1600">
                <a:solidFill>
                  <a:schemeClr val="tx1">
                    <a:alpha val="80000"/>
                  </a:schemeClr>
                </a:solidFill>
              </a:rPr>
              <a:t> — Product Owner / Scrum Master</a:t>
            </a:r>
          </a:p>
          <a:p>
            <a:pPr indent="-228600" algn="l">
              <a:buFont typeface="Arial" panose="020B0604020202020204" pitchFamily="34" charset="0"/>
              <a:buChar char="•"/>
            </a:pPr>
            <a:r>
              <a:rPr lang="en-US" sz="1600" b="1">
                <a:solidFill>
                  <a:schemeClr val="tx1">
                    <a:alpha val="80000"/>
                  </a:schemeClr>
                </a:solidFill>
              </a:rPr>
              <a:t>Prénom Nom</a:t>
            </a:r>
            <a:r>
              <a:rPr lang="en-US" sz="1600">
                <a:solidFill>
                  <a:schemeClr val="tx1">
                    <a:alpha val="80000"/>
                  </a:schemeClr>
                </a:solidFill>
              </a:rPr>
              <a:t> — Développeur back-end (Django / DRF)</a:t>
            </a:r>
          </a:p>
          <a:p>
            <a:pPr indent="-228600" algn="l">
              <a:buFont typeface="Arial" panose="020B0604020202020204" pitchFamily="34" charset="0"/>
              <a:buChar char="•"/>
            </a:pPr>
            <a:r>
              <a:rPr lang="en-US" sz="1600" b="1">
                <a:solidFill>
                  <a:schemeClr val="tx1">
                    <a:alpha val="80000"/>
                  </a:schemeClr>
                </a:solidFill>
              </a:rPr>
              <a:t>Prénom Nom</a:t>
            </a:r>
            <a:r>
              <a:rPr lang="en-US" sz="1600">
                <a:solidFill>
                  <a:schemeClr val="tx1">
                    <a:alpha val="80000"/>
                  </a:schemeClr>
                </a:solidFill>
              </a:rPr>
              <a:t> — Développeur front-end (React)</a:t>
            </a:r>
          </a:p>
          <a:p>
            <a:pPr indent="-228600" algn="l">
              <a:buFont typeface="Arial" panose="020B0604020202020204" pitchFamily="34" charset="0"/>
              <a:buChar char="•"/>
            </a:pPr>
            <a:r>
              <a:rPr lang="en-US" sz="1600" b="1">
                <a:solidFill>
                  <a:schemeClr val="tx1">
                    <a:alpha val="80000"/>
                  </a:schemeClr>
                </a:solidFill>
              </a:rPr>
              <a:t>Prénom Nom</a:t>
            </a:r>
            <a:r>
              <a:rPr lang="en-US" sz="1600">
                <a:solidFill>
                  <a:schemeClr val="tx1">
                    <a:alpha val="80000"/>
                  </a:schemeClr>
                </a:solidFill>
              </a:rPr>
              <a:t> — DevOps (Docker, CI/CD)</a:t>
            </a:r>
          </a:p>
          <a:p>
            <a:pPr indent="-228600" algn="l">
              <a:buFont typeface="Arial" panose="020B0604020202020204" pitchFamily="34" charset="0"/>
              <a:buChar char="•"/>
            </a:pPr>
            <a:r>
              <a:rPr lang="en-US" sz="1600" b="1">
                <a:solidFill>
                  <a:schemeClr val="tx1">
                    <a:alpha val="80000"/>
                  </a:schemeClr>
                </a:solidFill>
              </a:rPr>
              <a:t>Prénom Nom</a:t>
            </a:r>
            <a:r>
              <a:rPr lang="en-US" sz="1600">
                <a:solidFill>
                  <a:schemeClr val="tx1">
                    <a:alpha val="80000"/>
                  </a:schemeClr>
                </a:solidFill>
              </a:rPr>
              <a:t> — Référent sécurité / RGPD</a:t>
            </a:r>
          </a:p>
          <a:p>
            <a:pPr indent="-228600" algn="l">
              <a:buFont typeface="Arial" panose="020B0604020202020204" pitchFamily="34" charset="0"/>
              <a:buChar char="•"/>
            </a:pPr>
            <a:r>
              <a:rPr lang="en-US" sz="1600">
                <a:solidFill>
                  <a:schemeClr val="tx1">
                    <a:alpha val="80000"/>
                  </a:schemeClr>
                </a:solidFill>
              </a:rPr>
              <a:t>À compléter avec les membres de l'équipe et leurs rôles.</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5673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848E9F-ECB9-A1A6-F240-9304DE3F856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re 1">
            <a:extLst>
              <a:ext uri="{FF2B5EF4-FFF2-40B4-BE49-F238E27FC236}">
                <a16:creationId xmlns:a16="http://schemas.microsoft.com/office/drawing/2014/main" id="{E8B9C6B6-ED1C-4593-A847-2EED7A79650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kern="1200">
                <a:solidFill>
                  <a:srgbClr val="FFFFFF"/>
                </a:solidFill>
                <a:latin typeface="+mj-lt"/>
                <a:ea typeface="+mj-ea"/>
                <a:cs typeface="+mj-cs"/>
              </a:rPr>
              <a:t>Résumé du projet</a:t>
            </a:r>
            <a:endParaRPr lang="en-US" sz="5600" kern="1200">
              <a:solidFill>
                <a:srgbClr val="FFFFFF"/>
              </a:solidFill>
              <a:latin typeface="+mj-lt"/>
              <a:ea typeface="+mj-ea"/>
              <a:cs typeface="+mj-cs"/>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Sous-titre 2">
            <a:extLst>
              <a:ext uri="{FF2B5EF4-FFF2-40B4-BE49-F238E27FC236}">
                <a16:creationId xmlns:a16="http://schemas.microsoft.com/office/drawing/2014/main" id="{9B615D3A-EE6A-594B-C97E-56C93CEC9424}"/>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en-US" sz="1600" b="1">
                <a:solidFill>
                  <a:schemeClr val="tx1">
                    <a:alpha val="80000"/>
                  </a:schemeClr>
                </a:solidFill>
              </a:rPr>
              <a:t>Contexte</a:t>
            </a:r>
          </a:p>
          <a:p>
            <a:pPr indent="-228600" algn="l">
              <a:buFont typeface="Arial" panose="020B0604020202020204" pitchFamily="34" charset="0"/>
              <a:buChar char="•"/>
            </a:pPr>
            <a:r>
              <a:rPr lang="en-US" sz="1600">
                <a:solidFill>
                  <a:schemeClr val="tx1">
                    <a:alpha val="80000"/>
                  </a:schemeClr>
                </a:solidFill>
              </a:rPr>
              <a:t>EduTutor IA est une startup edtech française qui met l'IA au service des enseignants et des étudiants. Nous reprenons une base de code existante (brownfield) pour la finaliser et la mettre en production.</a:t>
            </a:r>
          </a:p>
          <a:p>
            <a:pPr indent="-228600" algn="l">
              <a:buFont typeface="Arial" panose="020B0604020202020204" pitchFamily="34" charset="0"/>
              <a:buChar char="•"/>
            </a:pPr>
            <a:r>
              <a:rPr lang="en-US" sz="1600" b="1">
                <a:solidFill>
                  <a:schemeClr val="tx1">
                    <a:alpha val="80000"/>
                  </a:schemeClr>
                </a:solidFill>
              </a:rPr>
              <a:t>Objectif du MVP</a:t>
            </a:r>
          </a:p>
          <a:p>
            <a:pPr indent="-228600" algn="l">
              <a:buFont typeface="Arial" panose="020B0604020202020204" pitchFamily="34" charset="0"/>
              <a:buChar char="•"/>
            </a:pPr>
            <a:r>
              <a:rPr lang="en-US" sz="1600">
                <a:solidFill>
                  <a:schemeClr val="tx1">
                    <a:alpha val="80000"/>
                  </a:schemeClr>
                </a:solidFill>
              </a:rPr>
              <a:t>Permettre à un étudiant de réviser à partir de ses propres cours : import d'un PDF ou d'un texte, génération d'un quiz de 10 QCM, correction, score et historique.</a:t>
            </a:r>
          </a:p>
          <a:p>
            <a:pPr indent="-228600" algn="l">
              <a:buFont typeface="Arial" panose="020B0604020202020204" pitchFamily="34" charset="0"/>
              <a:buChar char="•"/>
            </a:pPr>
            <a:r>
              <a:rPr lang="en-US" sz="1600" b="1">
                <a:solidFill>
                  <a:schemeClr val="tx1">
                    <a:alpha val="80000"/>
                  </a:schemeClr>
                </a:solidFill>
              </a:rPr>
              <a:t>Stack technique</a:t>
            </a:r>
          </a:p>
          <a:p>
            <a:pPr indent="-228600" algn="l">
              <a:buFont typeface="Arial" panose="020B0604020202020204" pitchFamily="34" charset="0"/>
              <a:buChar char="•"/>
            </a:pPr>
            <a:r>
              <a:rPr lang="en-US" sz="1600">
                <a:solidFill>
                  <a:schemeClr val="tx1">
                    <a:alpha val="80000"/>
                  </a:schemeClr>
                </a:solidFill>
              </a:rPr>
              <a:t>Django / DRF / PostgreSQL côté serveur, React (Vite) côté interface, Docker Compose, et un LLM local (Ollama) pour la souveraineté des données (RGPD).</a:t>
            </a:r>
          </a:p>
          <a:p>
            <a:pPr indent="-228600" algn="l">
              <a:buFont typeface="Arial" panose="020B0604020202020204" pitchFamily="34" charset="0"/>
              <a:buChar char="•"/>
            </a:pPr>
            <a:r>
              <a:rPr lang="en-US" sz="1600" b="1">
                <a:solidFill>
                  <a:schemeClr val="tx1">
                    <a:alpha val="80000"/>
                  </a:schemeClr>
                </a:solidFill>
              </a:rPr>
              <a:t>Démarche Agile</a:t>
            </a:r>
          </a:p>
          <a:p>
            <a:pPr indent="-228600" algn="l">
              <a:buFont typeface="Arial" panose="020B0604020202020204" pitchFamily="34" charset="0"/>
              <a:buChar char="•"/>
            </a:pPr>
            <a:r>
              <a:rPr lang="en-US" sz="1600">
                <a:solidFill>
                  <a:schemeClr val="tx1">
                    <a:alpha val="80000"/>
                  </a:schemeClr>
                </a:solidFill>
              </a:rPr>
              <a:t>Une semaine de simulation Scrum ponctuée de 5 perturbations reproduisant les contraintes d'un projet réel : besoins, technique, sécurité, RGPD et retours utilisateurs.</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567362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7E35FF551331140B273BB19EEA78143" ma:contentTypeVersion="10" ma:contentTypeDescription="Create a new document." ma:contentTypeScope="" ma:versionID="7eac7f546538e78c5689d1920610a544">
  <xsd:schema xmlns:xsd="http://www.w3.org/2001/XMLSchema" xmlns:xs="http://www.w3.org/2001/XMLSchema" xmlns:p="http://schemas.microsoft.com/office/2006/metadata/properties" xmlns:ns2="aa7a771e-02cb-4c1a-a357-20624cfae5a5" xmlns:ns3="78c7a825-5576-4260-86cd-49ed1229aaf2" targetNamespace="http://schemas.microsoft.com/office/2006/metadata/properties" ma:root="true" ma:fieldsID="1811aa893924d80b2dd28d3be363d3ba" ns2:_="" ns3:_="">
    <xsd:import namespace="aa7a771e-02cb-4c1a-a357-20624cfae5a5"/>
    <xsd:import namespace="78c7a825-5576-4260-86cd-49ed1229aaf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7a771e-02cb-4c1a-a357-20624cfae5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567f5d5-0c03-422f-bbbb-479e45a21372"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8c7a825-5576-4260-86cd-49ed1229aaf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e3cf94d-7b4a-4765-9027-e93108760d61}" ma:internalName="TaxCatchAll" ma:showField="CatchAllData" ma:web="78c7a825-5576-4260-86cd-49ed1229aa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a7a771e-02cb-4c1a-a357-20624cfae5a5">
      <Terms xmlns="http://schemas.microsoft.com/office/infopath/2007/PartnerControls"/>
    </lcf76f155ced4ddcb4097134ff3c332f>
    <TaxCatchAll xmlns="78c7a825-5576-4260-86cd-49ed1229aaf2" xsi:nil="true"/>
  </documentManagement>
</p:properties>
</file>

<file path=customXml/itemProps1.xml><?xml version="1.0" encoding="utf-8"?>
<ds:datastoreItem xmlns:ds="http://schemas.openxmlformats.org/officeDocument/2006/customXml" ds:itemID="{1D0E0E41-CF33-4606-80A9-37ABA0ABC43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7a771e-02cb-4c1a-a357-20624cfae5a5"/>
    <ds:schemaRef ds:uri="78c7a825-5576-4260-86cd-49ed1229aa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202549E-03EE-4A9B-8A94-5B80C847C8E1}">
  <ds:schemaRefs>
    <ds:schemaRef ds:uri="http://schemas.microsoft.com/sharepoint/v3/contenttype/forms"/>
  </ds:schemaRefs>
</ds:datastoreItem>
</file>

<file path=customXml/itemProps3.xml><?xml version="1.0" encoding="utf-8"?>
<ds:datastoreItem xmlns:ds="http://schemas.openxmlformats.org/officeDocument/2006/customXml" ds:itemID="{C271375A-583D-4202-AEB4-CE07CCBA59A4}">
  <ds:schemaRefs>
    <ds:schemaRef ds:uri="78c7a825-5576-4260-86cd-49ed1229aaf2"/>
    <ds:schemaRef ds:uri="aa7a771e-02cb-4c1a-a357-20624cfae5a5"/>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4</TotalTime>
  <Words>237</Words>
  <Application>Microsoft Office PowerPoint</Application>
  <PresentationFormat>Grand écran</PresentationFormat>
  <Paragraphs>26</Paragraphs>
  <Slides>3</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vt:i4>
      </vt:variant>
    </vt:vector>
  </HeadingPairs>
  <TitlesOfParts>
    <vt:vector size="7" baseType="lpstr">
      <vt:lpstr>Aptos</vt:lpstr>
      <vt:lpstr>Aptos Display</vt:lpstr>
      <vt:lpstr>Arial</vt:lpstr>
      <vt:lpstr>Thème Office</vt:lpstr>
      <vt:lpstr>Sommaire</vt:lpstr>
      <vt:lpstr>Présentation de l'équipe</vt:lpstr>
      <vt:lpstr>Résumé du projet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Raphael Touzet</dc:creator>
  <cp:lastModifiedBy>amirpaypal83@gmail.com</cp:lastModifiedBy>
  <cp:revision>2</cp:revision>
  <dcterms:created xsi:type="dcterms:W3CDTF">2026-07-02T10:03:48Z</dcterms:created>
  <dcterms:modified xsi:type="dcterms:W3CDTF">2026-07-02T10:33:49Z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0x01010047E35FF551331140B273BB19EEA78143</vt:lpwstr>
  </property>
  <property fmtid="{D5CDD505-2E9C-101B-9397-08002B2CF9AE}" pid="3" name="MediaServiceImageTags">
    <vt:lpwstr/>
  </property>
</Properties>
</file>