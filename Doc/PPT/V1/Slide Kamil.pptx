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9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94F00-8B69-0CEB-C67B-E66E62191E28}" v="81" dt="2026-07-02T14:58:31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7E9F-787C-5093-B8F5-046BF70F3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BEC66B-1195-3868-8A73-07ADDAE1B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20EA9-CCEF-38A4-0B10-A8B86862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9CBBAB-7FA3-ACE1-27D7-B0007CB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4C069F-D2BB-E20E-2EF6-7775DBAE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33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020DD-878F-49D5-F361-16F47184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35D61-D606-72C2-3B1C-B96D5F40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43E65-58E4-3B73-D012-EF601F91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3CAE44-0EA2-4AB9-8D08-201982EF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4735C-9112-2D4E-1B81-FE34FE72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8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7BB1-126B-D427-1DB2-3D9CEDFB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38EDAE-1643-41BC-B758-CD978835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3DFB0-BF9A-3990-814F-4565B822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209884-A222-C167-8485-523962EB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0B12E-70BC-9AFA-0FB2-847BDF5A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1237C-8417-B182-3D78-7633D907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CA5F0-480B-5E24-5003-EB154468C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E9E624-4C2E-6263-418D-08550A43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45445F-43AB-200D-01CE-69AF4DC4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79739C-B654-6D2D-E5FB-6DE165C9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384DE6-974C-BE9B-AECE-A8787842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80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66D6A-EF50-CF4E-2960-124094C7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0BBD3D-E991-1ADD-37F3-376E63AD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99533-9131-14EB-999E-D99840372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39B9E9-4EB1-F216-7A7C-255EB2626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C5DBD1-C2E2-11B3-29F1-DFC5CB8E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85CA9C-5AEF-25A7-DAF4-919F2E6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21E680-E794-60C9-BCEF-DE44F785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D087941-5A61-AE6C-0E69-F541AAE7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48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7712C-3132-BF77-B197-D1DD63E9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B9F5B82-65F6-11FD-3DE5-C3268F2A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E6C2B2-1BE7-9CB1-9C81-AE25999E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35BDE0-28F1-1DD2-EE20-A99AA6ED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63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11BC58-2979-109B-B19C-0DEC5009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7639EB-33D7-B3F8-A229-71DA815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1E32C7-9D64-FBBA-ACE6-AEB49B41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55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F6DB9-2BB9-235A-DD71-1D61C0D6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F15FA-F08D-6F2A-B486-BCF8E4D2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DA03E9-C0F5-DED0-5C9F-9FF0F1AFA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C5C4D-09C3-ECCD-F45A-393618CA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DADC84-A4C2-C4DD-F367-19CDDC3A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2DC822-8A72-A6CF-5779-DACD5652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38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4CC41-528E-7BDC-D087-5D28FC34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7C9936-04B7-64D0-298E-27E52FCC5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21D43E-2191-FB8D-3259-36EA0082E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249FF7-45D2-6D1E-2098-FF3B833D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9DC926-1060-A56F-A79A-D849B503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CA63F-1FAE-F488-C77A-F8698063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63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AB71B-A00E-CD0D-7078-700031BA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8A3194-1B9A-8833-D785-D2021CD2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18FF25-5601-0864-1E9D-7472BB8A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321136-8BD6-2AE0-2637-5CC608E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37F9E-4DD1-734D-E7BF-56C4F19B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421F6C-E149-5EDD-1541-F4173613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5CBFD0-FE4F-767F-47A3-B7C520E98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9E1D8F-B06A-BAD7-70BF-957BFC20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786623-CDE7-902E-A4CF-CC012F88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BDE5-1136-7BAB-01A4-520DEB31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9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9F78F7-A863-427F-C7FA-25B72C07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F54C0-F134-6DFE-6387-56B111D93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C0D367-2482-6290-0ABD-AD935E6ED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33C675-C919-5505-47E1-50B6AE81B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5581-CF9B-10F2-19FB-CE95BE1B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00F49-6CB8-4210-AA0A-C7A295B4DA9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13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BF6A1-3AC2-CB7C-25BA-D05F50D5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BC606D3-A271-0462-C7DB-022A4C2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14FCF6-1089-5056-1C10-DAA8896A2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92813A-17B6-8EC4-EF81-B75633F4C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dirty="0">
                <a:solidFill>
                  <a:srgbClr val="FFFFFF"/>
                </a:solidFill>
                <a:ea typeface="+mj-lt"/>
                <a:cs typeface="+mj-lt"/>
              </a:rPr>
              <a:t>Benchmark des </a:t>
            </a:r>
            <a:r>
              <a:rPr lang="en-US" sz="5600" dirty="0" err="1">
                <a:solidFill>
                  <a:srgbClr val="FFFFFF"/>
                </a:solidFill>
                <a:ea typeface="+mj-lt"/>
                <a:cs typeface="+mj-lt"/>
              </a:rPr>
              <a:t>modèles</a:t>
            </a:r>
            <a:r>
              <a:rPr lang="en-US" sz="5600" dirty="0">
                <a:solidFill>
                  <a:srgbClr val="FFFFFF"/>
                </a:solidFill>
                <a:ea typeface="+mj-lt"/>
                <a:cs typeface="+mj-lt"/>
              </a:rPr>
              <a:t> LLM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970432-0E85-92F5-0A43-289291514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12822FCE-2EF4-EF80-30D0-8D63FB704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2494E2DE-F780-4CF8-A586-85934C769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C76091EF-7C16-C02C-6987-12A3E2202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DEE204B-A6A5-B23F-F87E-A3E9695C7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b="1" dirty="0" err="1"/>
              <a:t>Pourquoi</a:t>
            </a:r>
            <a:r>
              <a:rPr lang="en-US" b="1" dirty="0"/>
              <a:t> </a:t>
            </a:r>
            <a:r>
              <a:rPr lang="en-US" b="1" dirty="0" err="1"/>
              <a:t>ce</a:t>
            </a:r>
            <a:r>
              <a:rPr lang="en-US" b="1" dirty="0"/>
              <a:t> benchmark ?</a:t>
            </a:r>
          </a:p>
          <a:p>
            <a:r>
              <a:rPr lang="en-US" dirty="0">
                <a:ea typeface="+mn-lt"/>
                <a:cs typeface="+mn-lt"/>
              </a:rPr>
              <a:t>Lors de la perturbation J2, un retour </a:t>
            </a:r>
            <a:r>
              <a:rPr lang="en-US" dirty="0" err="1">
                <a:ea typeface="+mn-lt"/>
                <a:cs typeface="+mn-lt"/>
              </a:rPr>
              <a:t>utilisateur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signalait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génération</a:t>
            </a:r>
            <a:r>
              <a:rPr lang="en-US" dirty="0">
                <a:ea typeface="+mn-lt"/>
                <a:cs typeface="+mn-lt"/>
              </a:rPr>
              <a:t> des quiz </a:t>
            </a:r>
            <a:r>
              <a:rPr lang="en-US" dirty="0" err="1">
                <a:ea typeface="+mn-lt"/>
                <a:cs typeface="+mn-lt"/>
              </a:rPr>
              <a:t>prenait</a:t>
            </a:r>
            <a:r>
              <a:rPr lang="en-US" dirty="0">
                <a:ea typeface="+mn-lt"/>
                <a:cs typeface="+mn-lt"/>
              </a:rPr>
              <a:t> environ 45 </a:t>
            </a:r>
            <a:r>
              <a:rPr lang="en-US" dirty="0" err="1">
                <a:ea typeface="+mn-lt"/>
                <a:cs typeface="+mn-lt"/>
              </a:rPr>
              <a:t>secondes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rendant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l'application</a:t>
            </a:r>
            <a:r>
              <a:rPr lang="en-US" dirty="0">
                <a:ea typeface="+mn-lt"/>
                <a:cs typeface="+mn-lt"/>
              </a:rPr>
              <a:t> peu </a:t>
            </a:r>
            <a:r>
              <a:rPr lang="en-US" dirty="0" err="1">
                <a:ea typeface="+mn-lt"/>
                <a:cs typeface="+mn-lt"/>
              </a:rPr>
              <a:t>utilisable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Le sponsor nous </a:t>
            </a:r>
            <a:r>
              <a:rPr lang="en-US" dirty="0" err="1">
                <a:ea typeface="+mn-lt"/>
                <a:cs typeface="+mn-lt"/>
              </a:rPr>
              <a:t>demandait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donc</a:t>
            </a:r>
            <a:r>
              <a:rPr lang="en-US" dirty="0">
                <a:ea typeface="+mn-lt"/>
                <a:cs typeface="+mn-lt"/>
              </a:rPr>
              <a:t> de proposer </a:t>
            </a:r>
            <a:r>
              <a:rPr lang="en-US" dirty="0" err="1">
                <a:ea typeface="+mn-lt"/>
                <a:cs typeface="+mn-lt"/>
              </a:rPr>
              <a:t>rapidement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une</a:t>
            </a:r>
            <a:r>
              <a:rPr lang="en-US" dirty="0">
                <a:ea typeface="+mn-lt"/>
                <a:cs typeface="+mn-lt"/>
              </a:rPr>
              <a:t> solution </a:t>
            </a:r>
            <a:r>
              <a:rPr lang="en-US" dirty="0" err="1">
                <a:ea typeface="+mn-lt"/>
                <a:cs typeface="+mn-lt"/>
              </a:rPr>
              <a:t>afin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réduire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cette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latence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/>
              <a:t>Notre démarche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Réalisation</a:t>
            </a:r>
            <a:r>
              <a:rPr lang="en-US" dirty="0">
                <a:ea typeface="+mn-lt"/>
                <a:cs typeface="+mn-lt"/>
              </a:rPr>
              <a:t> d'un benchmark de </a:t>
            </a:r>
            <a:r>
              <a:rPr lang="en-US" dirty="0" err="1">
                <a:ea typeface="+mn-lt"/>
                <a:cs typeface="+mn-lt"/>
              </a:rPr>
              <a:t>plusieurs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modèles</a:t>
            </a:r>
            <a:r>
              <a:rPr lang="en-US" dirty="0">
                <a:ea typeface="+mn-lt"/>
                <a:cs typeface="+mn-lt"/>
              </a:rPr>
              <a:t> LLM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Comparaison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selon</a:t>
            </a:r>
            <a:r>
              <a:rPr lang="en-US" dirty="0">
                <a:ea typeface="+mn-lt"/>
                <a:cs typeface="+mn-lt"/>
              </a:rPr>
              <a:t> des </a:t>
            </a:r>
            <a:r>
              <a:rPr lang="en-US" dirty="0" err="1">
                <a:ea typeface="+mn-lt"/>
                <a:cs typeface="+mn-lt"/>
              </a:rPr>
              <a:t>critères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objectifs</a:t>
            </a:r>
            <a:r>
              <a:rPr lang="en-US" dirty="0">
                <a:ea typeface="+mn-lt"/>
                <a:cs typeface="+mn-lt"/>
              </a:rPr>
              <a:t> : 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Temps de </a:t>
            </a:r>
            <a:r>
              <a:rPr lang="en-US" sz="2400" dirty="0" err="1">
                <a:ea typeface="+mn-lt"/>
                <a:cs typeface="+mn-lt"/>
              </a:rPr>
              <a:t>génération</a:t>
            </a:r>
            <a:r>
              <a:rPr lang="en-US" sz="2400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Qualité</a:t>
            </a:r>
            <a:r>
              <a:rPr lang="en-US" sz="2400" dirty="0">
                <a:ea typeface="+mn-lt"/>
                <a:cs typeface="+mn-lt"/>
              </a:rPr>
              <a:t> des quiz </a:t>
            </a:r>
            <a:r>
              <a:rPr lang="en-US" sz="2400" dirty="0" err="1">
                <a:ea typeface="+mn-lt"/>
                <a:cs typeface="+mn-lt"/>
              </a:rPr>
              <a:t>générés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Consommation</a:t>
            </a:r>
            <a:r>
              <a:rPr lang="en-US" sz="2400" dirty="0">
                <a:ea typeface="+mn-lt"/>
                <a:cs typeface="+mn-lt"/>
              </a:rPr>
              <a:t> des </a:t>
            </a:r>
            <a:r>
              <a:rPr lang="en-US" sz="2400" dirty="0" err="1">
                <a:ea typeface="+mn-lt"/>
                <a:cs typeface="+mn-lt"/>
              </a:rPr>
              <a:t>ressources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Coût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d'utilisation</a:t>
            </a:r>
            <a:endParaRPr lang="en-US" dirty="0" err="1">
              <a:ea typeface="+mn-lt"/>
              <a:cs typeface="+mn-lt"/>
            </a:endParaRPr>
          </a:p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D5B95C-F8BA-F6F4-9135-352B76DD9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82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76103-04E3-E6C0-1080-C0895BCF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CC4A300-1080-F555-DEB5-BE80F2F57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680258-2459-A98F-0664-9990D0BE7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9767BD-2B2B-341E-6009-672C12C4E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dirty="0" err="1">
                <a:solidFill>
                  <a:srgbClr val="FFFFFF"/>
                </a:solidFill>
                <a:ea typeface="+mj-lt"/>
                <a:cs typeface="+mj-lt"/>
              </a:rPr>
              <a:t>Résultats</a:t>
            </a:r>
            <a:r>
              <a:rPr lang="en-US" sz="5600" dirty="0">
                <a:solidFill>
                  <a:srgbClr val="FFFFFF"/>
                </a:solidFill>
                <a:ea typeface="+mj-lt"/>
                <a:cs typeface="+mj-lt"/>
              </a:rPr>
              <a:t> du benchmark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4B9312-C762-9217-FAAA-162DAD234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8065EFA9-917C-68D9-BCD2-E872F5C82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B84388DF-ECC4-FDA3-017A-9863E286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D9237F53-96B5-4B43-7627-F88E75A5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A0DF22C-6F64-AA8B-CF4C-6CF337DA3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Après </a:t>
            </a:r>
            <a:r>
              <a:rPr lang="en-US" b="1" dirty="0" err="1">
                <a:ea typeface="+mn-lt"/>
                <a:cs typeface="+mn-lt"/>
              </a:rPr>
              <a:t>comparaison</a:t>
            </a:r>
            <a:r>
              <a:rPr lang="en-US" b="1" dirty="0">
                <a:ea typeface="+mn-lt"/>
                <a:cs typeface="+mn-lt"/>
              </a:rPr>
              <a:t> des </a:t>
            </a:r>
            <a:r>
              <a:rPr lang="en-US" b="1" dirty="0" err="1">
                <a:ea typeface="+mn-lt"/>
                <a:cs typeface="+mn-lt"/>
              </a:rPr>
              <a:t>différents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modèles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Réduction</a:t>
            </a:r>
            <a:r>
              <a:rPr lang="en-US" dirty="0">
                <a:ea typeface="+mn-lt"/>
                <a:cs typeface="+mn-lt"/>
              </a:rPr>
              <a:t> significative du temps de </a:t>
            </a:r>
            <a:r>
              <a:rPr lang="en-US" dirty="0" err="1">
                <a:ea typeface="+mn-lt"/>
                <a:cs typeface="+mn-lt"/>
              </a:rPr>
              <a:t>génération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Qualité</a:t>
            </a:r>
            <a:r>
              <a:rPr lang="en-US" dirty="0">
                <a:ea typeface="+mn-lt"/>
                <a:cs typeface="+mn-lt"/>
              </a:rPr>
              <a:t> des quiz </a:t>
            </a:r>
            <a:r>
              <a:rPr lang="en-US" dirty="0" err="1">
                <a:ea typeface="+mn-lt"/>
                <a:cs typeface="+mn-lt"/>
              </a:rPr>
              <a:t>maintenue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Ressources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mieux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maîtrisées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Coût</a:t>
            </a:r>
            <a:r>
              <a:rPr lang="en-US" dirty="0">
                <a:ea typeface="+mn-lt"/>
                <a:cs typeface="+mn-lt"/>
              </a:rPr>
              <a:t> compatible avec les </a:t>
            </a:r>
            <a:r>
              <a:rPr lang="en-US" dirty="0" err="1">
                <a:ea typeface="+mn-lt"/>
                <a:cs typeface="+mn-lt"/>
              </a:rPr>
              <a:t>contraintes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projet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/>
              <a:t>Décision</a:t>
            </a:r>
            <a:r>
              <a:rPr lang="en-US" dirty="0"/>
              <a:t> </a:t>
            </a:r>
            <a:r>
              <a:rPr lang="en-US" dirty="0" err="1"/>
              <a:t>retenue</a:t>
            </a:r>
          </a:p>
          <a:p>
            <a:r>
              <a:rPr lang="en-US" dirty="0">
                <a:ea typeface="+mn-lt"/>
                <a:cs typeface="+mn-lt"/>
              </a:rPr>
              <a:t>Nous </a:t>
            </a:r>
            <a:r>
              <a:rPr lang="en-US" dirty="0" err="1">
                <a:ea typeface="+mn-lt"/>
                <a:cs typeface="+mn-lt"/>
              </a:rPr>
              <a:t>avons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retenu</a:t>
            </a:r>
            <a:r>
              <a:rPr lang="en-US" dirty="0">
                <a:ea typeface="+mn-lt"/>
                <a:cs typeface="+mn-lt"/>
              </a:rPr>
              <a:t> le </a:t>
            </a:r>
            <a:r>
              <a:rPr lang="en-US" dirty="0" err="1">
                <a:ea typeface="+mn-lt"/>
                <a:cs typeface="+mn-lt"/>
              </a:rPr>
              <a:t>modèle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offrant</a:t>
            </a:r>
            <a:r>
              <a:rPr lang="en-US" dirty="0">
                <a:ea typeface="+mn-lt"/>
                <a:cs typeface="+mn-lt"/>
              </a:rPr>
              <a:t> le </a:t>
            </a:r>
            <a:r>
              <a:rPr lang="en-US" b="1" dirty="0" err="1">
                <a:ea typeface="+mn-lt"/>
                <a:cs typeface="+mn-lt"/>
              </a:rPr>
              <a:t>meilleur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compromis</a:t>
            </a:r>
            <a:r>
              <a:rPr lang="en-US" dirty="0">
                <a:ea typeface="+mn-lt"/>
                <a:cs typeface="+mn-lt"/>
              </a:rPr>
              <a:t> entre 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Performance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Qualité</a:t>
            </a:r>
            <a:r>
              <a:rPr lang="en-US" sz="2400" dirty="0">
                <a:ea typeface="+mn-lt"/>
                <a:cs typeface="+mn-lt"/>
              </a:rPr>
              <a:t> des </a:t>
            </a:r>
            <a:r>
              <a:rPr lang="en-US" dirty="0" err="1">
                <a:ea typeface="+mn-lt"/>
                <a:cs typeface="+mn-lt"/>
              </a:rPr>
              <a:t>réponses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Consommation</a:t>
            </a:r>
            <a:r>
              <a:rPr lang="en-US" sz="2400" dirty="0">
                <a:ea typeface="+mn-lt"/>
                <a:cs typeface="+mn-lt"/>
              </a:rPr>
              <a:t> des </a:t>
            </a:r>
            <a:r>
              <a:rPr lang="en-US" sz="2400" dirty="0" err="1">
                <a:ea typeface="+mn-lt"/>
                <a:cs typeface="+mn-lt"/>
              </a:rPr>
              <a:t>ressources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Coût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Cette </a:t>
            </a:r>
            <a:r>
              <a:rPr lang="en-US" dirty="0" err="1">
                <a:ea typeface="+mn-lt"/>
                <a:cs typeface="+mn-lt"/>
              </a:rPr>
              <a:t>décision</a:t>
            </a:r>
            <a:r>
              <a:rPr lang="en-US" dirty="0">
                <a:ea typeface="+mn-lt"/>
                <a:cs typeface="+mn-lt"/>
              </a:rPr>
              <a:t> a ensuite </a:t>
            </a:r>
            <a:r>
              <a:rPr lang="en-US" dirty="0" err="1">
                <a:ea typeface="+mn-lt"/>
                <a:cs typeface="+mn-lt"/>
              </a:rPr>
              <a:t>été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formalisée</a:t>
            </a:r>
            <a:r>
              <a:rPr lang="en-US" b="1" dirty="0">
                <a:ea typeface="+mn-lt"/>
                <a:cs typeface="+mn-lt"/>
              </a:rPr>
              <a:t> dans un ADR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d'assurer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justification et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traçabilité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B429F8-B53D-DEED-0C74-D19AFD5CB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23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5DFA4-D840-829C-5962-6FA82C10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AD7BEE-38A0-1C37-B6FD-BAF720F0B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EDC48F-F845-2AB4-A8FC-CF0D9B799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2BBBAB8-49B5-3FD4-6D4C-C5343B857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8000" dirty="0" err="1"/>
              <a:t>Veille</a:t>
            </a:r>
            <a:r>
              <a:rPr lang="en-GB" sz="8000" dirty="0"/>
              <a:t> </a:t>
            </a:r>
            <a:r>
              <a:rPr lang="en-GB" sz="8000" dirty="0" err="1"/>
              <a:t>technologique</a:t>
            </a:r>
            <a:r>
              <a:rPr lang="en-GB" sz="8000" dirty="0"/>
              <a:t> de sécurité</a:t>
            </a:r>
            <a:endParaRPr lang="en-US" sz="7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216CBF3-7DB3-1A4B-518F-AECFB7541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A88678AD-AC1B-775F-39C5-BD08354EC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DCC1D63D-1171-288E-D2CC-D2EEE9CCF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69AA9E53-3F08-2186-A85C-8FC220E89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136DF2D-CE40-9B20-C366-DF852EDF6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400" b="1" dirty="0" err="1"/>
              <a:t>Pourquoi</a:t>
            </a:r>
            <a:r>
              <a:rPr lang="en-GB" sz="1400" b="1" dirty="0"/>
              <a:t> </a:t>
            </a:r>
            <a:r>
              <a:rPr lang="en-GB" sz="1400" b="1" dirty="0" err="1"/>
              <a:t>cette</a:t>
            </a:r>
            <a:r>
              <a:rPr lang="en-GB" sz="1400" b="1" dirty="0"/>
              <a:t> </a:t>
            </a:r>
            <a:r>
              <a:rPr lang="en-GB" sz="1400" b="1" dirty="0" err="1"/>
              <a:t>veille</a:t>
            </a:r>
            <a:r>
              <a:rPr lang="en-GB" sz="1400" b="1" dirty="0"/>
              <a:t> ?</a:t>
            </a:r>
          </a:p>
          <a:p>
            <a:r>
              <a:rPr lang="en-GB" sz="1400" dirty="0"/>
              <a:t>Lors de la perturbation J3, </a:t>
            </a:r>
            <a:r>
              <a:rPr lang="en-GB" sz="1400" dirty="0" err="1"/>
              <a:t>une</a:t>
            </a:r>
            <a:r>
              <a:rPr lang="en-GB" sz="1400" dirty="0"/>
              <a:t> </a:t>
            </a:r>
            <a:r>
              <a:rPr lang="en-GB" sz="1400" dirty="0" err="1"/>
              <a:t>vulnérabilité</a:t>
            </a:r>
            <a:r>
              <a:rPr lang="en-GB" sz="1400" dirty="0"/>
              <a:t> de </a:t>
            </a:r>
            <a:r>
              <a:rPr lang="en-GB" sz="1400" b="1" dirty="0"/>
              <a:t>Prompt Injection (OWASP LLM-01)</a:t>
            </a:r>
            <a:r>
              <a:rPr lang="en-GB" sz="1400" dirty="0"/>
              <a:t> a </a:t>
            </a:r>
            <a:r>
              <a:rPr lang="en-GB" sz="1400" dirty="0" err="1"/>
              <a:t>été</a:t>
            </a:r>
            <a:r>
              <a:rPr lang="en-GB" sz="1400" dirty="0"/>
              <a:t> </a:t>
            </a:r>
            <a:r>
              <a:rPr lang="en-GB" sz="1400" dirty="0" err="1"/>
              <a:t>identifiée</a:t>
            </a:r>
            <a:r>
              <a:rPr lang="en-GB" sz="1400" dirty="0"/>
              <a:t> sur </a:t>
            </a:r>
            <a:r>
              <a:rPr lang="en-GB" sz="1400" dirty="0" err="1"/>
              <a:t>notre</a:t>
            </a:r>
            <a:r>
              <a:rPr lang="en-GB" sz="1400" dirty="0"/>
              <a:t> application.</a:t>
            </a:r>
          </a:p>
          <a:p>
            <a:r>
              <a:rPr lang="en-GB" sz="1400" dirty="0"/>
              <a:t>Le sponsor </a:t>
            </a:r>
            <a:r>
              <a:rPr lang="en-GB" sz="1400" dirty="0" err="1"/>
              <a:t>demandait</a:t>
            </a:r>
            <a:r>
              <a:rPr lang="en-GB" sz="1400" dirty="0"/>
              <a:t> </a:t>
            </a:r>
            <a:r>
              <a:rPr lang="en-GB" sz="1400" dirty="0" err="1"/>
              <a:t>donc</a:t>
            </a:r>
            <a:r>
              <a:rPr lang="en-GB" sz="1400" dirty="0"/>
              <a:t> de :</a:t>
            </a:r>
          </a:p>
          <a:p>
            <a:r>
              <a:rPr lang="en-GB" sz="1400" dirty="0" err="1"/>
              <a:t>comprendre</a:t>
            </a:r>
            <a:r>
              <a:rPr lang="en-GB" sz="1400" dirty="0"/>
              <a:t> </a:t>
            </a:r>
            <a:r>
              <a:rPr lang="en-GB" sz="1400" dirty="0" err="1"/>
              <a:t>rapidement</a:t>
            </a:r>
            <a:r>
              <a:rPr lang="en-GB" sz="1400" dirty="0"/>
              <a:t> </a:t>
            </a:r>
            <a:r>
              <a:rPr lang="en-GB" sz="1400" dirty="0" err="1"/>
              <a:t>cette</a:t>
            </a:r>
            <a:r>
              <a:rPr lang="en-GB" sz="1400" dirty="0"/>
              <a:t> </a:t>
            </a:r>
            <a:r>
              <a:rPr lang="en-GB" sz="1400" dirty="0" err="1"/>
              <a:t>vulnérabilité</a:t>
            </a:r>
            <a:r>
              <a:rPr lang="en-GB" sz="1400" dirty="0"/>
              <a:t> ; </a:t>
            </a:r>
          </a:p>
          <a:p>
            <a:r>
              <a:rPr lang="en-GB" sz="1400" dirty="0"/>
              <a:t>identifier les </a:t>
            </a:r>
            <a:r>
              <a:rPr lang="en-GB" sz="1400" dirty="0" err="1"/>
              <a:t>bonnes</a:t>
            </a:r>
            <a:r>
              <a:rPr lang="en-GB" sz="1400" dirty="0"/>
              <a:t> pratiques de protection ; </a:t>
            </a:r>
          </a:p>
          <a:p>
            <a:r>
              <a:rPr lang="en-GB" sz="1400" dirty="0"/>
              <a:t>proposer </a:t>
            </a:r>
            <a:r>
              <a:rPr lang="en-GB" sz="1400" dirty="0" err="1"/>
              <a:t>une</a:t>
            </a:r>
            <a:r>
              <a:rPr lang="en-GB" sz="1400" dirty="0"/>
              <a:t> solution avant la livraison. </a:t>
            </a:r>
          </a:p>
          <a:p>
            <a:r>
              <a:rPr lang="en-GB" sz="1400" b="1" dirty="0"/>
              <a:t>Notre démarche</a:t>
            </a:r>
          </a:p>
          <a:p>
            <a:r>
              <a:rPr lang="en-GB" sz="1400" dirty="0"/>
              <a:t>Étude de la documentation OWASP LLM Top 10 </a:t>
            </a:r>
          </a:p>
          <a:p>
            <a:r>
              <a:rPr lang="en-GB" sz="1400" dirty="0"/>
              <a:t>Analyse du podcast </a:t>
            </a:r>
            <a:r>
              <a:rPr lang="en-GB" sz="1400" dirty="0" err="1"/>
              <a:t>fourni</a:t>
            </a:r>
            <a:r>
              <a:rPr lang="en-GB" sz="1400" dirty="0"/>
              <a:t> </a:t>
            </a:r>
          </a:p>
          <a:p>
            <a:r>
              <a:rPr lang="en-GB" sz="1400" dirty="0"/>
              <a:t>Recherche sur les </a:t>
            </a:r>
            <a:r>
              <a:rPr lang="en-GB" sz="1400" dirty="0" err="1"/>
              <a:t>attaques</a:t>
            </a:r>
            <a:r>
              <a:rPr lang="en-GB" sz="1400" dirty="0"/>
              <a:t> </a:t>
            </a:r>
            <a:r>
              <a:rPr lang="en-GB" sz="1400" dirty="0" err="1"/>
              <a:t>réelles</a:t>
            </a:r>
            <a:r>
              <a:rPr lang="en-GB" sz="1400" dirty="0"/>
              <a:t> </a:t>
            </a:r>
          </a:p>
          <a:p>
            <a:r>
              <a:rPr lang="en-GB" sz="1400" dirty="0"/>
              <a:t>Identification des </a:t>
            </a:r>
            <a:r>
              <a:rPr lang="en-GB" sz="1400" dirty="0" err="1"/>
              <a:t>contre-mesures</a:t>
            </a:r>
            <a:r>
              <a:rPr lang="en-GB" sz="1400" dirty="0"/>
              <a:t>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FD9D7D-4A1E-C51E-1418-7FE492199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67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1E662-5644-6A6B-199B-CEEC2E82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6DB498-58E6-8050-8590-714B6227F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E4BE1-98D1-7B96-1032-6623967BF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8CE0FCC-65A3-3DCA-76EB-933B0A7D1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7200" dirty="0" err="1"/>
              <a:t>Résultats</a:t>
            </a:r>
            <a:r>
              <a:rPr lang="en-GB" sz="7200" dirty="0"/>
              <a:t> de la </a:t>
            </a:r>
            <a:r>
              <a:rPr lang="en-GB" sz="7200" dirty="0" err="1"/>
              <a:t>veille</a:t>
            </a:r>
            <a:r>
              <a:rPr lang="en-GB" sz="7200" dirty="0"/>
              <a:t> </a:t>
            </a:r>
            <a:r>
              <a:rPr lang="en-GB" sz="7200" dirty="0" err="1"/>
              <a:t>technologique</a:t>
            </a:r>
            <a:endParaRPr lang="en-US" sz="7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D81FCD-8243-CC82-8929-A8B23B079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252CA55A-1DA6-E877-5767-FEE234C9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D8C00350-1A98-E15F-25DD-EAA1AF70B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03B9A628-B04A-3252-4C78-9F8995CB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6D7CD9B-A0C3-CFC7-2B5B-8284616FF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/>
              <a:t>Après analyse</a:t>
            </a:r>
          </a:p>
          <a:p>
            <a:r>
              <a:rPr lang="en-GB" sz="1800" dirty="0" err="1"/>
              <a:t>Compréhension</a:t>
            </a:r>
            <a:r>
              <a:rPr lang="en-GB" sz="1800" dirty="0"/>
              <a:t> du </a:t>
            </a:r>
            <a:r>
              <a:rPr lang="en-GB" sz="1800" dirty="0" err="1"/>
              <a:t>fonctionnement</a:t>
            </a:r>
            <a:r>
              <a:rPr lang="en-GB" sz="1800" dirty="0"/>
              <a:t> </a:t>
            </a:r>
            <a:r>
              <a:rPr lang="en-GB" sz="1800" dirty="0" err="1"/>
              <a:t>d'une</a:t>
            </a:r>
            <a:r>
              <a:rPr lang="en-GB" sz="1800" dirty="0"/>
              <a:t> Prompt Injection </a:t>
            </a:r>
          </a:p>
          <a:p>
            <a:r>
              <a:rPr lang="en-GB" sz="1800" dirty="0"/>
              <a:t>Identification des </a:t>
            </a:r>
            <a:r>
              <a:rPr lang="en-GB" sz="1800" dirty="0" err="1"/>
              <a:t>risques</a:t>
            </a:r>
            <a:r>
              <a:rPr lang="en-GB" sz="1800" dirty="0"/>
              <a:t> pour les LLM </a:t>
            </a:r>
          </a:p>
          <a:p>
            <a:r>
              <a:rPr lang="en-GB" sz="1800" dirty="0" err="1"/>
              <a:t>Définition</a:t>
            </a:r>
            <a:r>
              <a:rPr lang="en-GB" sz="1800" dirty="0"/>
              <a:t> de </a:t>
            </a:r>
            <a:r>
              <a:rPr lang="en-GB" sz="1800" dirty="0" err="1"/>
              <a:t>plusieurs</a:t>
            </a:r>
            <a:r>
              <a:rPr lang="en-GB" sz="1800" dirty="0"/>
              <a:t> couches de protection </a:t>
            </a:r>
          </a:p>
          <a:p>
            <a:pPr lvl="1"/>
            <a:r>
              <a:rPr lang="en-GB" sz="1800" dirty="0"/>
              <a:t>Prompt </a:t>
            </a:r>
            <a:r>
              <a:rPr lang="en-GB" sz="1800" dirty="0" err="1"/>
              <a:t>système</a:t>
            </a:r>
            <a:r>
              <a:rPr lang="en-GB" sz="1800" dirty="0"/>
              <a:t> </a:t>
            </a:r>
            <a:r>
              <a:rPr lang="en-GB" sz="1800" dirty="0" err="1"/>
              <a:t>défensif</a:t>
            </a:r>
            <a:r>
              <a:rPr lang="en-GB" sz="1800" dirty="0"/>
              <a:t> </a:t>
            </a:r>
          </a:p>
          <a:p>
            <a:pPr lvl="1"/>
            <a:r>
              <a:rPr lang="en-GB" sz="1800" dirty="0"/>
              <a:t>Validation des entrées </a:t>
            </a:r>
            <a:r>
              <a:rPr lang="en-GB" sz="1800" dirty="0" err="1"/>
              <a:t>utilisateur</a:t>
            </a:r>
            <a:r>
              <a:rPr lang="en-GB" sz="1800" dirty="0"/>
              <a:t> </a:t>
            </a:r>
          </a:p>
          <a:p>
            <a:pPr lvl="1"/>
            <a:r>
              <a:rPr lang="en-GB" sz="1800" dirty="0" err="1"/>
              <a:t>Vérification</a:t>
            </a:r>
            <a:r>
              <a:rPr lang="en-GB" sz="1800" dirty="0"/>
              <a:t> des </a:t>
            </a:r>
            <a:r>
              <a:rPr lang="en-GB" sz="1800" dirty="0" err="1"/>
              <a:t>réponses</a:t>
            </a:r>
            <a:r>
              <a:rPr lang="en-GB" sz="1800" dirty="0"/>
              <a:t> </a:t>
            </a:r>
            <a:r>
              <a:rPr lang="en-GB" sz="1800" dirty="0" err="1"/>
              <a:t>générées</a:t>
            </a:r>
            <a:r>
              <a:rPr lang="en-GB" sz="1800" dirty="0"/>
              <a:t> </a:t>
            </a:r>
          </a:p>
          <a:p>
            <a:r>
              <a:rPr lang="en-GB" sz="1800" b="1" dirty="0" err="1"/>
              <a:t>Décision</a:t>
            </a:r>
            <a:r>
              <a:rPr lang="en-GB" sz="1800" b="1" dirty="0"/>
              <a:t> </a:t>
            </a:r>
            <a:r>
              <a:rPr lang="en-GB" sz="1800" b="1" dirty="0" err="1"/>
              <a:t>retenue</a:t>
            </a:r>
            <a:endParaRPr lang="en-GB" sz="1800" b="1" dirty="0"/>
          </a:p>
          <a:p>
            <a:r>
              <a:rPr lang="en-GB" sz="1800" dirty="0"/>
              <a:t>Nous </a:t>
            </a:r>
            <a:r>
              <a:rPr lang="en-GB" sz="1800" dirty="0" err="1"/>
              <a:t>avons</a:t>
            </a:r>
            <a:r>
              <a:rPr lang="en-GB" sz="1800" dirty="0"/>
              <a:t> </a:t>
            </a:r>
            <a:r>
              <a:rPr lang="en-GB" sz="1800" dirty="0" err="1"/>
              <a:t>intégré</a:t>
            </a:r>
            <a:r>
              <a:rPr lang="en-GB" sz="1800" dirty="0"/>
              <a:t> </a:t>
            </a:r>
            <a:r>
              <a:rPr lang="en-GB" sz="1800" dirty="0" err="1"/>
              <a:t>ces</a:t>
            </a:r>
            <a:r>
              <a:rPr lang="en-GB" sz="1800" dirty="0"/>
              <a:t> </a:t>
            </a:r>
            <a:r>
              <a:rPr lang="en-GB" sz="1800" dirty="0" err="1"/>
              <a:t>recommandations</a:t>
            </a:r>
            <a:r>
              <a:rPr lang="en-GB" sz="1800" dirty="0"/>
              <a:t> </a:t>
            </a:r>
            <a:r>
              <a:rPr lang="en-GB" sz="1800" dirty="0" err="1"/>
              <a:t>afin</a:t>
            </a:r>
            <a:r>
              <a:rPr lang="en-GB" sz="1800" dirty="0"/>
              <a:t> de :</a:t>
            </a:r>
          </a:p>
          <a:p>
            <a:r>
              <a:rPr lang="en-GB" sz="1800" dirty="0"/>
              <a:t>limiter les </a:t>
            </a:r>
            <a:r>
              <a:rPr lang="en-GB" sz="1800" dirty="0" err="1"/>
              <a:t>risques</a:t>
            </a:r>
            <a:r>
              <a:rPr lang="en-GB" sz="1800" dirty="0"/>
              <a:t> </a:t>
            </a:r>
            <a:r>
              <a:rPr lang="en-GB" sz="1800" dirty="0" err="1"/>
              <a:t>d'injection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renforcer</a:t>
            </a:r>
            <a:r>
              <a:rPr lang="en-GB" sz="1800" dirty="0"/>
              <a:t> la sécurité de </a:t>
            </a:r>
            <a:r>
              <a:rPr lang="en-GB" sz="1800" dirty="0" err="1"/>
              <a:t>l'application</a:t>
            </a:r>
            <a:r>
              <a:rPr lang="en-GB" sz="1800" dirty="0"/>
              <a:t> </a:t>
            </a:r>
          </a:p>
          <a:p>
            <a:r>
              <a:rPr lang="en-GB" sz="1800" dirty="0"/>
              <a:t>respecter les exigences du sponsor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92D033-44B8-3AF6-7451-817696B01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C7EEF-2F7E-245C-C233-C2421FCD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903F7F6-62E6-AEB4-2318-481C3CB3C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524A9B-42D1-623C-999F-8B69B9F92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B95B0C-A9C9-5C8F-8216-4068EFC39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7200" dirty="0"/>
              <a:t>Analyse des </a:t>
            </a:r>
            <a:r>
              <a:rPr lang="en-GB" sz="7200" dirty="0" err="1"/>
              <a:t>risques</a:t>
            </a:r>
            <a:endParaRPr lang="en-US" sz="7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7B82EF-09DE-520E-F9C7-F4F20C9D1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2E062471-E915-6EA9-6971-ECB47A18D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7677406E-E45C-DADE-09A0-49D7CDBF6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945A8A48-4EBD-4C92-A7A4-739F385D3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B1BBC963-A3BD-E88A-6880-FB572EF3D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 err="1"/>
              <a:t>Pourquoi</a:t>
            </a:r>
            <a:r>
              <a:rPr lang="en-GB" sz="1800" b="1" dirty="0"/>
              <a:t> </a:t>
            </a:r>
            <a:r>
              <a:rPr lang="en-GB" sz="1800" b="1" dirty="0" err="1"/>
              <a:t>cette</a:t>
            </a:r>
            <a:r>
              <a:rPr lang="en-GB" sz="1800" b="1" dirty="0"/>
              <a:t> analyse ?</a:t>
            </a:r>
          </a:p>
          <a:p>
            <a:r>
              <a:rPr lang="en-GB" sz="1800" dirty="0"/>
              <a:t>La perturbation J3 impose de prendre </a:t>
            </a:r>
            <a:r>
              <a:rPr lang="en-GB" sz="1800" dirty="0" err="1"/>
              <a:t>en</a:t>
            </a:r>
            <a:r>
              <a:rPr lang="en-GB" sz="1800" dirty="0"/>
              <a:t> compte les </a:t>
            </a:r>
            <a:r>
              <a:rPr lang="en-GB" sz="1800" dirty="0" err="1"/>
              <a:t>risques</a:t>
            </a:r>
            <a:r>
              <a:rPr lang="en-GB" sz="1800" dirty="0"/>
              <a:t> </a:t>
            </a:r>
            <a:r>
              <a:rPr lang="en-GB" sz="1800" dirty="0" err="1"/>
              <a:t>liés</a:t>
            </a:r>
            <a:r>
              <a:rPr lang="en-GB" sz="1800" dirty="0"/>
              <a:t> à </a:t>
            </a:r>
            <a:r>
              <a:rPr lang="en-GB" sz="1800" dirty="0" err="1"/>
              <a:t>l'utilisation</a:t>
            </a:r>
            <a:r>
              <a:rPr lang="en-GB" sz="1800" dirty="0"/>
              <a:t> d'un LLM.</a:t>
            </a:r>
          </a:p>
          <a:p>
            <a:r>
              <a:rPr lang="en-GB" sz="1800" dirty="0"/>
              <a:t>Notre </a:t>
            </a:r>
            <a:r>
              <a:rPr lang="en-GB" sz="1800" dirty="0" err="1"/>
              <a:t>objectif</a:t>
            </a:r>
            <a:r>
              <a:rPr lang="en-GB" sz="1800" dirty="0"/>
              <a:t> </a:t>
            </a:r>
            <a:r>
              <a:rPr lang="en-GB" sz="1800" dirty="0" err="1"/>
              <a:t>était</a:t>
            </a:r>
            <a:r>
              <a:rPr lang="en-GB" sz="1800" dirty="0"/>
              <a:t> de :</a:t>
            </a:r>
          </a:p>
          <a:p>
            <a:r>
              <a:rPr lang="en-GB" sz="1800" dirty="0"/>
              <a:t>identifier les menaces </a:t>
            </a:r>
            <a:r>
              <a:rPr lang="en-GB" sz="1800" dirty="0" err="1"/>
              <a:t>principales</a:t>
            </a:r>
            <a:r>
              <a:rPr lang="en-GB" sz="1800" dirty="0"/>
              <a:t> ; </a:t>
            </a:r>
          </a:p>
          <a:p>
            <a:r>
              <a:rPr lang="en-GB" sz="1800" dirty="0" err="1"/>
              <a:t>évaluer</a:t>
            </a:r>
            <a:r>
              <a:rPr lang="en-GB" sz="1800" dirty="0"/>
              <a:t> </a:t>
            </a:r>
            <a:r>
              <a:rPr lang="en-GB" sz="1800" dirty="0" err="1"/>
              <a:t>leur</a:t>
            </a:r>
            <a:r>
              <a:rPr lang="en-GB" sz="1800" dirty="0"/>
              <a:t> impact ; </a:t>
            </a:r>
          </a:p>
          <a:p>
            <a:r>
              <a:rPr lang="en-GB" sz="1800" dirty="0" err="1"/>
              <a:t>définir</a:t>
            </a:r>
            <a:r>
              <a:rPr lang="en-GB" sz="1800" dirty="0"/>
              <a:t> des </a:t>
            </a:r>
            <a:r>
              <a:rPr lang="en-GB" sz="1800" dirty="0" err="1"/>
              <a:t>mesures</a:t>
            </a:r>
            <a:r>
              <a:rPr lang="en-GB" sz="1800" dirty="0"/>
              <a:t> de </a:t>
            </a:r>
            <a:r>
              <a:rPr lang="en-GB" sz="1800" dirty="0" err="1"/>
              <a:t>réduction</a:t>
            </a:r>
            <a:r>
              <a:rPr lang="en-GB" sz="1800" dirty="0"/>
              <a:t> des </a:t>
            </a:r>
            <a:r>
              <a:rPr lang="en-GB" sz="1800" dirty="0" err="1"/>
              <a:t>risques</a:t>
            </a:r>
            <a:r>
              <a:rPr lang="en-GB" sz="1800" dirty="0"/>
              <a:t>. </a:t>
            </a:r>
          </a:p>
          <a:p>
            <a:r>
              <a:rPr lang="en-GB" sz="1800" b="1" dirty="0"/>
              <a:t>Notre démarche</a:t>
            </a:r>
          </a:p>
          <a:p>
            <a:r>
              <a:rPr lang="en-GB" sz="1800" dirty="0"/>
              <a:t>Identification des </a:t>
            </a:r>
            <a:r>
              <a:rPr lang="en-GB" sz="1800" dirty="0" err="1"/>
              <a:t>risques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Évaluation</a:t>
            </a:r>
            <a:r>
              <a:rPr lang="en-GB" sz="1800" dirty="0"/>
              <a:t> de </a:t>
            </a:r>
            <a:r>
              <a:rPr lang="en-GB" sz="1800" dirty="0" err="1"/>
              <a:t>leur</a:t>
            </a:r>
            <a:r>
              <a:rPr lang="en-GB" sz="1800" dirty="0"/>
              <a:t> </a:t>
            </a:r>
            <a:r>
              <a:rPr lang="en-GB" sz="1800" dirty="0" err="1"/>
              <a:t>probabilité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Évaluation</a:t>
            </a:r>
            <a:r>
              <a:rPr lang="en-GB" sz="1800" dirty="0"/>
              <a:t> de </a:t>
            </a:r>
            <a:r>
              <a:rPr lang="en-GB" sz="1800" dirty="0" err="1"/>
              <a:t>leur</a:t>
            </a:r>
            <a:r>
              <a:rPr lang="en-GB" sz="1800" dirty="0"/>
              <a:t> impact </a:t>
            </a:r>
          </a:p>
          <a:p>
            <a:r>
              <a:rPr lang="en-GB" sz="1800" dirty="0"/>
              <a:t>Proposition </a:t>
            </a:r>
            <a:r>
              <a:rPr lang="en-GB" sz="1800" dirty="0" err="1"/>
              <a:t>d'actions</a:t>
            </a:r>
            <a:r>
              <a:rPr lang="en-GB" sz="1800" dirty="0"/>
              <a:t> correctives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520FB0-793D-337B-88C8-FE1705E9D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50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62699-E2E0-B080-396B-A389CAEDF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397D68E-75B5-4DE6-3951-2E3521820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4BDD0C-DDBF-B255-EEDC-047A3A57B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16EEAE-388D-FDC8-4F16-C3E40E4D8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7200" dirty="0" err="1"/>
              <a:t>Résultats</a:t>
            </a:r>
            <a:r>
              <a:rPr lang="en-GB" sz="7200" dirty="0"/>
              <a:t> de </a:t>
            </a:r>
            <a:r>
              <a:rPr lang="en-GB" sz="7200" dirty="0" err="1"/>
              <a:t>l'analyse</a:t>
            </a:r>
            <a:r>
              <a:rPr lang="en-GB" sz="7200" dirty="0"/>
              <a:t> des </a:t>
            </a:r>
            <a:r>
              <a:rPr lang="en-GB" sz="7200" dirty="0" err="1"/>
              <a:t>risques</a:t>
            </a:r>
            <a:endParaRPr lang="en-US" sz="72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B1E7BC-8268-8F78-1F1D-8D5324B3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F05878AE-0A6D-23AF-040E-8AE810BA3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F94F2012-44A4-DF11-3592-5924144A4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AA64A03E-1254-CBC4-2BE7-9796E8A5F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2DEC6715-6879-194D-9D6D-35E88C434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 err="1"/>
              <a:t>Principaux</a:t>
            </a:r>
            <a:r>
              <a:rPr lang="en-GB" sz="1800" b="1" dirty="0"/>
              <a:t> </a:t>
            </a:r>
            <a:r>
              <a:rPr lang="en-GB" sz="1800" b="1" dirty="0" err="1"/>
              <a:t>risques</a:t>
            </a:r>
            <a:r>
              <a:rPr lang="en-GB" sz="1800" b="1" dirty="0"/>
              <a:t> </a:t>
            </a:r>
            <a:r>
              <a:rPr lang="en-GB" sz="1800" b="1" dirty="0" err="1"/>
              <a:t>identifiés</a:t>
            </a:r>
            <a:endParaRPr lang="en-GB" sz="1800" b="1" dirty="0"/>
          </a:p>
          <a:p>
            <a:r>
              <a:rPr lang="en-GB" sz="1800" dirty="0"/>
              <a:t>Prompt Injection </a:t>
            </a:r>
          </a:p>
          <a:p>
            <a:r>
              <a:rPr lang="en-GB" sz="1800" dirty="0" err="1"/>
              <a:t>Fuite</a:t>
            </a:r>
            <a:r>
              <a:rPr lang="en-GB" sz="1800" dirty="0"/>
              <a:t> de données </a:t>
            </a:r>
            <a:r>
              <a:rPr lang="en-GB" sz="1800" dirty="0" err="1"/>
              <a:t>sensibles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Génération</a:t>
            </a:r>
            <a:r>
              <a:rPr lang="en-GB" sz="1800" dirty="0"/>
              <a:t> de </a:t>
            </a:r>
            <a:r>
              <a:rPr lang="en-GB" sz="1800" dirty="0" err="1"/>
              <a:t>réponses</a:t>
            </a:r>
            <a:r>
              <a:rPr lang="en-GB" sz="1800" dirty="0"/>
              <a:t> </a:t>
            </a:r>
            <a:r>
              <a:rPr lang="en-GB" sz="1800" dirty="0" err="1"/>
              <a:t>erronées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Contournement</a:t>
            </a:r>
            <a:r>
              <a:rPr lang="en-GB" sz="1800" dirty="0"/>
              <a:t> des </a:t>
            </a:r>
            <a:r>
              <a:rPr lang="en-GB" sz="1800" dirty="0" err="1"/>
              <a:t>règles</a:t>
            </a:r>
            <a:r>
              <a:rPr lang="en-GB" sz="1800" dirty="0"/>
              <a:t> de sécurité </a:t>
            </a:r>
          </a:p>
          <a:p>
            <a:r>
              <a:rPr lang="en-GB" sz="1800" b="1" dirty="0" err="1"/>
              <a:t>Mesures</a:t>
            </a:r>
            <a:r>
              <a:rPr lang="en-GB" sz="1800" b="1" dirty="0"/>
              <a:t> </a:t>
            </a:r>
            <a:r>
              <a:rPr lang="en-GB" sz="1800" b="1" dirty="0" err="1"/>
              <a:t>retenues</a:t>
            </a:r>
            <a:endParaRPr lang="en-GB" sz="1800" b="1" dirty="0"/>
          </a:p>
          <a:p>
            <a:r>
              <a:rPr lang="en-GB" sz="1800" dirty="0"/>
              <a:t>Validation des prompts </a:t>
            </a:r>
            <a:r>
              <a:rPr lang="en-GB" sz="1800" dirty="0" err="1"/>
              <a:t>utilisateurs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Renforcement</a:t>
            </a:r>
            <a:r>
              <a:rPr lang="en-GB" sz="1800" dirty="0"/>
              <a:t> du prompt </a:t>
            </a:r>
            <a:r>
              <a:rPr lang="en-GB" sz="1800" dirty="0" err="1"/>
              <a:t>système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Contrôle</a:t>
            </a:r>
            <a:r>
              <a:rPr lang="en-GB" sz="1800" dirty="0"/>
              <a:t> des </a:t>
            </a:r>
            <a:r>
              <a:rPr lang="en-GB" sz="1800" dirty="0" err="1"/>
              <a:t>réponses</a:t>
            </a:r>
            <a:r>
              <a:rPr lang="en-GB" sz="1800" dirty="0"/>
              <a:t> </a:t>
            </a:r>
            <a:r>
              <a:rPr lang="en-GB" sz="1800" dirty="0" err="1"/>
              <a:t>générées</a:t>
            </a:r>
            <a:r>
              <a:rPr lang="en-GB" sz="1800" dirty="0"/>
              <a:t> </a:t>
            </a:r>
          </a:p>
          <a:p>
            <a:r>
              <a:rPr lang="en-GB" sz="1800" dirty="0"/>
              <a:t>Documentation des </a:t>
            </a:r>
            <a:r>
              <a:rPr lang="en-GB" sz="1800" dirty="0" err="1"/>
              <a:t>risques</a:t>
            </a:r>
            <a:r>
              <a:rPr lang="en-GB" sz="1800" dirty="0"/>
              <a:t> dans un document </a:t>
            </a:r>
            <a:r>
              <a:rPr lang="en-GB" sz="1800" dirty="0" err="1"/>
              <a:t>d'analyse</a:t>
            </a:r>
            <a:r>
              <a:rPr lang="en-GB" sz="1800" dirty="0"/>
              <a:t> </a:t>
            </a:r>
          </a:p>
          <a:p>
            <a:r>
              <a:rPr lang="en-GB" sz="1800" dirty="0"/>
              <a:t>Cette analyse nous a </a:t>
            </a:r>
            <a:r>
              <a:rPr lang="en-GB" sz="1800" dirty="0" err="1"/>
              <a:t>permis</a:t>
            </a:r>
            <a:r>
              <a:rPr lang="en-GB" sz="1800" dirty="0"/>
              <a:t> de justifier les choix de sécurité </a:t>
            </a:r>
            <a:r>
              <a:rPr lang="en-GB" sz="1800" dirty="0" err="1"/>
              <a:t>retenus</a:t>
            </a:r>
            <a:r>
              <a:rPr lang="en-GB" sz="1800" dirty="0"/>
              <a:t> pour le </a:t>
            </a:r>
            <a:r>
              <a:rPr lang="en-GB" sz="1800" dirty="0" err="1"/>
              <a:t>projet</a:t>
            </a:r>
            <a:r>
              <a:rPr lang="en-GB" sz="1800"/>
              <a:t>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C4F8B7-DBE5-B763-D5F4-A0A6C661A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4901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E35FF551331140B273BB19EEA78143" ma:contentTypeVersion="10" ma:contentTypeDescription="Create a new document." ma:contentTypeScope="" ma:versionID="7eac7f546538e78c5689d1920610a544">
  <xsd:schema xmlns:xsd="http://www.w3.org/2001/XMLSchema" xmlns:xs="http://www.w3.org/2001/XMLSchema" xmlns:p="http://schemas.microsoft.com/office/2006/metadata/properties" xmlns:ns2="aa7a771e-02cb-4c1a-a357-20624cfae5a5" xmlns:ns3="78c7a825-5576-4260-86cd-49ed1229aaf2" targetNamespace="http://schemas.microsoft.com/office/2006/metadata/properties" ma:root="true" ma:fieldsID="1811aa893924d80b2dd28d3be363d3ba" ns2:_="" ns3:_="">
    <xsd:import namespace="aa7a771e-02cb-4c1a-a357-20624cfae5a5"/>
    <xsd:import namespace="78c7a825-5576-4260-86cd-49ed1229aa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a771e-02cb-4c1a-a357-20624cfae5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567f5d5-0c03-422f-bbbb-479e45a213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7a825-5576-4260-86cd-49ed1229aa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3cf94d-7b4a-4765-9027-e93108760d61}" ma:internalName="TaxCatchAll" ma:showField="CatchAllData" ma:web="78c7a825-5576-4260-86cd-49ed1229a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7a771e-02cb-4c1a-a357-20624cfae5a5">
      <Terms xmlns="http://schemas.microsoft.com/office/infopath/2007/PartnerControls"/>
    </lcf76f155ced4ddcb4097134ff3c332f>
    <TaxCatchAll xmlns="78c7a825-5576-4260-86cd-49ed1229aaf2" xsi:nil="true"/>
  </documentManagement>
</p:properties>
</file>

<file path=customXml/itemProps1.xml><?xml version="1.0" encoding="utf-8"?>
<ds:datastoreItem xmlns:ds="http://schemas.openxmlformats.org/officeDocument/2006/customXml" ds:itemID="{902CC11C-A68B-49E5-9CA5-A51F25EA5720}">
  <ds:schemaRefs>
    <ds:schemaRef ds:uri="78c7a825-5576-4260-86cd-49ed1229aaf2"/>
    <ds:schemaRef ds:uri="aa7a771e-02cb-4c1a-a357-20624cfae5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68CAED-4D15-4C97-8132-4E8F1448F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DF66D8-1CD9-494A-A9DD-15BC0AD4B19A}">
  <ds:schemaRefs>
    <ds:schemaRef ds:uri="http://schemas.microsoft.com/office/2006/metadata/properties"/>
    <ds:schemaRef ds:uri="http://schemas.microsoft.com/office/infopath/2007/PartnerControls"/>
    <ds:schemaRef ds:uri="aa7a771e-02cb-4c1a-a357-20624cfae5a5"/>
    <ds:schemaRef ds:uri="78c7a825-5576-4260-86cd-49ed1229aaf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401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Benchmark des modèles LLM</vt:lpstr>
      <vt:lpstr>Résultats du benchmark</vt:lpstr>
      <vt:lpstr>Veille technologique de sécurité</vt:lpstr>
      <vt:lpstr>Résultats de la veille technologique</vt:lpstr>
      <vt:lpstr>Analyse des risques</vt:lpstr>
      <vt:lpstr>Résultats de l'analyse des risques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Touzet</dc:creator>
  <cp:lastModifiedBy>Kamil Serrai</cp:lastModifiedBy>
  <cp:revision>89</cp:revision>
  <dcterms:created xsi:type="dcterms:W3CDTF">2026-07-02T10:03:48Z</dcterms:created>
  <dcterms:modified xsi:type="dcterms:W3CDTF">2026-07-02T15:13:26Z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0x01010047E35FF551331140B273BB19EEA78143</vt:lpwstr>
  </property>
  <property fmtid="{D5CDD505-2E9C-101B-9397-08002B2CF9AE}" pid="3" name="MediaServiceImageTags">
    <vt:lpwstr/>
  </property>
</Properties>
</file>