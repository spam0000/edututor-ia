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69" r:id="rId6"/>
    <p:sldId id="270" r:id="rId7"/>
    <p:sldId id="271" r:id="rId8"/>
    <p:sldId id="272" r:id="rId9"/>
    <p:sldId id="268" r:id="rId10"/>
    <p:sldId id="263" r:id="rId11"/>
    <p:sldId id="273" r:id="rId12"/>
    <p:sldId id="274" r:id="rId13"/>
    <p:sldId id="275" r:id="rId14"/>
    <p:sldId id="264" r:id="rId15"/>
    <p:sldId id="265" r:id="rId16"/>
    <p:sldId id="266" r:id="rId17"/>
    <p:sldId id="267" r:id="rId18"/>
    <p:sldId id="276"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2" r:id="rId32"/>
    <p:sldId id="317" r:id="rId33"/>
    <p:sldId id="280" r:id="rId34"/>
    <p:sldId id="281" r:id="rId35"/>
    <p:sldId id="282" r:id="rId36"/>
    <p:sldId id="326" r:id="rId37"/>
    <p:sldId id="279" r:id="rId38"/>
    <p:sldId id="283" r:id="rId39"/>
    <p:sldId id="327" r:id="rId40"/>
    <p:sldId id="284" r:id="rId41"/>
    <p:sldId id="285" r:id="rId42"/>
    <p:sldId id="286" r:id="rId43"/>
    <p:sldId id="287" r:id="rId44"/>
    <p:sldId id="288" r:id="rId45"/>
    <p:sldId id="289" r:id="rId46"/>
    <p:sldId id="290" r:id="rId47"/>
    <p:sldId id="318" r:id="rId48"/>
    <p:sldId id="320" r:id="rId49"/>
    <p:sldId id="321" r:id="rId50"/>
    <p:sldId id="322" r:id="rId51"/>
    <p:sldId id="323" r:id="rId52"/>
    <p:sldId id="324" r:id="rId53"/>
    <p:sldId id="325" r:id="rId54"/>
    <p:sldId id="319" r:id="rId5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theme" Target="theme/theme1.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67E9F-787C-5093-B8F5-046BF70F3F3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9BEC66B-1195-3868-8A73-07ADDAE1B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6C20EA9-CCEF-38A4-0B10-A8B86862114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6C9CBBAB-7FA3-ACE1-27D7-B0007CBB58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4C069F-D2BB-E20E-2EF6-7775DBAEECD1}"/>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4167339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020DD-878F-49D5-F361-16F471848BA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0F35D61-D606-72C2-3B1C-B96D5F40F96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643E65-58E4-3B73-D012-EF601F912C5C}"/>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743CAE44-0EA2-4AB9-8D08-201982EF4C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84735C-9112-2D4E-1B81-FE34FE72DA2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7778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77BB1-126B-D427-1DB2-3D9CEDFB7C0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E38EDAE-1643-41BC-B758-CD978835B7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B73DFB0-BF9A-3990-814F-4565B822C17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E8209884-A222-C167-8485-523962EB50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80B12E-70BC-9AFA-0FB2-847BDF5A540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43344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71237C-8417-B182-3D78-7633D9079F4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77CA5F0-480B-5E24-5003-EB154468CF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4E9E624-4C2E-6263-418D-08550A436A6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E45445F-43AB-200D-01CE-69AF4DC442C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C579739C-B654-6D2D-E5FB-6DE165C983D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0384DE6-974C-BE9B-AECE-A8787842E236}"/>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612807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66D6A-EF50-CF4E-2960-124094C7D81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C0BBD3D-E991-1ADD-37F3-376E63AD4A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9E99533-9131-14EB-999E-D99840372A6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39B9E9-4EB1-F216-7A7C-255EB26264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CC5DBD1-C2E2-11B3-29F1-DFC5CB8E15E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A85CA9C-5AEF-25A7-DAF4-919F2E676C6B}"/>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8" name="Espace réservé du pied de page 7">
            <a:extLst>
              <a:ext uri="{FF2B5EF4-FFF2-40B4-BE49-F238E27FC236}">
                <a16:creationId xmlns:a16="http://schemas.microsoft.com/office/drawing/2014/main" id="{CB21E680-E794-60C9-BCEF-DE44F785E9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D087941-5A61-AE6C-0E69-F541AAE79E2F}"/>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9134858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27712C-3132-BF77-B197-D1DD63E9991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B9F5B82-65F6-11FD-3DE5-C3268F2A6257}"/>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4" name="Espace réservé du pied de page 3">
            <a:extLst>
              <a:ext uri="{FF2B5EF4-FFF2-40B4-BE49-F238E27FC236}">
                <a16:creationId xmlns:a16="http://schemas.microsoft.com/office/drawing/2014/main" id="{D5E6C2B2-1BE7-9CB1-9C81-AE25999E5E5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C35BDE0-28F1-1DD2-EE20-A99AA6EDAE40}"/>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506635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511BC58-2979-109B-B19C-0DEC50098D9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3" name="Espace réservé du pied de page 2">
            <a:extLst>
              <a:ext uri="{FF2B5EF4-FFF2-40B4-BE49-F238E27FC236}">
                <a16:creationId xmlns:a16="http://schemas.microsoft.com/office/drawing/2014/main" id="{D27639EB-33D7-B3F8-A229-71DA8154959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91E32C7-9D64-FBBA-ACE6-AEB49B414A44}"/>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660555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F6DB9-2BB9-235A-DD71-1D61C0D67D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67F15FA-F08D-6F2A-B486-BCF8E4D228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DA03E9-C0F5-DED0-5C9F-9FF0F1AFA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AC5C4D-09C3-ECCD-F45A-393618CA310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11DADC84-A4C2-C4DD-F367-19CDDC3A29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2DC822-8A72-A6CF-5779-DACD56524EB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3263805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CC41-528E-7BDC-D087-5D28FC3466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87C9936-04B7-64D0-298E-27E52FCC5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21D43E-2191-FB8D-3259-36EA0082E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249FF7-45D2-6D1E-2098-FF3B833D2DE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399DC926-1060-A56F-A79A-D849B503705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BFCA63F-1FAE-F488-C77A-F86980637EBC}"/>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186631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AB71B-A00E-CD0D-7078-700031BA918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68A3194-1B9A-8833-D785-D2021CD2026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18FF25-5601-0864-1E9D-7472BB8A3D9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CC321136-8BD6-2AE0-2637-5CC608E4F7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637F9E-4DD1-734D-E7BF-56C4F19B3F3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0257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421F6C-E149-5EDD-1541-F417361316A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65CBFD0-FE4F-767F-47A3-B7C520E98FE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9E1D8F-B06A-BAD7-70BF-957BFC20D9AE}"/>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D4786623-CDE7-902E-A4CF-CC012F8865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09BDE5-1136-7BAB-01A4-520DEB315B13}"/>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81790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667E9F-787C-5093-B8F5-046BF70F3F3B}"/>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79BEC66B-1195-3868-8A73-07ADDAE1B8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6C20EA9-CCEF-38A4-0B10-A8B86862114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6C9CBBAB-7FA3-ACE1-27D7-B0007CBB588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84C069F-D2BB-E20E-2EF6-7775DBAEECD1}"/>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7756802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3020DD-878F-49D5-F361-16F471848BA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70F35D61-D606-72C2-3B1C-B96D5F40F96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4643E65-58E4-3B73-D012-EF601F912C5C}"/>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743CAE44-0EA2-4AB9-8D08-201982EF4C5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684735C-9112-2D4E-1B81-FE34FE72DA2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2436327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077BB1-126B-D427-1DB2-3D9CEDFB7C0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BE38EDAE-1643-41BC-B758-CD978835B7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B73DFB0-BF9A-3990-814F-4565B822C17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E8209884-A222-C167-8485-523962EB50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80B12E-70BC-9AFA-0FB2-847BDF5A5409}"/>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3153890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71237C-8417-B182-3D78-7633D9079F4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77CA5F0-480B-5E24-5003-EB154468CFD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54E9E624-4C2E-6263-418D-08550A436A6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E45445F-43AB-200D-01CE-69AF4DC442C0}"/>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C579739C-B654-6D2D-E5FB-6DE165C983D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0384DE6-974C-BE9B-AECE-A8787842E236}"/>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19126242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866D6A-EF50-CF4E-2960-124094C7D81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C0BBD3D-E991-1ADD-37F3-376E63AD4A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9E99533-9131-14EB-999E-D99840372A69}"/>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F739B9E9-4EB1-F216-7A7C-255EB26264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CC5DBD1-C2E2-11B3-29F1-DFC5CB8E15E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1A85CA9C-5AEF-25A7-DAF4-919F2E676C6B}"/>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8" name="Espace réservé du pied de page 7">
            <a:extLst>
              <a:ext uri="{FF2B5EF4-FFF2-40B4-BE49-F238E27FC236}">
                <a16:creationId xmlns:a16="http://schemas.microsoft.com/office/drawing/2014/main" id="{CB21E680-E794-60C9-BCEF-DE44F785E93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D087941-5A61-AE6C-0E69-F541AAE79E2F}"/>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3408860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927712C-3132-BF77-B197-D1DD63E9991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B9F5B82-65F6-11FD-3DE5-C3268F2A6257}"/>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4" name="Espace réservé du pied de page 3">
            <a:extLst>
              <a:ext uri="{FF2B5EF4-FFF2-40B4-BE49-F238E27FC236}">
                <a16:creationId xmlns:a16="http://schemas.microsoft.com/office/drawing/2014/main" id="{D5E6C2B2-1BE7-9CB1-9C81-AE25999E5E5A}"/>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C35BDE0-28F1-1DD2-EE20-A99AA6EDAE40}"/>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23263638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511BC58-2979-109B-B19C-0DEC50098D9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3" name="Espace réservé du pied de page 2">
            <a:extLst>
              <a:ext uri="{FF2B5EF4-FFF2-40B4-BE49-F238E27FC236}">
                <a16:creationId xmlns:a16="http://schemas.microsoft.com/office/drawing/2014/main" id="{D27639EB-33D7-B3F8-A229-71DA8154959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91E32C7-9D64-FBBA-ACE6-AEB49B414A44}"/>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8521796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1F6DB9-2BB9-235A-DD71-1D61C0D67DE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A67F15FA-F08D-6F2A-B486-BCF8E4D228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0DA03E9-C0F5-DED0-5C9F-9FF0F1AFA8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0AC5C4D-09C3-ECCD-F45A-393618CA310D}"/>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11DADC84-A4C2-C4DD-F367-19CDDC3A29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D2DC822-8A72-A6CF-5779-DACD56524EB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1978388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4CC41-528E-7BDC-D087-5D28FC3466F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87C9936-04B7-64D0-298E-27E52FCC5C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121D43E-2191-FB8D-3259-36EA0082EB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2249FF7-45D2-6D1E-2098-FF3B833D2DE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6" name="Espace réservé du pied de page 5">
            <a:extLst>
              <a:ext uri="{FF2B5EF4-FFF2-40B4-BE49-F238E27FC236}">
                <a16:creationId xmlns:a16="http://schemas.microsoft.com/office/drawing/2014/main" id="{399DC926-1060-A56F-A79A-D849B503705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BFCA63F-1FAE-F488-C77A-F86980637EBC}"/>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6087691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2AB71B-A00E-CD0D-7078-700031BA918C}"/>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68A3194-1B9A-8833-D785-D2021CD2026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C18FF25-5601-0864-1E9D-7472BB8A3D92}"/>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CC321136-8BD6-2AE0-2637-5CC608E4F7A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637F9E-4DD1-734D-E7BF-56C4F19B3F3A}"/>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30807883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B421F6C-E149-5EDD-1541-F417361316A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65CBFD0-FE4F-767F-47A3-B7C520E98FE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59E1D8F-B06A-BAD7-70BF-957BFC20D9AE}"/>
              </a:ext>
            </a:extLst>
          </p:cNvPr>
          <p:cNvSpPr>
            <a:spLocks noGrp="1"/>
          </p:cNvSpPr>
          <p:nvPr>
            <p:ph type="dt" sz="half" idx="10"/>
          </p:nvPr>
        </p:nvSpPr>
        <p:spPr/>
        <p:txBody>
          <a:body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D4786623-CDE7-902E-A4CF-CC012F8865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F09BDE5-1136-7BAB-01A4-520DEB315B13}"/>
              </a:ext>
            </a:extLst>
          </p:cNvPr>
          <p:cNvSpPr>
            <a:spLocks noGrp="1"/>
          </p:cNvSpPr>
          <p:nvPr>
            <p:ph type="sldNum" sz="quarter" idx="12"/>
          </p:nvPr>
        </p:nvSpPr>
        <p:spPr/>
        <p:txBody>
          <a:bodyPr/>
          <a:lstStyle/>
          <a:p>
            <a:fld id="{BA700F49-6CB8-4210-AA0A-C7A295B4DA9C}" type="slidenum">
              <a:rPr lang="fr-FR" smtClean="0"/>
              <a:t>‹N°›</a:t>
            </a:fld>
            <a:endParaRPr lang="fr-FR"/>
          </a:p>
        </p:txBody>
      </p:sp>
    </p:spTree>
    <p:extLst>
      <p:ext uri="{BB962C8B-B14F-4D97-AF65-F5344CB8AC3E}">
        <p14:creationId xmlns:p14="http://schemas.microsoft.com/office/powerpoint/2010/main" val="93562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69F78F7-A863-427F-C7FA-25B72C07AF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CAF54C0-F134-6DFE-6387-56B111D93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C0D367-2482-6290-0ABD-AD935E6ED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5233C675-C919-5505-47E1-50B6AE81B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815581-CF9B-10F2-19FB-CE95BE1BA5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700F49-6CB8-4210-AA0A-C7A295B4DA9C}" type="slidenum">
              <a:rPr lang="fr-FR" smtClean="0"/>
              <a:t>‹N°›</a:t>
            </a:fld>
            <a:endParaRPr lang="fr-FR"/>
          </a:p>
        </p:txBody>
      </p:sp>
    </p:spTree>
    <p:extLst>
      <p:ext uri="{BB962C8B-B14F-4D97-AF65-F5344CB8AC3E}">
        <p14:creationId xmlns:p14="http://schemas.microsoft.com/office/powerpoint/2010/main" val="3359137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69F78F7-A863-427F-C7FA-25B72C07AF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CAF54C0-F134-6DFE-6387-56B111D932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C0D367-2482-6290-0ABD-AD935E6EDC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4EBABF7-8CF0-4FD4-87E6-CB75115C1270}" type="datetimeFigureOut">
              <a:rPr lang="fr-FR" smtClean="0"/>
              <a:t>02/07/2026</a:t>
            </a:fld>
            <a:endParaRPr lang="fr-FR"/>
          </a:p>
        </p:txBody>
      </p:sp>
      <p:sp>
        <p:nvSpPr>
          <p:cNvPr id="5" name="Espace réservé du pied de page 4">
            <a:extLst>
              <a:ext uri="{FF2B5EF4-FFF2-40B4-BE49-F238E27FC236}">
                <a16:creationId xmlns:a16="http://schemas.microsoft.com/office/drawing/2014/main" id="{5233C675-C919-5505-47E1-50B6AE81B6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5815581-CF9B-10F2-19FB-CE95BE1BA5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700F49-6CB8-4210-AA0A-C7A295B4DA9C}" type="slidenum">
              <a:rPr lang="fr-FR" smtClean="0"/>
              <a:t>‹N°›</a:t>
            </a:fld>
            <a:endParaRPr lang="fr-FR"/>
          </a:p>
        </p:txBody>
      </p:sp>
    </p:spTree>
    <p:extLst>
      <p:ext uri="{BB962C8B-B14F-4D97-AF65-F5344CB8AC3E}">
        <p14:creationId xmlns:p14="http://schemas.microsoft.com/office/powerpoint/2010/main" val="1842744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Sommaire</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dirty="0" err="1">
                <a:solidFill>
                  <a:schemeClr val="tx1">
                    <a:alpha val="80000"/>
                  </a:schemeClr>
                </a:solidFill>
              </a:rPr>
              <a:t>Présentation</a:t>
            </a:r>
            <a:r>
              <a:rPr lang="en-US" sz="1600" dirty="0">
                <a:solidFill>
                  <a:schemeClr val="tx1">
                    <a:alpha val="80000"/>
                  </a:schemeClr>
                </a:solidFill>
              </a:rPr>
              <a:t> de </a:t>
            </a:r>
            <a:r>
              <a:rPr lang="en-US" sz="1600" dirty="0" err="1">
                <a:solidFill>
                  <a:schemeClr val="tx1">
                    <a:alpha val="80000"/>
                  </a:schemeClr>
                </a:solidFill>
              </a:rPr>
              <a:t>l'équipe</a:t>
            </a:r>
            <a:endParaRPr lang="en-US" sz="1600" dirty="0">
              <a:solidFill>
                <a:schemeClr val="tx1">
                  <a:alpha val="80000"/>
                </a:schemeClr>
              </a:solidFill>
            </a:endParaRPr>
          </a:p>
          <a:p>
            <a:pPr indent="-228600" algn="l">
              <a:buFont typeface="Arial" panose="020B0604020202020204" pitchFamily="34" charset="0"/>
              <a:buChar char="•"/>
            </a:pPr>
            <a:r>
              <a:rPr lang="en-US" sz="1600" dirty="0">
                <a:solidFill>
                  <a:schemeClr val="tx1">
                    <a:alpha val="80000"/>
                  </a:schemeClr>
                </a:solidFill>
              </a:rPr>
              <a:t>Résumé du </a:t>
            </a:r>
            <a:r>
              <a:rPr lang="en-US" sz="1600" dirty="0" err="1">
                <a:solidFill>
                  <a:schemeClr val="tx1">
                    <a:alpha val="80000"/>
                  </a:schemeClr>
                </a:solidFill>
              </a:rPr>
              <a:t>projet</a:t>
            </a:r>
            <a:endParaRPr lang="en-US" sz="1600" dirty="0">
              <a:solidFill>
                <a:schemeClr val="tx1">
                  <a:alpha val="80000"/>
                </a:schemeClr>
              </a:solidFill>
            </a:endParaRPr>
          </a:p>
          <a:p>
            <a:pPr indent="-228600" algn="l">
              <a:buFont typeface="Arial" panose="020B0604020202020204" pitchFamily="34" charset="0"/>
              <a:buChar char="•"/>
            </a:pPr>
            <a:r>
              <a:rPr lang="en-US" sz="1600" dirty="0">
                <a:solidFill>
                  <a:schemeClr val="tx1">
                    <a:alpha val="80000"/>
                  </a:schemeClr>
                </a:solidFill>
              </a:rPr>
              <a:t>Perturbation J1 — </a:t>
            </a:r>
            <a:r>
              <a:rPr lang="en-US" sz="1600" dirty="0" err="1">
                <a:solidFill>
                  <a:schemeClr val="tx1">
                    <a:alpha val="80000"/>
                  </a:schemeClr>
                </a:solidFill>
              </a:rPr>
              <a:t>Produit</a:t>
            </a:r>
            <a:r>
              <a:rPr lang="en-US" sz="1600" dirty="0">
                <a:solidFill>
                  <a:schemeClr val="tx1">
                    <a:alpha val="80000"/>
                  </a:schemeClr>
                </a:solidFill>
              </a:rPr>
              <a:t> / Scope</a:t>
            </a:r>
          </a:p>
          <a:p>
            <a:pPr indent="-228600" algn="l">
              <a:buFont typeface="Arial" panose="020B0604020202020204" pitchFamily="34" charset="0"/>
              <a:buChar char="•"/>
            </a:pPr>
            <a:r>
              <a:rPr lang="en-US" sz="1600" dirty="0">
                <a:solidFill>
                  <a:schemeClr val="tx1">
                    <a:alpha val="80000"/>
                  </a:schemeClr>
                </a:solidFill>
              </a:rPr>
              <a:t>Perturbation J2 — Technique</a:t>
            </a:r>
          </a:p>
          <a:p>
            <a:pPr indent="-228600" algn="l">
              <a:buFont typeface="Arial" panose="020B0604020202020204" pitchFamily="34" charset="0"/>
              <a:buChar char="•"/>
            </a:pPr>
            <a:r>
              <a:rPr lang="en-US" sz="1600" dirty="0">
                <a:solidFill>
                  <a:schemeClr val="tx1">
                    <a:alpha val="80000"/>
                  </a:schemeClr>
                </a:solidFill>
              </a:rPr>
              <a:t>Perturbation J3 — Sécurité</a:t>
            </a:r>
          </a:p>
          <a:p>
            <a:pPr indent="-228600" algn="l">
              <a:buFont typeface="Arial" panose="020B0604020202020204" pitchFamily="34" charset="0"/>
              <a:buChar char="•"/>
            </a:pPr>
            <a:r>
              <a:rPr lang="en-US" sz="1600" dirty="0">
                <a:solidFill>
                  <a:schemeClr val="tx1">
                    <a:alpha val="80000"/>
                  </a:schemeClr>
                </a:solidFill>
              </a:rPr>
              <a:t>Perturbation J3-bis — RGPD</a:t>
            </a:r>
          </a:p>
          <a:p>
            <a:pPr indent="-228600" algn="l">
              <a:buFont typeface="Arial" panose="020B0604020202020204" pitchFamily="34" charset="0"/>
              <a:buChar char="•"/>
            </a:pPr>
            <a:r>
              <a:rPr lang="en-US" sz="1600" dirty="0">
                <a:solidFill>
                  <a:schemeClr val="tx1">
                    <a:alpha val="80000"/>
                  </a:schemeClr>
                </a:solidFill>
              </a:rPr>
              <a:t>Perturbation J4 — Retour </a:t>
            </a:r>
            <a:r>
              <a:rPr lang="en-US" sz="1600" dirty="0" err="1">
                <a:solidFill>
                  <a:schemeClr val="tx1">
                    <a:alpha val="80000"/>
                  </a:schemeClr>
                </a:solidFill>
              </a:rPr>
              <a:t>utilisateur</a:t>
            </a:r>
            <a:endParaRPr lang="en-US" sz="1600" dirty="0">
              <a:solidFill>
                <a:schemeClr val="tx1">
                  <a:alpha val="80000"/>
                </a:schemeClr>
              </a:solidFill>
            </a:endParaRPr>
          </a:p>
          <a:p>
            <a:pPr indent="-228600" algn="l">
              <a:buFont typeface="Arial" panose="020B0604020202020204" pitchFamily="34" charset="0"/>
              <a:buChar char="•"/>
            </a:pPr>
            <a:r>
              <a:rPr lang="en-US" sz="1600" dirty="0">
                <a:solidFill>
                  <a:schemeClr val="tx1">
                    <a:alpha val="80000"/>
                  </a:schemeClr>
                </a:solidFill>
              </a:rPr>
              <a:t>Bilan des perturbations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Présentation de l'équipe</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b="1" dirty="0">
                <a:solidFill>
                  <a:schemeClr val="tx1">
                    <a:alpha val="80000"/>
                  </a:schemeClr>
                </a:solidFill>
              </a:rPr>
              <a:t>Équipe </a:t>
            </a:r>
            <a:r>
              <a:rPr lang="en-US" sz="1600" b="1" dirty="0" err="1">
                <a:solidFill>
                  <a:schemeClr val="tx1">
                    <a:alpha val="80000"/>
                  </a:schemeClr>
                </a:solidFill>
              </a:rPr>
              <a:t>projet</a:t>
            </a:r>
            <a:r>
              <a:rPr lang="en-US" sz="1600" b="1" dirty="0">
                <a:solidFill>
                  <a:schemeClr val="tx1">
                    <a:alpha val="80000"/>
                  </a:schemeClr>
                </a:solidFill>
              </a:rPr>
              <a:t> — </a:t>
            </a:r>
            <a:r>
              <a:rPr lang="en-US" sz="1600" b="1" dirty="0" err="1">
                <a:solidFill>
                  <a:schemeClr val="tx1">
                    <a:alpha val="80000"/>
                  </a:schemeClr>
                </a:solidFill>
              </a:rPr>
              <a:t>EduTutor</a:t>
            </a:r>
            <a:r>
              <a:rPr lang="en-US" sz="1600" b="1" dirty="0">
                <a:solidFill>
                  <a:schemeClr val="tx1">
                    <a:alpha val="80000"/>
                  </a:schemeClr>
                </a:solidFill>
              </a:rPr>
              <a:t> IA</a:t>
            </a:r>
          </a:p>
          <a:p>
            <a:pPr indent="-228600" algn="l">
              <a:buFont typeface="Arial" panose="020B0604020202020204" pitchFamily="34" charset="0"/>
              <a:buChar char="•"/>
            </a:pPr>
            <a:r>
              <a:rPr lang="en-US" sz="1600" b="1" dirty="0" err="1">
                <a:solidFill>
                  <a:schemeClr val="tx1">
                    <a:alpha val="80000"/>
                  </a:schemeClr>
                </a:solidFill>
              </a:rPr>
              <a:t>Prénom</a:t>
            </a:r>
            <a:r>
              <a:rPr lang="en-US" sz="1600" b="1" dirty="0">
                <a:solidFill>
                  <a:schemeClr val="tx1">
                    <a:alpha val="80000"/>
                  </a:schemeClr>
                </a:solidFill>
              </a:rPr>
              <a:t> Nom</a:t>
            </a:r>
            <a:r>
              <a:rPr lang="en-US" sz="1600" dirty="0">
                <a:solidFill>
                  <a:schemeClr val="tx1">
                    <a:alpha val="80000"/>
                  </a:schemeClr>
                </a:solidFill>
              </a:rPr>
              <a:t> — Product Owner / Scrum Master</a:t>
            </a:r>
          </a:p>
          <a:p>
            <a:pPr indent="-228600" algn="l">
              <a:buFont typeface="Arial" panose="020B0604020202020204" pitchFamily="34" charset="0"/>
              <a:buChar char="•"/>
            </a:pPr>
            <a:r>
              <a:rPr lang="en-US" sz="1600" b="1" dirty="0" err="1">
                <a:solidFill>
                  <a:schemeClr val="tx1">
                    <a:alpha val="80000"/>
                  </a:schemeClr>
                </a:solidFill>
              </a:rPr>
              <a:t>Prénom</a:t>
            </a:r>
            <a:r>
              <a:rPr lang="en-US" sz="1600" b="1" dirty="0">
                <a:solidFill>
                  <a:schemeClr val="tx1">
                    <a:alpha val="80000"/>
                  </a:schemeClr>
                </a:solidFill>
              </a:rPr>
              <a:t> Nom</a:t>
            </a:r>
            <a:r>
              <a:rPr lang="en-US" sz="1600" dirty="0">
                <a:solidFill>
                  <a:schemeClr val="tx1">
                    <a:alpha val="80000"/>
                  </a:schemeClr>
                </a:solidFill>
              </a:rPr>
              <a:t> — </a:t>
            </a:r>
            <a:r>
              <a:rPr lang="en-US" sz="1600" dirty="0" err="1">
                <a:solidFill>
                  <a:schemeClr val="tx1">
                    <a:alpha val="80000"/>
                  </a:schemeClr>
                </a:solidFill>
              </a:rPr>
              <a:t>Développeur</a:t>
            </a:r>
            <a:r>
              <a:rPr lang="en-US" sz="1600" dirty="0">
                <a:solidFill>
                  <a:schemeClr val="tx1">
                    <a:alpha val="80000"/>
                  </a:schemeClr>
                </a:solidFill>
              </a:rPr>
              <a:t> back-end (Django / DRF)</a:t>
            </a:r>
          </a:p>
          <a:p>
            <a:pPr indent="-228600" algn="l">
              <a:buFont typeface="Arial" panose="020B0604020202020204" pitchFamily="34" charset="0"/>
              <a:buChar char="•"/>
            </a:pPr>
            <a:r>
              <a:rPr lang="en-US" sz="1600" b="1" dirty="0" err="1">
                <a:solidFill>
                  <a:schemeClr val="tx1">
                    <a:alpha val="80000"/>
                  </a:schemeClr>
                </a:solidFill>
              </a:rPr>
              <a:t>Prénom</a:t>
            </a:r>
            <a:r>
              <a:rPr lang="en-US" sz="1600" b="1" dirty="0">
                <a:solidFill>
                  <a:schemeClr val="tx1">
                    <a:alpha val="80000"/>
                  </a:schemeClr>
                </a:solidFill>
              </a:rPr>
              <a:t> Nom</a:t>
            </a:r>
            <a:r>
              <a:rPr lang="en-US" sz="1600" dirty="0">
                <a:solidFill>
                  <a:schemeClr val="tx1">
                    <a:alpha val="80000"/>
                  </a:schemeClr>
                </a:solidFill>
              </a:rPr>
              <a:t> — </a:t>
            </a:r>
            <a:r>
              <a:rPr lang="en-US" sz="1600" dirty="0" err="1">
                <a:solidFill>
                  <a:schemeClr val="tx1">
                    <a:alpha val="80000"/>
                  </a:schemeClr>
                </a:solidFill>
              </a:rPr>
              <a:t>Développeur</a:t>
            </a:r>
            <a:r>
              <a:rPr lang="en-US" sz="1600" dirty="0">
                <a:solidFill>
                  <a:schemeClr val="tx1">
                    <a:alpha val="80000"/>
                  </a:schemeClr>
                </a:solidFill>
              </a:rPr>
              <a:t> front-end (React)</a:t>
            </a:r>
          </a:p>
          <a:p>
            <a:pPr indent="-228600" algn="l">
              <a:buFont typeface="Arial" panose="020B0604020202020204" pitchFamily="34" charset="0"/>
              <a:buChar char="•"/>
            </a:pPr>
            <a:r>
              <a:rPr lang="en-US" sz="1600" b="1" dirty="0" err="1">
                <a:solidFill>
                  <a:schemeClr val="tx1">
                    <a:alpha val="80000"/>
                  </a:schemeClr>
                </a:solidFill>
              </a:rPr>
              <a:t>Prénom</a:t>
            </a:r>
            <a:r>
              <a:rPr lang="en-US" sz="1600" b="1" dirty="0">
                <a:solidFill>
                  <a:schemeClr val="tx1">
                    <a:alpha val="80000"/>
                  </a:schemeClr>
                </a:solidFill>
              </a:rPr>
              <a:t> Nom</a:t>
            </a:r>
            <a:r>
              <a:rPr lang="en-US" sz="1600" dirty="0">
                <a:solidFill>
                  <a:schemeClr val="tx1">
                    <a:alpha val="80000"/>
                  </a:schemeClr>
                </a:solidFill>
              </a:rPr>
              <a:t> — DevOps (Docker, CI/CD)</a:t>
            </a:r>
          </a:p>
          <a:p>
            <a:pPr indent="-228600" algn="l">
              <a:buFont typeface="Arial" panose="020B0604020202020204" pitchFamily="34" charset="0"/>
              <a:buChar char="•"/>
            </a:pPr>
            <a:r>
              <a:rPr lang="en-US" sz="1600" b="1" dirty="0" err="1">
                <a:solidFill>
                  <a:schemeClr val="tx1">
                    <a:alpha val="80000"/>
                  </a:schemeClr>
                </a:solidFill>
              </a:rPr>
              <a:t>Prénom</a:t>
            </a:r>
            <a:r>
              <a:rPr lang="en-US" sz="1600" b="1" dirty="0">
                <a:solidFill>
                  <a:schemeClr val="tx1">
                    <a:alpha val="80000"/>
                  </a:schemeClr>
                </a:solidFill>
              </a:rPr>
              <a:t> Nom</a:t>
            </a:r>
            <a:r>
              <a:rPr lang="en-US" sz="1600" dirty="0">
                <a:solidFill>
                  <a:schemeClr val="tx1">
                    <a:alpha val="80000"/>
                  </a:schemeClr>
                </a:solidFill>
              </a:rPr>
              <a:t> — </a:t>
            </a:r>
            <a:r>
              <a:rPr lang="en-US" sz="1600" dirty="0" err="1">
                <a:solidFill>
                  <a:schemeClr val="tx1">
                    <a:alpha val="80000"/>
                  </a:schemeClr>
                </a:solidFill>
              </a:rPr>
              <a:t>Référent</a:t>
            </a:r>
            <a:r>
              <a:rPr lang="en-US" sz="1600" dirty="0">
                <a:solidFill>
                  <a:schemeClr val="tx1">
                    <a:alpha val="80000"/>
                  </a:schemeClr>
                </a:solidFill>
              </a:rPr>
              <a:t> sécurité / RGPD</a:t>
            </a:r>
          </a:p>
          <a:p>
            <a:pPr indent="-228600" algn="l">
              <a:buFont typeface="Arial" panose="020B0604020202020204" pitchFamily="34" charset="0"/>
              <a:buChar char="•"/>
            </a:pPr>
            <a:r>
              <a:rPr lang="en-US" sz="1600" dirty="0">
                <a:solidFill>
                  <a:schemeClr val="tx1">
                    <a:alpha val="80000"/>
                  </a:schemeClr>
                </a:solidFill>
              </a:rPr>
              <a:t>À </a:t>
            </a:r>
            <a:r>
              <a:rPr lang="en-US" sz="1600" dirty="0" err="1">
                <a:solidFill>
                  <a:schemeClr val="tx1">
                    <a:alpha val="80000"/>
                  </a:schemeClr>
                </a:solidFill>
              </a:rPr>
              <a:t>compléter</a:t>
            </a:r>
            <a:r>
              <a:rPr lang="en-US" sz="1600" dirty="0">
                <a:solidFill>
                  <a:schemeClr val="tx1">
                    <a:alpha val="80000"/>
                  </a:schemeClr>
                </a:solidFill>
              </a:rPr>
              <a:t> avec les </a:t>
            </a:r>
            <a:r>
              <a:rPr lang="en-US" sz="1600" dirty="0" err="1">
                <a:solidFill>
                  <a:schemeClr val="tx1">
                    <a:alpha val="80000"/>
                  </a:schemeClr>
                </a:solidFill>
              </a:rPr>
              <a:t>membres</a:t>
            </a:r>
            <a:r>
              <a:rPr lang="en-US" sz="1600" dirty="0">
                <a:solidFill>
                  <a:schemeClr val="tx1">
                    <a:alpha val="80000"/>
                  </a:schemeClr>
                </a:solidFill>
              </a:rPr>
              <a:t> de </a:t>
            </a:r>
            <a:r>
              <a:rPr lang="en-US" sz="1600" dirty="0" err="1">
                <a:solidFill>
                  <a:schemeClr val="tx1">
                    <a:alpha val="80000"/>
                  </a:schemeClr>
                </a:solidFill>
              </a:rPr>
              <a:t>l'équipe</a:t>
            </a:r>
            <a:r>
              <a:rPr lang="en-US" sz="1600" dirty="0">
                <a:solidFill>
                  <a:schemeClr val="tx1">
                    <a:alpha val="80000"/>
                  </a:schemeClr>
                </a:solidFill>
              </a:rPr>
              <a:t> et </a:t>
            </a:r>
            <a:r>
              <a:rPr lang="en-US" sz="1600" dirty="0" err="1">
                <a:solidFill>
                  <a:schemeClr val="tx1">
                    <a:alpha val="80000"/>
                  </a:schemeClr>
                </a:solidFill>
              </a:rPr>
              <a:t>leurs</a:t>
            </a:r>
            <a:r>
              <a:rPr lang="en-US" sz="1600" dirty="0">
                <a:solidFill>
                  <a:schemeClr val="tx1">
                    <a:alpha val="80000"/>
                  </a:schemeClr>
                </a:solidFill>
              </a:rPr>
              <a:t> </a:t>
            </a:r>
            <a:r>
              <a:rPr lang="en-US" sz="1600" dirty="0" err="1">
                <a:solidFill>
                  <a:schemeClr val="tx1">
                    <a:alpha val="80000"/>
                  </a:schemeClr>
                </a:solidFill>
              </a:rPr>
              <a:t>rôles</a:t>
            </a:r>
            <a:r>
              <a:rPr lang="en-US" sz="1600" dirty="0">
                <a:solidFill>
                  <a:schemeClr val="tx1">
                    <a:alpha val="80000"/>
                  </a:schemeClr>
                </a:solidFill>
              </a:rPr>
              <a: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Résumé du projet</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b="1">
                <a:solidFill>
                  <a:schemeClr val="tx1">
                    <a:alpha val="80000"/>
                  </a:schemeClr>
                </a:solidFill>
              </a:rPr>
              <a:t>Contexte</a:t>
            </a:r>
          </a:p>
          <a:p>
            <a:pPr indent="-228600" algn="l">
              <a:buFont typeface="Arial" panose="020B0604020202020204" pitchFamily="34" charset="0"/>
              <a:buChar char="•"/>
            </a:pPr>
            <a:r>
              <a:rPr lang="en-US" sz="1600">
                <a:solidFill>
                  <a:schemeClr val="tx1">
                    <a:alpha val="80000"/>
                  </a:schemeClr>
                </a:solidFill>
              </a:rPr>
              <a:t>EduTutor IA est une startup edtech française qui met l'IA au service des enseignants et des étudiants. Nous reprenons une base de code existante (brownfield) pour la finaliser et la mettre en production.</a:t>
            </a:r>
          </a:p>
          <a:p>
            <a:pPr indent="-228600" algn="l">
              <a:buFont typeface="Arial" panose="020B0604020202020204" pitchFamily="34" charset="0"/>
              <a:buChar char="•"/>
            </a:pPr>
            <a:r>
              <a:rPr lang="en-US" sz="1600" b="1">
                <a:solidFill>
                  <a:schemeClr val="tx1">
                    <a:alpha val="80000"/>
                  </a:schemeClr>
                </a:solidFill>
              </a:rPr>
              <a:t>Objectif du MVP</a:t>
            </a:r>
          </a:p>
          <a:p>
            <a:pPr indent="-228600" algn="l">
              <a:buFont typeface="Arial" panose="020B0604020202020204" pitchFamily="34" charset="0"/>
              <a:buChar char="•"/>
            </a:pPr>
            <a:r>
              <a:rPr lang="en-US" sz="1600">
                <a:solidFill>
                  <a:schemeClr val="tx1">
                    <a:alpha val="80000"/>
                  </a:schemeClr>
                </a:solidFill>
              </a:rPr>
              <a:t>Permettre à un étudiant de réviser à partir de ses propres cours : import d'un PDF ou d'un texte, génération d'un quiz de 10 QCM, correction, score et historique.</a:t>
            </a:r>
          </a:p>
          <a:p>
            <a:pPr indent="-228600" algn="l">
              <a:buFont typeface="Arial" panose="020B0604020202020204" pitchFamily="34" charset="0"/>
              <a:buChar char="•"/>
            </a:pPr>
            <a:r>
              <a:rPr lang="en-US" sz="1600" b="1">
                <a:solidFill>
                  <a:schemeClr val="tx1">
                    <a:alpha val="80000"/>
                  </a:schemeClr>
                </a:solidFill>
              </a:rPr>
              <a:t>Stack technique</a:t>
            </a:r>
          </a:p>
          <a:p>
            <a:pPr indent="-228600" algn="l">
              <a:buFont typeface="Arial" panose="020B0604020202020204" pitchFamily="34" charset="0"/>
              <a:buChar char="•"/>
            </a:pPr>
            <a:r>
              <a:rPr lang="en-US" sz="1600">
                <a:solidFill>
                  <a:schemeClr val="tx1">
                    <a:alpha val="80000"/>
                  </a:schemeClr>
                </a:solidFill>
              </a:rPr>
              <a:t>Django / DRF / PostgreSQL côté serveur, React (Vite) côté interface, Docker Compose, et un LLM local (Ollama) pour la souveraineté des données (RGPD).</a:t>
            </a:r>
          </a:p>
          <a:p>
            <a:pPr indent="-228600" algn="l">
              <a:buFont typeface="Arial" panose="020B0604020202020204" pitchFamily="34" charset="0"/>
              <a:buChar char="•"/>
            </a:pPr>
            <a:r>
              <a:rPr lang="en-US" sz="1600" b="1">
                <a:solidFill>
                  <a:schemeClr val="tx1">
                    <a:alpha val="80000"/>
                  </a:schemeClr>
                </a:solidFill>
              </a:rPr>
              <a:t>Démarche Agile</a:t>
            </a:r>
          </a:p>
          <a:p>
            <a:pPr indent="-228600" algn="l">
              <a:buFont typeface="Arial" panose="020B0604020202020204" pitchFamily="34" charset="0"/>
              <a:buChar char="•"/>
            </a:pPr>
            <a:r>
              <a:rPr lang="en-US" sz="1600">
                <a:solidFill>
                  <a:schemeClr val="tx1">
                    <a:alpha val="80000"/>
                  </a:schemeClr>
                </a:solidFill>
              </a:rPr>
              <a:t>Une semaine de simulation Scrum ponctuée de 5 perturbations reproduisant les contraintes d'un projet réel : besoins, technique, sécurité, RGPD et retours utilisateurs.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73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D927E3-72E7-4038-405F-A5F5CB0D0D47}"/>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D23119C2-914E-5CB8-4210-58E192F74607}"/>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9255667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Architecture Decision Record</a:t>
            </a:r>
            <a:br>
              <a:rPr lang="en-US" sz="5600" kern="1200">
                <a:solidFill>
                  <a:srgbClr val="FFFFFF"/>
                </a:solidFill>
                <a:latin typeface="+mj-lt"/>
                <a:ea typeface="+mj-ea"/>
                <a:cs typeface="+mj-cs"/>
              </a:rPr>
            </a:br>
            <a:r>
              <a:rPr lang="en-US" sz="5600" b="1" kern="1200">
                <a:solidFill>
                  <a:srgbClr val="FFFFFF"/>
                </a:solidFill>
                <a:latin typeface="+mj-lt"/>
                <a:ea typeface="+mj-ea"/>
                <a:cs typeface="+mj-cs"/>
              </a:rPr>
              <a:t>Pourquoi un ADR ?</a:t>
            </a:r>
            <a:endParaRPr lang="en-US" sz="5600" kern="1200">
              <a:solidFill>
                <a:srgbClr val="FFFFFF"/>
              </a:solidFill>
              <a:effectLst/>
              <a:latin typeface="+mj-lt"/>
              <a:ea typeface="+mj-ea"/>
              <a:cs typeface="+mj-cs"/>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dirty="0">
                <a:solidFill>
                  <a:schemeClr val="tx1">
                    <a:alpha val="80000"/>
                  </a:schemeClr>
                </a:solidFill>
              </a:rPr>
              <a:t>Lors de la </a:t>
            </a:r>
            <a:r>
              <a:rPr lang="en-US" sz="1700" b="1" dirty="0">
                <a:solidFill>
                  <a:schemeClr val="tx1">
                    <a:alpha val="80000"/>
                  </a:schemeClr>
                </a:solidFill>
              </a:rPr>
              <a:t>perturbation J2</a:t>
            </a:r>
            <a:r>
              <a:rPr lang="en-US" sz="1700" dirty="0">
                <a:solidFill>
                  <a:schemeClr val="tx1">
                    <a:alpha val="80000"/>
                  </a:schemeClr>
                </a:solidFill>
              </a:rPr>
              <a:t>, nous </a:t>
            </a:r>
            <a:r>
              <a:rPr lang="en-US" sz="1700" dirty="0" err="1">
                <a:solidFill>
                  <a:schemeClr val="tx1">
                    <a:alpha val="80000"/>
                  </a:schemeClr>
                </a:solidFill>
              </a:rPr>
              <a:t>devions</a:t>
            </a:r>
            <a:r>
              <a:rPr lang="en-US" sz="1700" dirty="0">
                <a:solidFill>
                  <a:schemeClr val="tx1">
                    <a:alpha val="80000"/>
                  </a:schemeClr>
                </a:solidFill>
              </a:rPr>
              <a:t> </a:t>
            </a:r>
            <a:r>
              <a:rPr lang="en-US" sz="1700" dirty="0" err="1">
                <a:solidFill>
                  <a:schemeClr val="tx1">
                    <a:alpha val="80000"/>
                  </a:schemeClr>
                </a:solidFill>
              </a:rPr>
              <a:t>résoudre</a:t>
            </a:r>
            <a:r>
              <a:rPr lang="en-US" sz="1700" dirty="0">
                <a:solidFill>
                  <a:schemeClr val="tx1">
                    <a:alpha val="80000"/>
                  </a:schemeClr>
                </a:solidFill>
              </a:rPr>
              <a:t> un </a:t>
            </a:r>
            <a:r>
              <a:rPr lang="en-US" sz="1700" dirty="0" err="1">
                <a:solidFill>
                  <a:schemeClr val="tx1">
                    <a:alpha val="80000"/>
                  </a:schemeClr>
                </a:solidFill>
              </a:rPr>
              <a:t>problème</a:t>
            </a:r>
            <a:r>
              <a:rPr lang="en-US" sz="1700" dirty="0">
                <a:solidFill>
                  <a:schemeClr val="tx1">
                    <a:alpha val="80000"/>
                  </a:schemeClr>
                </a:solidFill>
              </a:rPr>
              <a:t> de performances : la </a:t>
            </a:r>
            <a:r>
              <a:rPr lang="en-US" sz="1700" dirty="0" err="1">
                <a:solidFill>
                  <a:schemeClr val="tx1">
                    <a:alpha val="80000"/>
                  </a:schemeClr>
                </a:solidFill>
              </a:rPr>
              <a:t>génération</a:t>
            </a:r>
            <a:r>
              <a:rPr lang="en-US" sz="1700" dirty="0">
                <a:solidFill>
                  <a:schemeClr val="tx1">
                    <a:alpha val="80000"/>
                  </a:schemeClr>
                </a:solidFill>
              </a:rPr>
              <a:t> des quiz </a:t>
            </a:r>
            <a:r>
              <a:rPr lang="en-US" sz="1700" dirty="0" err="1">
                <a:solidFill>
                  <a:schemeClr val="tx1">
                    <a:alpha val="80000"/>
                  </a:schemeClr>
                </a:solidFill>
              </a:rPr>
              <a:t>était</a:t>
            </a:r>
            <a:r>
              <a:rPr lang="en-US" sz="1700" dirty="0">
                <a:solidFill>
                  <a:schemeClr val="tx1">
                    <a:alpha val="80000"/>
                  </a:schemeClr>
                </a:solidFill>
              </a:rPr>
              <a:t> </a:t>
            </a:r>
            <a:r>
              <a:rPr lang="en-US" sz="1700" dirty="0" err="1">
                <a:solidFill>
                  <a:schemeClr val="tx1">
                    <a:alpha val="80000"/>
                  </a:schemeClr>
                </a:solidFill>
              </a:rPr>
              <a:t>jugée</a:t>
            </a:r>
            <a:r>
              <a:rPr lang="en-US" sz="1700" dirty="0">
                <a:solidFill>
                  <a:schemeClr val="tx1">
                    <a:alpha val="80000"/>
                  </a:schemeClr>
                </a:solidFill>
              </a:rPr>
              <a:t> trop lente.</a:t>
            </a:r>
          </a:p>
          <a:p>
            <a:pPr indent="-228600" algn="l">
              <a:buFont typeface="Arial" panose="020B0604020202020204" pitchFamily="34" charset="0"/>
              <a:buChar char="•"/>
            </a:pPr>
            <a:r>
              <a:rPr lang="en-US" sz="1700" dirty="0" err="1">
                <a:solidFill>
                  <a:schemeClr val="tx1">
                    <a:alpha val="80000"/>
                  </a:schemeClr>
                </a:solidFill>
              </a:rPr>
              <a:t>Plutôt</a:t>
            </a:r>
            <a:r>
              <a:rPr lang="en-US" sz="1700" dirty="0">
                <a:solidFill>
                  <a:schemeClr val="tx1">
                    <a:alpha val="80000"/>
                  </a:schemeClr>
                </a:solidFill>
              </a:rPr>
              <a:t> </a:t>
            </a:r>
            <a:r>
              <a:rPr lang="en-US" sz="1700" dirty="0" err="1">
                <a:solidFill>
                  <a:schemeClr val="tx1">
                    <a:alpha val="80000"/>
                  </a:schemeClr>
                </a:solidFill>
              </a:rPr>
              <a:t>que</a:t>
            </a:r>
            <a:r>
              <a:rPr lang="en-US" sz="1700" dirty="0">
                <a:solidFill>
                  <a:schemeClr val="tx1">
                    <a:alpha val="80000"/>
                  </a:schemeClr>
                </a:solidFill>
              </a:rPr>
              <a:t> de </a:t>
            </a:r>
            <a:r>
              <a:rPr lang="en-US" sz="1700" dirty="0" err="1">
                <a:solidFill>
                  <a:schemeClr val="tx1">
                    <a:alpha val="80000"/>
                  </a:schemeClr>
                </a:solidFill>
              </a:rPr>
              <a:t>choisir</a:t>
            </a:r>
            <a:r>
              <a:rPr lang="en-US" sz="1700" dirty="0">
                <a:solidFill>
                  <a:schemeClr val="tx1">
                    <a:alpha val="80000"/>
                  </a:schemeClr>
                </a:solidFill>
              </a:rPr>
              <a:t> </a:t>
            </a:r>
            <a:r>
              <a:rPr lang="en-US" sz="1700" dirty="0" err="1">
                <a:solidFill>
                  <a:schemeClr val="tx1">
                    <a:alpha val="80000"/>
                  </a:schemeClr>
                </a:solidFill>
              </a:rPr>
              <a:t>une</a:t>
            </a:r>
            <a:r>
              <a:rPr lang="en-US" sz="1700" dirty="0">
                <a:solidFill>
                  <a:schemeClr val="tx1">
                    <a:alpha val="80000"/>
                  </a:schemeClr>
                </a:solidFill>
              </a:rPr>
              <a:t> solution de manière </a:t>
            </a:r>
            <a:r>
              <a:rPr lang="en-US" sz="1700" dirty="0" err="1">
                <a:solidFill>
                  <a:schemeClr val="tx1">
                    <a:alpha val="80000"/>
                  </a:schemeClr>
                </a:solidFill>
              </a:rPr>
              <a:t>arbitraire</a:t>
            </a:r>
            <a:r>
              <a:rPr lang="en-US" sz="1700" dirty="0">
                <a:solidFill>
                  <a:schemeClr val="tx1">
                    <a:alpha val="80000"/>
                  </a:schemeClr>
                </a:solidFill>
              </a:rPr>
              <a:t>, nous </a:t>
            </a:r>
            <a:r>
              <a:rPr lang="en-US" sz="1700" dirty="0" err="1">
                <a:solidFill>
                  <a:schemeClr val="tx1">
                    <a:alpha val="80000"/>
                  </a:schemeClr>
                </a:solidFill>
              </a:rPr>
              <a:t>avons</a:t>
            </a:r>
            <a:r>
              <a:rPr lang="en-US" sz="1700" dirty="0">
                <a:solidFill>
                  <a:schemeClr val="tx1">
                    <a:alpha val="80000"/>
                  </a:schemeClr>
                </a:solidFill>
              </a:rPr>
              <a:t> </a:t>
            </a:r>
            <a:r>
              <a:rPr lang="en-US" sz="1700" dirty="0" err="1">
                <a:solidFill>
                  <a:schemeClr val="tx1">
                    <a:alpha val="80000"/>
                  </a:schemeClr>
                </a:solidFill>
              </a:rPr>
              <a:t>rédigé</a:t>
            </a:r>
            <a:r>
              <a:rPr lang="en-US" sz="1700" dirty="0">
                <a:solidFill>
                  <a:schemeClr val="tx1">
                    <a:alpha val="80000"/>
                  </a:schemeClr>
                </a:solidFill>
              </a:rPr>
              <a:t> un </a:t>
            </a:r>
            <a:r>
              <a:rPr lang="en-US" sz="1700" b="1" dirty="0">
                <a:solidFill>
                  <a:schemeClr val="tx1">
                    <a:alpha val="80000"/>
                  </a:schemeClr>
                </a:solidFill>
              </a:rPr>
              <a:t>ADR (Architecture Decision Record)</a:t>
            </a:r>
            <a:r>
              <a:rPr lang="en-US" sz="1700" dirty="0">
                <a:solidFill>
                  <a:schemeClr val="tx1">
                    <a:alpha val="80000"/>
                  </a:schemeClr>
                </a:solidFill>
              </a:rPr>
              <a:t> </a:t>
            </a:r>
            <a:r>
              <a:rPr lang="en-US" sz="1700" dirty="0" err="1">
                <a:solidFill>
                  <a:schemeClr val="tx1">
                    <a:alpha val="80000"/>
                  </a:schemeClr>
                </a:solidFill>
              </a:rPr>
              <a:t>afin</a:t>
            </a:r>
            <a:r>
              <a:rPr lang="en-US" sz="1700" dirty="0">
                <a:solidFill>
                  <a:schemeClr val="tx1">
                    <a:alpha val="80000"/>
                  </a:schemeClr>
                </a:solidFill>
              </a:rPr>
              <a:t> de documenter </a:t>
            </a:r>
            <a:r>
              <a:rPr lang="en-US" sz="1700" dirty="0" err="1">
                <a:solidFill>
                  <a:schemeClr val="tx1">
                    <a:alpha val="80000"/>
                  </a:schemeClr>
                </a:solidFill>
              </a:rPr>
              <a:t>notre</a:t>
            </a:r>
            <a:r>
              <a:rPr lang="en-US" sz="1700" dirty="0">
                <a:solidFill>
                  <a:schemeClr val="tx1">
                    <a:alpha val="80000"/>
                  </a:schemeClr>
                </a:solidFill>
              </a:rPr>
              <a:t> </a:t>
            </a:r>
            <a:r>
              <a:rPr lang="en-US" sz="1700" dirty="0" err="1">
                <a:solidFill>
                  <a:schemeClr val="tx1">
                    <a:alpha val="80000"/>
                  </a:schemeClr>
                </a:solidFill>
              </a:rPr>
              <a:t>décision</a:t>
            </a:r>
            <a:r>
              <a:rPr lang="en-US" sz="1700" dirty="0">
                <a:solidFill>
                  <a:schemeClr val="tx1">
                    <a:alpha val="80000"/>
                  </a:schemeClr>
                </a:solidFill>
              </a:rPr>
              <a:t> technique et de conserver </a:t>
            </a:r>
            <a:r>
              <a:rPr lang="en-US" sz="1700" dirty="0" err="1">
                <a:solidFill>
                  <a:schemeClr val="tx1">
                    <a:alpha val="80000"/>
                  </a:schemeClr>
                </a:solidFill>
              </a:rPr>
              <a:t>une</a:t>
            </a:r>
            <a:r>
              <a:rPr lang="en-US" sz="1700" dirty="0">
                <a:solidFill>
                  <a:schemeClr val="tx1">
                    <a:alpha val="80000"/>
                  </a:schemeClr>
                </a:solidFill>
              </a:rPr>
              <a:t> trace de </a:t>
            </a:r>
            <a:r>
              <a:rPr lang="en-US" sz="1700" dirty="0" err="1">
                <a:solidFill>
                  <a:schemeClr val="tx1">
                    <a:alpha val="80000"/>
                  </a:schemeClr>
                </a:solidFill>
              </a:rPr>
              <a:t>notre</a:t>
            </a:r>
            <a:r>
              <a:rPr lang="en-US" sz="1700" dirty="0">
                <a:solidFill>
                  <a:schemeClr val="tx1">
                    <a:alpha val="80000"/>
                  </a:schemeClr>
                </a:solidFill>
              </a:rPr>
              <a:t> </a:t>
            </a:r>
            <a:r>
              <a:rPr lang="en-US" sz="1700" dirty="0" err="1">
                <a:solidFill>
                  <a:schemeClr val="tx1">
                    <a:alpha val="80000"/>
                  </a:schemeClr>
                </a:solidFill>
              </a:rPr>
              <a:t>raisonnement</a:t>
            </a:r>
            <a:r>
              <a:rPr lang="en-US" sz="1700" dirty="0">
                <a:solidFill>
                  <a:schemeClr val="tx1">
                    <a:alpha val="80000"/>
                  </a:schemeClr>
                </a:solidFill>
              </a:rPr>
              <a:t>. </a:t>
            </a:r>
          </a:p>
          <a:p>
            <a:pPr algn="l"/>
            <a:br>
              <a:rPr lang="en-US" sz="1700" dirty="0">
                <a:solidFill>
                  <a:schemeClr val="tx1">
                    <a:alpha val="80000"/>
                  </a:schemeClr>
                </a:solidFill>
              </a:rPr>
            </a:br>
            <a:endParaRPr lang="en-US" sz="1700" dirty="0">
              <a:solidFill>
                <a:schemeClr val="tx1">
                  <a:alpha val="80000"/>
                </a:schemeClr>
              </a:solidFill>
            </a:endParaRPr>
          </a:p>
          <a:p>
            <a:r>
              <a:rPr lang="en-US" sz="1700" b="1" dirty="0">
                <a:solidFill>
                  <a:schemeClr val="tx1">
                    <a:alpha val="80000"/>
                  </a:schemeClr>
                </a:solidFill>
              </a:rPr>
              <a:t>Notre démarche</a:t>
            </a:r>
          </a:p>
          <a:p>
            <a:pPr indent="-228600">
              <a:buFont typeface="Arial" panose="020B0604020202020204" pitchFamily="34" charset="0"/>
              <a:buChar char="•"/>
            </a:pPr>
            <a:r>
              <a:rPr lang="en-US" sz="1700" dirty="0">
                <a:solidFill>
                  <a:schemeClr val="tx1">
                    <a:alpha val="80000"/>
                  </a:schemeClr>
                </a:solidFill>
              </a:rPr>
              <a:t>📊 </a:t>
            </a:r>
            <a:r>
              <a:rPr lang="en-US" sz="1700" dirty="0" err="1">
                <a:solidFill>
                  <a:schemeClr val="tx1">
                    <a:alpha val="80000"/>
                  </a:schemeClr>
                </a:solidFill>
              </a:rPr>
              <a:t>Réalisation</a:t>
            </a:r>
            <a:r>
              <a:rPr lang="en-US" sz="1700" dirty="0">
                <a:solidFill>
                  <a:schemeClr val="tx1">
                    <a:alpha val="80000"/>
                  </a:schemeClr>
                </a:solidFill>
              </a:rPr>
              <a:t> d'un benchmark des </a:t>
            </a:r>
            <a:r>
              <a:rPr lang="en-US" sz="1700" dirty="0" err="1">
                <a:solidFill>
                  <a:schemeClr val="tx1">
                    <a:alpha val="80000"/>
                  </a:schemeClr>
                </a:solidFill>
              </a:rPr>
              <a:t>modèles</a:t>
            </a:r>
            <a:r>
              <a:rPr lang="en-US" sz="1700" dirty="0">
                <a:solidFill>
                  <a:schemeClr val="tx1">
                    <a:alpha val="80000"/>
                  </a:schemeClr>
                </a:solidFill>
              </a:rPr>
              <a:t> LLM </a:t>
            </a:r>
          </a:p>
          <a:p>
            <a:pPr indent="-228600">
              <a:buFont typeface="Arial" panose="020B0604020202020204" pitchFamily="34" charset="0"/>
              <a:buChar char="•"/>
            </a:pPr>
            <a:r>
              <a:rPr lang="en-US" sz="1700" dirty="0">
                <a:solidFill>
                  <a:schemeClr val="tx1">
                    <a:alpha val="80000"/>
                  </a:schemeClr>
                </a:solidFill>
              </a:rPr>
              <a:t>⚖️ </a:t>
            </a:r>
            <a:r>
              <a:rPr lang="en-US" sz="1700" dirty="0" err="1">
                <a:solidFill>
                  <a:schemeClr val="tx1">
                    <a:alpha val="80000"/>
                  </a:schemeClr>
                </a:solidFill>
              </a:rPr>
              <a:t>Comparaison</a:t>
            </a:r>
            <a:r>
              <a:rPr lang="en-US" sz="1700" dirty="0">
                <a:solidFill>
                  <a:schemeClr val="tx1">
                    <a:alpha val="80000"/>
                  </a:schemeClr>
                </a:solidFill>
              </a:rPr>
              <a:t> des performances (temps de </a:t>
            </a:r>
            <a:r>
              <a:rPr lang="en-US" sz="1700" dirty="0" err="1">
                <a:solidFill>
                  <a:schemeClr val="tx1">
                    <a:alpha val="80000"/>
                  </a:schemeClr>
                </a:solidFill>
              </a:rPr>
              <a:t>réponse</a:t>
            </a:r>
            <a:r>
              <a:rPr lang="en-US" sz="1700" dirty="0">
                <a:solidFill>
                  <a:schemeClr val="tx1">
                    <a:alpha val="80000"/>
                  </a:schemeClr>
                </a:solidFill>
              </a:rPr>
              <a:t>, </a:t>
            </a:r>
            <a:r>
              <a:rPr lang="en-US" sz="1700" dirty="0" err="1">
                <a:solidFill>
                  <a:schemeClr val="tx1">
                    <a:alpha val="80000"/>
                  </a:schemeClr>
                </a:solidFill>
              </a:rPr>
              <a:t>qualité</a:t>
            </a:r>
            <a:r>
              <a:rPr lang="en-US" sz="1700" dirty="0">
                <a:solidFill>
                  <a:schemeClr val="tx1">
                    <a:alpha val="80000"/>
                  </a:schemeClr>
                </a:solidFill>
              </a:rPr>
              <a:t>, </a:t>
            </a:r>
            <a:r>
              <a:rPr lang="en-US" sz="1700" dirty="0" err="1">
                <a:solidFill>
                  <a:schemeClr val="tx1">
                    <a:alpha val="80000"/>
                  </a:schemeClr>
                </a:solidFill>
              </a:rPr>
              <a:t>consommation</a:t>
            </a:r>
            <a:r>
              <a:rPr lang="en-US" sz="1700" dirty="0">
                <a:solidFill>
                  <a:schemeClr val="tx1">
                    <a:alpha val="80000"/>
                  </a:schemeClr>
                </a:solidFill>
              </a:rPr>
              <a:t> de </a:t>
            </a:r>
            <a:r>
              <a:rPr lang="en-US" sz="1700" dirty="0" err="1">
                <a:solidFill>
                  <a:schemeClr val="tx1">
                    <a:alpha val="80000"/>
                  </a:schemeClr>
                </a:solidFill>
              </a:rPr>
              <a:t>ressources</a:t>
            </a:r>
            <a:r>
              <a:rPr lang="en-US" sz="1700" dirty="0">
                <a:solidFill>
                  <a:schemeClr val="tx1">
                    <a:alpha val="80000"/>
                  </a:schemeClr>
                </a:solidFill>
              </a:rPr>
              <a:t>) </a:t>
            </a:r>
          </a:p>
          <a:p>
            <a:pPr indent="-228600">
              <a:buFont typeface="Arial" panose="020B0604020202020204" pitchFamily="34" charset="0"/>
              <a:buChar char="•"/>
            </a:pPr>
            <a:r>
              <a:rPr lang="en-US" sz="1700" dirty="0">
                <a:solidFill>
                  <a:schemeClr val="tx1">
                    <a:alpha val="80000"/>
                  </a:schemeClr>
                </a:solidFill>
              </a:rPr>
              <a:t>🎯 Choix du </a:t>
            </a:r>
            <a:r>
              <a:rPr lang="en-US" sz="1700" dirty="0" err="1">
                <a:solidFill>
                  <a:schemeClr val="tx1">
                    <a:alpha val="80000"/>
                  </a:schemeClr>
                </a:solidFill>
              </a:rPr>
              <a:t>modèle</a:t>
            </a:r>
            <a:r>
              <a:rPr lang="en-US" sz="1700" dirty="0">
                <a:solidFill>
                  <a:schemeClr val="tx1">
                    <a:alpha val="80000"/>
                  </a:schemeClr>
                </a:solidFill>
              </a:rPr>
              <a:t> </a:t>
            </a:r>
            <a:r>
              <a:rPr lang="en-US" sz="1700" dirty="0" err="1">
                <a:solidFill>
                  <a:schemeClr val="tx1">
                    <a:alpha val="80000"/>
                  </a:schemeClr>
                </a:solidFill>
              </a:rPr>
              <a:t>offrant</a:t>
            </a:r>
            <a:r>
              <a:rPr lang="en-US" sz="1700" dirty="0">
                <a:solidFill>
                  <a:schemeClr val="tx1">
                    <a:alpha val="80000"/>
                  </a:schemeClr>
                </a:solidFill>
              </a:rPr>
              <a:t> le </a:t>
            </a:r>
            <a:r>
              <a:rPr lang="en-US" sz="1700" dirty="0" err="1">
                <a:solidFill>
                  <a:schemeClr val="tx1">
                    <a:alpha val="80000"/>
                  </a:schemeClr>
                </a:solidFill>
              </a:rPr>
              <a:t>meilleur</a:t>
            </a:r>
            <a:r>
              <a:rPr lang="en-US" sz="1700" dirty="0">
                <a:solidFill>
                  <a:schemeClr val="tx1">
                    <a:alpha val="80000"/>
                  </a:schemeClr>
                </a:solidFill>
              </a:rPr>
              <a:t> </a:t>
            </a:r>
            <a:r>
              <a:rPr lang="en-US" sz="1700" dirty="0" err="1">
                <a:solidFill>
                  <a:schemeClr val="tx1">
                    <a:alpha val="80000"/>
                  </a:schemeClr>
                </a:solidFill>
              </a:rPr>
              <a:t>compromis</a:t>
            </a:r>
            <a:r>
              <a:rPr lang="en-US" sz="1700" dirty="0">
                <a:solidFill>
                  <a:schemeClr val="tx1">
                    <a:alpha val="80000"/>
                  </a:schemeClr>
                </a:solidFill>
              </a:rPr>
              <a:t> </a:t>
            </a:r>
          </a:p>
          <a:p>
            <a:pPr indent="-228600">
              <a:buFont typeface="Arial" panose="020B0604020202020204" pitchFamily="34" charset="0"/>
              <a:buChar char="•"/>
            </a:pPr>
            <a:r>
              <a:rPr lang="en-US" sz="1700" dirty="0">
                <a:solidFill>
                  <a:schemeClr val="tx1">
                    <a:alpha val="80000"/>
                  </a:schemeClr>
                </a:solidFill>
              </a:rPr>
              <a:t>📝 Documentation de la </a:t>
            </a:r>
            <a:r>
              <a:rPr lang="en-US" sz="1700" dirty="0" err="1">
                <a:solidFill>
                  <a:schemeClr val="tx1">
                    <a:alpha val="80000"/>
                  </a:schemeClr>
                </a:solidFill>
              </a:rPr>
              <a:t>décision</a:t>
            </a:r>
            <a:r>
              <a:rPr lang="en-US" sz="1700" dirty="0">
                <a:solidFill>
                  <a:schemeClr val="tx1">
                    <a:alpha val="80000"/>
                  </a:schemeClr>
                </a:solidFill>
              </a:rPr>
              <a:t> dans un ADR</a:t>
            </a: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4593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009D7-621D-0D71-ECDF-A53494ED423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DAA9FFBE-918C-4B78-B056-F3B2B6CBF35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7400" b="1" kern="1200">
                <a:solidFill>
                  <a:srgbClr val="FFFFFF"/>
                </a:solidFill>
                <a:latin typeface="+mj-lt"/>
                <a:ea typeface="+mj-ea"/>
                <a:cs typeface="+mj-cs"/>
              </a:rPr>
              <a:t>Structure de l'ADR</a:t>
            </a: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364C713-5D71-EF89-706C-5E01A5912552}"/>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US" sz="1400" b="1" u="sng" dirty="0" err="1">
                <a:solidFill>
                  <a:schemeClr val="tx1">
                    <a:alpha val="80000"/>
                  </a:schemeClr>
                </a:solidFill>
              </a:rPr>
              <a:t>Contexte</a:t>
            </a:r>
            <a:r>
              <a:rPr lang="en-US" sz="1400" dirty="0">
                <a:solidFill>
                  <a:schemeClr val="tx1">
                    <a:alpha val="80000"/>
                  </a:schemeClr>
                </a:solidFill>
              </a:rPr>
              <a:t> </a:t>
            </a:r>
          </a:p>
          <a:p>
            <a:pPr lvl="1" indent="-228600" algn="l">
              <a:buFont typeface="Arial" panose="020B0604020202020204" pitchFamily="34" charset="0"/>
              <a:buChar char="•"/>
            </a:pPr>
            <a:r>
              <a:rPr lang="en-US" sz="1400" dirty="0" err="1">
                <a:solidFill>
                  <a:schemeClr val="tx1">
                    <a:alpha val="80000"/>
                  </a:schemeClr>
                </a:solidFill>
              </a:rPr>
              <a:t>Problème</a:t>
            </a:r>
            <a:r>
              <a:rPr lang="en-US" sz="1400" dirty="0">
                <a:solidFill>
                  <a:schemeClr val="tx1">
                    <a:alpha val="80000"/>
                  </a:schemeClr>
                </a:solidFill>
              </a:rPr>
              <a:t> </a:t>
            </a:r>
            <a:r>
              <a:rPr lang="en-US" sz="1400" dirty="0" err="1">
                <a:solidFill>
                  <a:schemeClr val="tx1">
                    <a:alpha val="80000"/>
                  </a:schemeClr>
                </a:solidFill>
              </a:rPr>
              <a:t>identifié</a:t>
            </a:r>
            <a:r>
              <a:rPr lang="en-US" sz="1400" dirty="0">
                <a:solidFill>
                  <a:schemeClr val="tx1">
                    <a:alpha val="80000"/>
                  </a:schemeClr>
                </a:solidFill>
              </a:rPr>
              <a:t> </a:t>
            </a:r>
          </a:p>
          <a:p>
            <a:pPr lvl="1" indent="-228600" algn="l">
              <a:buFont typeface="Arial" panose="020B0604020202020204" pitchFamily="34" charset="0"/>
              <a:buChar char="•"/>
            </a:pPr>
            <a:r>
              <a:rPr lang="en-US" sz="1400" dirty="0" err="1">
                <a:solidFill>
                  <a:schemeClr val="tx1">
                    <a:alpha val="80000"/>
                  </a:schemeClr>
                </a:solidFill>
              </a:rPr>
              <a:t>Contraintes</a:t>
            </a:r>
            <a:r>
              <a:rPr lang="en-US" sz="1400" dirty="0">
                <a:solidFill>
                  <a:schemeClr val="tx1">
                    <a:alpha val="80000"/>
                  </a:schemeClr>
                </a:solidFill>
              </a:rPr>
              <a:t> du </a:t>
            </a:r>
            <a:r>
              <a:rPr lang="en-US" sz="1400" dirty="0" err="1">
                <a:solidFill>
                  <a:schemeClr val="tx1">
                    <a:alpha val="80000"/>
                  </a:schemeClr>
                </a:solidFill>
              </a:rPr>
              <a:t>projet</a:t>
            </a:r>
            <a:r>
              <a:rPr lang="en-US" sz="1400" dirty="0">
                <a:solidFill>
                  <a:schemeClr val="tx1">
                    <a:alpha val="80000"/>
                  </a:schemeClr>
                </a:solidFill>
              </a:rPr>
              <a:t> </a:t>
            </a:r>
          </a:p>
          <a:p>
            <a:r>
              <a:rPr lang="en-US" sz="1400" b="1" u="sng" dirty="0" err="1">
                <a:solidFill>
                  <a:schemeClr val="tx1">
                    <a:alpha val="80000"/>
                  </a:schemeClr>
                </a:solidFill>
              </a:rPr>
              <a:t>Décision</a:t>
            </a:r>
            <a:r>
              <a:rPr lang="en-US" sz="1400" dirty="0">
                <a:solidFill>
                  <a:schemeClr val="tx1">
                    <a:alpha val="80000"/>
                  </a:schemeClr>
                </a:solidFill>
              </a:rPr>
              <a:t> </a:t>
            </a:r>
          </a:p>
          <a:p>
            <a:pPr lvl="1" indent="-228600" algn="l">
              <a:buFont typeface="Arial" panose="020B0604020202020204" pitchFamily="34" charset="0"/>
              <a:buChar char="•"/>
            </a:pPr>
            <a:r>
              <a:rPr lang="en-US" sz="1400" dirty="0">
                <a:solidFill>
                  <a:schemeClr val="tx1">
                    <a:alpha val="80000"/>
                  </a:schemeClr>
                </a:solidFill>
              </a:rPr>
              <a:t>Solution </a:t>
            </a:r>
            <a:r>
              <a:rPr lang="en-US" sz="1400" dirty="0" err="1">
                <a:solidFill>
                  <a:schemeClr val="tx1">
                    <a:alpha val="80000"/>
                  </a:schemeClr>
                </a:solidFill>
              </a:rPr>
              <a:t>retenue</a:t>
            </a:r>
            <a:r>
              <a:rPr lang="en-US" sz="1400" dirty="0">
                <a:solidFill>
                  <a:schemeClr val="tx1">
                    <a:alpha val="80000"/>
                  </a:schemeClr>
                </a:solidFill>
              </a:rPr>
              <a:t> </a:t>
            </a:r>
          </a:p>
          <a:p>
            <a:pPr lvl="1" indent="-228600" algn="l">
              <a:buFont typeface="Arial" panose="020B0604020202020204" pitchFamily="34" charset="0"/>
              <a:buChar char="•"/>
            </a:pPr>
            <a:r>
              <a:rPr lang="en-US" sz="1400" dirty="0">
                <a:solidFill>
                  <a:schemeClr val="tx1">
                    <a:alpha val="80000"/>
                  </a:schemeClr>
                </a:solidFill>
              </a:rPr>
              <a:t>Justification </a:t>
            </a:r>
          </a:p>
          <a:p>
            <a:r>
              <a:rPr lang="en-US" sz="1400" b="1" u="sng" dirty="0" err="1">
                <a:solidFill>
                  <a:schemeClr val="tx1">
                    <a:alpha val="80000"/>
                  </a:schemeClr>
                </a:solidFill>
              </a:rPr>
              <a:t>Conséquences</a:t>
            </a:r>
            <a:r>
              <a:rPr lang="en-US" sz="1400" dirty="0">
                <a:solidFill>
                  <a:schemeClr val="tx1">
                    <a:alpha val="80000"/>
                  </a:schemeClr>
                </a:solidFill>
              </a:rPr>
              <a:t> </a:t>
            </a:r>
          </a:p>
          <a:p>
            <a:pPr lvl="1" indent="-228600" algn="l">
              <a:buFont typeface="Arial" panose="020B0604020202020204" pitchFamily="34" charset="0"/>
              <a:buChar char="•"/>
            </a:pPr>
            <a:r>
              <a:rPr lang="en-US" sz="1400" dirty="0" err="1">
                <a:solidFill>
                  <a:schemeClr val="tx1">
                    <a:alpha val="80000"/>
                  </a:schemeClr>
                </a:solidFill>
              </a:rPr>
              <a:t>Avantages</a:t>
            </a:r>
            <a:r>
              <a:rPr lang="en-US" sz="1400" dirty="0">
                <a:solidFill>
                  <a:schemeClr val="tx1">
                    <a:alpha val="80000"/>
                  </a:schemeClr>
                </a:solidFill>
              </a:rPr>
              <a:t> </a:t>
            </a:r>
          </a:p>
          <a:p>
            <a:pPr lvl="1" indent="-228600" algn="l">
              <a:buFont typeface="Arial" panose="020B0604020202020204" pitchFamily="34" charset="0"/>
              <a:buChar char="•"/>
            </a:pPr>
            <a:r>
              <a:rPr lang="en-US" sz="1400" dirty="0" err="1">
                <a:solidFill>
                  <a:schemeClr val="tx1">
                    <a:alpha val="80000"/>
                  </a:schemeClr>
                </a:solidFill>
              </a:rPr>
              <a:t>Limites</a:t>
            </a:r>
            <a:r>
              <a:rPr lang="en-US" sz="1400" dirty="0">
                <a:solidFill>
                  <a:schemeClr val="tx1">
                    <a:alpha val="80000"/>
                  </a:schemeClr>
                </a:solidFill>
              </a:rPr>
              <a:t> </a:t>
            </a:r>
          </a:p>
          <a:p>
            <a:r>
              <a:rPr lang="en-US" sz="1400" b="1" u="sng" dirty="0">
                <a:solidFill>
                  <a:schemeClr val="tx1">
                    <a:alpha val="80000"/>
                  </a:schemeClr>
                </a:solidFill>
              </a:rPr>
              <a:t>Alternatives </a:t>
            </a:r>
            <a:r>
              <a:rPr lang="en-US" sz="1400" b="1" u="sng" dirty="0" err="1">
                <a:solidFill>
                  <a:schemeClr val="tx1">
                    <a:alpha val="80000"/>
                  </a:schemeClr>
                </a:solidFill>
              </a:rPr>
              <a:t>étudiées</a:t>
            </a:r>
            <a:r>
              <a:rPr lang="en-US" sz="1400" dirty="0">
                <a:solidFill>
                  <a:schemeClr val="tx1">
                    <a:alpha val="80000"/>
                  </a:schemeClr>
                </a:solidFill>
              </a:rPr>
              <a:t> </a:t>
            </a:r>
          </a:p>
          <a:p>
            <a:pPr lvl="1" indent="-228600" algn="l">
              <a:buFont typeface="Arial" panose="020B0604020202020204" pitchFamily="34" charset="0"/>
              <a:buChar char="•"/>
            </a:pPr>
            <a:r>
              <a:rPr lang="en-US" sz="1400" dirty="0">
                <a:solidFill>
                  <a:schemeClr val="tx1">
                    <a:alpha val="80000"/>
                  </a:schemeClr>
                </a:solidFill>
              </a:rPr>
              <a:t>Solutions </a:t>
            </a:r>
            <a:r>
              <a:rPr lang="en-US" sz="1400" dirty="0" err="1">
                <a:solidFill>
                  <a:schemeClr val="tx1">
                    <a:alpha val="80000"/>
                  </a:schemeClr>
                </a:solidFill>
              </a:rPr>
              <a:t>écartées</a:t>
            </a:r>
            <a:r>
              <a:rPr lang="en-US" sz="1400" dirty="0">
                <a:solidFill>
                  <a:schemeClr val="tx1">
                    <a:alpha val="80000"/>
                  </a:schemeClr>
                </a:solidFill>
              </a:rPr>
              <a:t> </a:t>
            </a:r>
          </a:p>
          <a:p>
            <a:pPr lvl="1" indent="-228600" algn="l">
              <a:buFont typeface="Arial" panose="020B0604020202020204" pitchFamily="34" charset="0"/>
              <a:buChar char="•"/>
            </a:pPr>
            <a:r>
              <a:rPr lang="en-US" sz="1400" dirty="0">
                <a:solidFill>
                  <a:schemeClr val="tx1">
                    <a:alpha val="80000"/>
                  </a:schemeClr>
                </a:solidFill>
              </a:rPr>
              <a:t>Raisons du </a:t>
            </a:r>
            <a:r>
              <a:rPr lang="en-US" sz="1400" dirty="0" err="1">
                <a:solidFill>
                  <a:schemeClr val="tx1">
                    <a:alpha val="80000"/>
                  </a:schemeClr>
                </a:solidFill>
              </a:rPr>
              <a:t>rejet</a:t>
            </a:r>
            <a:r>
              <a:rPr lang="en-US" sz="1400" dirty="0">
                <a:solidFill>
                  <a:schemeClr val="tx1">
                    <a:alpha val="80000"/>
                  </a:schemeClr>
                </a:solidFill>
              </a:rPr>
              <a:t> </a:t>
            </a:r>
          </a:p>
          <a:p>
            <a:pPr indent="-228600" algn="l">
              <a:buFont typeface="Arial" panose="020B0604020202020204" pitchFamily="34" charset="0"/>
              <a:buChar char="•"/>
            </a:pPr>
            <a:br>
              <a:rPr lang="en-US" sz="1400" dirty="0">
                <a:solidFill>
                  <a:schemeClr val="tx1">
                    <a:alpha val="80000"/>
                  </a:schemeClr>
                </a:solidFill>
              </a:rPr>
            </a:br>
            <a:endParaRPr lang="en-US" sz="1400" dirty="0">
              <a:solidFill>
                <a:schemeClr val="tx1">
                  <a:alpha val="80000"/>
                </a:schemeClr>
              </a:solidFill>
            </a:endParaRPr>
          </a:p>
          <a:p>
            <a:r>
              <a:rPr lang="en-US" sz="1400" b="1" u="sng" dirty="0" err="1">
                <a:solidFill>
                  <a:schemeClr val="tx1">
                    <a:alpha val="80000"/>
                  </a:schemeClr>
                </a:solidFill>
              </a:rPr>
              <a:t>Bénéfices</a:t>
            </a:r>
            <a:endParaRPr lang="en-US" sz="1400" b="1" u="sng" dirty="0">
              <a:solidFill>
                <a:schemeClr val="tx1">
                  <a:alpha val="80000"/>
                </a:schemeClr>
              </a:solidFill>
            </a:endParaRPr>
          </a:p>
          <a:p>
            <a:pPr indent="-228600" algn="l">
              <a:buFont typeface="Arial" panose="020B0604020202020204" pitchFamily="34" charset="0"/>
              <a:buChar char="•"/>
            </a:pPr>
            <a:r>
              <a:rPr lang="en-US" sz="1400" dirty="0">
                <a:solidFill>
                  <a:schemeClr val="tx1">
                    <a:alpha val="80000"/>
                  </a:schemeClr>
                </a:solidFill>
              </a:rPr>
              <a:t>✔️ </a:t>
            </a:r>
            <a:r>
              <a:rPr lang="en-US" sz="1400" dirty="0" err="1">
                <a:solidFill>
                  <a:schemeClr val="tx1">
                    <a:alpha val="80000"/>
                  </a:schemeClr>
                </a:solidFill>
              </a:rPr>
              <a:t>Décision</a:t>
            </a:r>
            <a:r>
              <a:rPr lang="en-US" sz="1400" dirty="0">
                <a:solidFill>
                  <a:schemeClr val="tx1">
                    <a:alpha val="80000"/>
                  </a:schemeClr>
                </a:solidFill>
              </a:rPr>
              <a:t> </a:t>
            </a:r>
            <a:r>
              <a:rPr lang="en-US" sz="1400" dirty="0" err="1">
                <a:solidFill>
                  <a:schemeClr val="tx1">
                    <a:alpha val="80000"/>
                  </a:schemeClr>
                </a:solidFill>
              </a:rPr>
              <a:t>argumentée</a:t>
            </a:r>
            <a:r>
              <a:rPr lang="en-US" sz="1400" dirty="0">
                <a:solidFill>
                  <a:schemeClr val="tx1">
                    <a:alpha val="80000"/>
                  </a:schemeClr>
                </a:solidFill>
              </a:rPr>
              <a:t> </a:t>
            </a:r>
          </a:p>
          <a:p>
            <a:pPr indent="-228600" algn="l">
              <a:buFont typeface="Arial" panose="020B0604020202020204" pitchFamily="34" charset="0"/>
              <a:buChar char="•"/>
            </a:pPr>
            <a:r>
              <a:rPr lang="en-US" sz="1400" dirty="0">
                <a:solidFill>
                  <a:schemeClr val="tx1">
                    <a:alpha val="80000"/>
                  </a:schemeClr>
                </a:solidFill>
              </a:rPr>
              <a:t>✔️ </a:t>
            </a:r>
            <a:r>
              <a:rPr lang="en-US" sz="1400" dirty="0" err="1">
                <a:solidFill>
                  <a:schemeClr val="tx1">
                    <a:alpha val="80000"/>
                  </a:schemeClr>
                </a:solidFill>
              </a:rPr>
              <a:t>Traçabilité</a:t>
            </a:r>
            <a:r>
              <a:rPr lang="en-US" sz="1400" dirty="0">
                <a:solidFill>
                  <a:schemeClr val="tx1">
                    <a:alpha val="80000"/>
                  </a:schemeClr>
                </a:solidFill>
              </a:rPr>
              <a:t> des choix techniques </a:t>
            </a:r>
          </a:p>
          <a:p>
            <a:pPr indent="-228600" algn="l">
              <a:buFont typeface="Arial" panose="020B0604020202020204" pitchFamily="34" charset="0"/>
              <a:buChar char="•"/>
            </a:pPr>
            <a:r>
              <a:rPr lang="en-US" sz="1400" dirty="0">
                <a:solidFill>
                  <a:schemeClr val="tx1">
                    <a:alpha val="80000"/>
                  </a:schemeClr>
                </a:solidFill>
              </a:rPr>
              <a:t>✔️ Documentation </a:t>
            </a:r>
            <a:r>
              <a:rPr lang="en-US" sz="1400" dirty="0" err="1">
                <a:solidFill>
                  <a:schemeClr val="tx1">
                    <a:alpha val="80000"/>
                  </a:schemeClr>
                </a:solidFill>
              </a:rPr>
              <a:t>réutilisable</a:t>
            </a:r>
            <a:r>
              <a:rPr lang="en-US" sz="1400" dirty="0">
                <a:solidFill>
                  <a:schemeClr val="tx1">
                    <a:alpha val="80000"/>
                  </a:schemeClr>
                </a:solidFill>
              </a:rPr>
              <a:t> </a:t>
            </a:r>
          </a:p>
          <a:p>
            <a:pPr indent="-228600" algn="l">
              <a:buFont typeface="Arial" panose="020B0604020202020204" pitchFamily="34" charset="0"/>
              <a:buChar char="•"/>
            </a:pPr>
            <a:r>
              <a:rPr lang="en-US" sz="1400" dirty="0">
                <a:solidFill>
                  <a:schemeClr val="tx1">
                    <a:alpha val="80000"/>
                  </a:schemeClr>
                </a:solidFill>
              </a:rPr>
              <a:t>✔️ </a:t>
            </a:r>
            <a:r>
              <a:rPr lang="en-US" sz="1400" dirty="0" err="1">
                <a:solidFill>
                  <a:schemeClr val="tx1">
                    <a:alpha val="80000"/>
                  </a:schemeClr>
                </a:solidFill>
              </a:rPr>
              <a:t>Facilite</a:t>
            </a:r>
            <a:r>
              <a:rPr lang="en-US" sz="1400" dirty="0">
                <a:solidFill>
                  <a:schemeClr val="tx1">
                    <a:alpha val="80000"/>
                  </a:schemeClr>
                </a:solidFill>
              </a:rPr>
              <a:t> la maintenance et les </a:t>
            </a:r>
            <a:r>
              <a:rPr lang="en-US" sz="1400" dirty="0" err="1">
                <a:solidFill>
                  <a:schemeClr val="tx1">
                    <a:alpha val="80000"/>
                  </a:schemeClr>
                </a:solidFill>
              </a:rPr>
              <a:t>évolutions</a:t>
            </a:r>
            <a:r>
              <a:rPr lang="en-US" sz="1400" dirty="0">
                <a:solidFill>
                  <a:schemeClr val="tx1">
                    <a:alpha val="80000"/>
                  </a:schemeClr>
                </a:solidFill>
              </a:rPr>
              <a:t> futures</a:t>
            </a: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9001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885DF-044A-2053-2CB9-26A5BEFAB36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214947-E107-505B-1B1F-7FE4C9DC597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C8C90D58-3D82-14A2-25A0-31FEBFE02B7C}"/>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970938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dirty="0">
                <a:solidFill>
                  <a:srgbClr val="FFFFFF"/>
                </a:solidFill>
                <a:latin typeface="+mj-lt"/>
                <a:ea typeface="+mj-ea"/>
                <a:cs typeface="+mj-cs"/>
              </a:rPr>
              <a:t>Perturbation J1 : </a:t>
            </a:r>
            <a:r>
              <a:rPr lang="en-US" sz="5600" b="1" kern="1200" dirty="0" err="1">
                <a:solidFill>
                  <a:srgbClr val="FFFFFF"/>
                </a:solidFill>
                <a:latin typeface="+mj-lt"/>
                <a:ea typeface="+mj-ea"/>
                <a:cs typeface="+mj-cs"/>
              </a:rPr>
              <a:t>Arrivée</a:t>
            </a:r>
            <a:r>
              <a:rPr lang="en-US" sz="5600" b="1" kern="1200" dirty="0">
                <a:solidFill>
                  <a:srgbClr val="FFFFFF"/>
                </a:solidFill>
                <a:latin typeface="+mj-lt"/>
                <a:ea typeface="+mj-ea"/>
                <a:cs typeface="+mj-cs"/>
              </a:rPr>
              <a:t> de </a:t>
            </a:r>
            <a:r>
              <a:rPr lang="en-US" sz="5600" b="1" kern="1200" dirty="0" err="1">
                <a:solidFill>
                  <a:srgbClr val="FFFFFF"/>
                </a:solidFill>
                <a:latin typeface="+mj-lt"/>
                <a:ea typeface="+mj-ea"/>
                <a:cs typeface="+mj-cs"/>
              </a:rPr>
              <a:t>Mme</a:t>
            </a:r>
            <a:r>
              <a:rPr lang="en-US" sz="5600" b="1" kern="1200" dirty="0">
                <a:solidFill>
                  <a:srgbClr val="FFFFFF"/>
                </a:solidFill>
                <a:latin typeface="+mj-lt"/>
                <a:ea typeface="+mj-ea"/>
                <a:cs typeface="+mj-cs"/>
              </a:rPr>
              <a:t> Lefèvre (</a:t>
            </a:r>
            <a:r>
              <a:rPr lang="en-US" sz="5600" b="1" kern="1200" dirty="0" err="1">
                <a:solidFill>
                  <a:srgbClr val="FFFFFF"/>
                </a:solidFill>
                <a:latin typeface="+mj-lt"/>
                <a:ea typeface="+mj-ea"/>
                <a:cs typeface="+mj-cs"/>
              </a:rPr>
              <a:t>Produit</a:t>
            </a:r>
            <a:r>
              <a:rPr lang="en-US" sz="5600" b="1" kern="1200" dirty="0">
                <a:solidFill>
                  <a:srgbClr val="FFFFFF"/>
                </a:solidFill>
                <a:latin typeface="+mj-lt"/>
                <a:ea typeface="+mj-ea"/>
                <a:cs typeface="+mj-cs"/>
              </a:rPr>
              <a:t> / Scope)</a:t>
            </a:r>
            <a:endParaRPr lang="en-US" sz="5600" kern="1200" dirty="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600" b="1">
                <a:solidFill>
                  <a:schemeClr val="tx1">
                    <a:alpha val="80000"/>
                  </a:schemeClr>
                </a:solidFill>
              </a:rPr>
              <a:t>Contexte</a:t>
            </a:r>
            <a:endParaRPr lang="en-US" sz="1600">
              <a:solidFill>
                <a:schemeClr val="tx1">
                  <a:alpha val="80000"/>
                </a:schemeClr>
              </a:solidFill>
            </a:endParaRPr>
          </a:p>
          <a:p>
            <a:pPr indent="-228600" algn="l">
              <a:buFont typeface="Arial" panose="020B0604020202020204" pitchFamily="34" charset="0"/>
              <a:buChar char="•"/>
            </a:pPr>
            <a:r>
              <a:rPr lang="en-US" sz="1600">
                <a:solidFill>
                  <a:schemeClr val="tx1">
                    <a:alpha val="80000"/>
                  </a:schemeClr>
                </a:solidFill>
              </a:rPr>
              <a:t>Après avoir terminé les artefacts de cadrage (Vision Board, Personas, Backlog...), un </a:t>
            </a:r>
            <a:r>
              <a:rPr lang="en-US" sz="1600" b="1">
                <a:solidFill>
                  <a:schemeClr val="tx1">
                    <a:alpha val="80000"/>
                  </a:schemeClr>
                </a:solidFill>
              </a:rPr>
              <a:t>nouveau persona</a:t>
            </a:r>
            <a:r>
              <a:rPr lang="en-US" sz="1600">
                <a:solidFill>
                  <a:schemeClr val="tx1">
                    <a:alpha val="80000"/>
                  </a:schemeClr>
                </a:solidFill>
              </a:rPr>
              <a:t> apparaît : </a:t>
            </a:r>
            <a:r>
              <a:rPr lang="en-US" sz="1600" b="1">
                <a:solidFill>
                  <a:schemeClr val="tx1">
                    <a:alpha val="80000"/>
                  </a:schemeClr>
                </a:solidFill>
              </a:rPr>
              <a:t>Mme Lefèvre</a:t>
            </a:r>
            <a:r>
              <a:rPr lang="en-US" sz="1600">
                <a:solidFill>
                  <a:schemeClr val="tx1">
                    <a:alpha val="80000"/>
                  </a:schemeClr>
                </a:solidFill>
              </a:rPr>
              <a:t>, une enseignante souhaitant utiliser EduTutor IA pour créer rapidement des quiz à partir de ses supports de cours.</a:t>
            </a:r>
          </a:p>
          <a:p>
            <a:pPr indent="-228600" algn="l">
              <a:buFont typeface="Arial" panose="020B0604020202020204" pitchFamily="34" charset="0"/>
              <a:buChar char="•"/>
            </a:pPr>
            <a:r>
              <a:rPr lang="en-US" sz="1600" b="1">
                <a:solidFill>
                  <a:schemeClr val="tx1">
                    <a:alpha val="80000"/>
                  </a:schemeClr>
                </a:solidFill>
              </a:rPr>
              <a:t>Pourquoi cette perturbation ?</a:t>
            </a:r>
            <a:endParaRPr lang="en-US" sz="1600">
              <a:solidFill>
                <a:schemeClr val="tx1">
                  <a:alpha val="80000"/>
                </a:schemeClr>
              </a:solidFill>
            </a:endParaRPr>
          </a:p>
          <a:p>
            <a:pPr indent="-228600" algn="l">
              <a:buFont typeface="Arial" panose="020B0604020202020204" pitchFamily="34" charset="0"/>
              <a:buChar char="•"/>
            </a:pPr>
            <a:r>
              <a:rPr lang="en-US" sz="1600">
                <a:solidFill>
                  <a:schemeClr val="tx1">
                    <a:alpha val="80000"/>
                  </a:schemeClr>
                </a:solidFill>
              </a:rPr>
              <a:t>Cette nouvelle cible remet en question les besoins identifiés le matin. L'équipe doit adapter son analyse sans repartir de zéro et revoir les priorités du produit.</a:t>
            </a:r>
          </a:p>
          <a:p>
            <a:pPr indent="-228600" algn="l">
              <a:buFont typeface="Arial" panose="020B0604020202020204" pitchFamily="34" charset="0"/>
              <a:buChar char="•"/>
            </a:pPr>
            <a:r>
              <a:rPr lang="en-US" sz="1600" b="1">
                <a:solidFill>
                  <a:schemeClr val="tx1">
                    <a:alpha val="80000"/>
                  </a:schemeClr>
                </a:solidFill>
              </a:rPr>
              <a:t>Objectif</a:t>
            </a:r>
            <a:endParaRPr lang="en-US" sz="1600">
              <a:solidFill>
                <a:schemeClr val="tx1">
                  <a:alpha val="80000"/>
                </a:schemeClr>
              </a:solidFill>
            </a:endParaRPr>
          </a:p>
          <a:p>
            <a:pPr lvl="0" indent="-228600" algn="l">
              <a:buFont typeface="Arial" panose="020B0604020202020204" pitchFamily="34" charset="0"/>
              <a:buChar char="•"/>
            </a:pPr>
            <a:r>
              <a:rPr lang="en-US" sz="1600">
                <a:solidFill>
                  <a:schemeClr val="tx1">
                    <a:alpha val="80000"/>
                  </a:schemeClr>
                </a:solidFill>
              </a:rPr>
              <a:t>Ajouter le nouveau persona.</a:t>
            </a:r>
          </a:p>
          <a:p>
            <a:pPr lvl="0" indent="-228600" algn="l">
              <a:buFont typeface="Arial" panose="020B0604020202020204" pitchFamily="34" charset="0"/>
              <a:buChar char="•"/>
            </a:pPr>
            <a:r>
              <a:rPr lang="en-US" sz="1600">
                <a:solidFill>
                  <a:schemeClr val="tx1">
                    <a:alpha val="80000"/>
                  </a:schemeClr>
                </a:solidFill>
              </a:rPr>
              <a:t>Mettre à jour le Product Backlog.</a:t>
            </a:r>
          </a:p>
          <a:p>
            <a:pPr lvl="0" indent="-228600" algn="l">
              <a:buFont typeface="Arial" panose="020B0604020202020204" pitchFamily="34" charset="0"/>
              <a:buChar char="•"/>
            </a:pPr>
            <a:r>
              <a:rPr lang="en-US" sz="1600">
                <a:solidFill>
                  <a:schemeClr val="tx1">
                    <a:alpha val="80000"/>
                  </a:schemeClr>
                </a:solidFill>
              </a:rPr>
              <a:t>Reprioriser les User Stories avec la méthode </a:t>
            </a:r>
            <a:r>
              <a:rPr lang="en-US" sz="1600" b="1">
                <a:solidFill>
                  <a:schemeClr val="tx1">
                    <a:alpha val="80000"/>
                  </a:schemeClr>
                </a:solidFill>
              </a:rPr>
              <a:t>MoSCoW</a:t>
            </a:r>
            <a:r>
              <a:rPr lang="en-US" sz="1600">
                <a:solidFill>
                  <a:schemeClr val="tx1">
                    <a:alpha val="80000"/>
                  </a:schemeClr>
                </a:solidFill>
              </a:rPr>
              <a:t>.</a:t>
            </a:r>
          </a:p>
          <a:p>
            <a:pPr lvl="0" indent="-228600" algn="l">
              <a:buFont typeface="Arial" panose="020B0604020202020204" pitchFamily="34" charset="0"/>
              <a:buChar char="•"/>
            </a:pPr>
            <a:r>
              <a:rPr lang="en-US" sz="1600">
                <a:solidFill>
                  <a:schemeClr val="tx1">
                    <a:alpha val="80000"/>
                  </a:schemeClr>
                </a:solidFill>
              </a:rPr>
              <a:t>Adapter le Sprint Backlog.</a:t>
            </a:r>
          </a:p>
          <a:p>
            <a:pPr indent="-228600" algn="l">
              <a:buFont typeface="Arial" panose="020B0604020202020204" pitchFamily="34" charset="0"/>
              <a:buChar char="•"/>
            </a:pPr>
            <a:r>
              <a:rPr lang="en-US" sz="1600" b="1">
                <a:solidFill>
                  <a:schemeClr val="tx1">
                    <a:alpha val="80000"/>
                  </a:schemeClr>
                </a:solidFill>
              </a:rPr>
              <a:t>Compétence évaluée :</a:t>
            </a:r>
            <a:r>
              <a:rPr lang="en-US" sz="1600">
                <a:solidFill>
                  <a:schemeClr val="tx1">
                    <a:alpha val="80000"/>
                  </a:schemeClr>
                </a:solidFill>
              </a:rPr>
              <a:t> capacité à gérer l'évolution des besoins dans un projet Agile.</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389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D009D7-621D-0D71-ECDF-A53494ED42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DAA9FFBE-918C-4B78-B056-F3B2B6CBF35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000" b="1" kern="1200">
                <a:solidFill>
                  <a:srgbClr val="FFFFFF"/>
                </a:solidFill>
                <a:latin typeface="+mj-lt"/>
                <a:ea typeface="+mj-ea"/>
                <a:cs typeface="+mj-cs"/>
              </a:rPr>
              <a:t>Perturbation J2 : La latence inacceptable (Technique)</a:t>
            </a:r>
            <a:endParaRPr lang="en-US" sz="50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364C713-5D71-EF89-706C-5E01A5912552}"/>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b="1">
                <a:solidFill>
                  <a:schemeClr val="tx1">
                    <a:alpha val="80000"/>
                  </a:schemeClr>
                </a:solidFill>
              </a:rPr>
              <a:t>Contexte</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Les utilisateurs trouvent que la génération des quiz est trop lente. Le Product Owner demande d'améliorer les performances sans dégrader la qualité des questions générées.</a:t>
            </a:r>
          </a:p>
          <a:p>
            <a:pPr indent="-228600" algn="l">
              <a:buFont typeface="Arial" panose="020B0604020202020204" pitchFamily="34" charset="0"/>
              <a:buChar char="•"/>
            </a:pPr>
            <a:r>
              <a:rPr lang="en-US" sz="1700" b="1">
                <a:solidFill>
                  <a:schemeClr val="tx1">
                    <a:alpha val="80000"/>
                  </a:schemeClr>
                </a:solidFill>
              </a:rPr>
              <a:t>Pourquoi cette perturbation ?</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L'équipe doit prendre une décision technique justifiée, basée sur des mesures objectives et non sur des impressions.</a:t>
            </a:r>
          </a:p>
          <a:p>
            <a:pPr indent="-228600" algn="l">
              <a:buFont typeface="Arial" panose="020B0604020202020204" pitchFamily="34" charset="0"/>
              <a:buChar char="•"/>
            </a:pPr>
            <a:r>
              <a:rPr lang="en-US" sz="1700" b="1">
                <a:solidFill>
                  <a:schemeClr val="tx1">
                    <a:alpha val="80000"/>
                  </a:schemeClr>
                </a:solidFill>
              </a:rPr>
              <a:t>Objectif</a:t>
            </a:r>
            <a:endParaRPr lang="en-US" sz="1700">
              <a:solidFill>
                <a:schemeClr val="tx1">
                  <a:alpha val="80000"/>
                </a:schemeClr>
              </a:solidFill>
            </a:endParaRPr>
          </a:p>
          <a:p>
            <a:pPr lvl="0" indent="-228600" algn="l">
              <a:buFont typeface="Arial" panose="020B0604020202020204" pitchFamily="34" charset="0"/>
              <a:buChar char="•"/>
            </a:pPr>
            <a:r>
              <a:rPr lang="en-US" sz="1700">
                <a:solidFill>
                  <a:schemeClr val="tx1">
                    <a:alpha val="80000"/>
                  </a:schemeClr>
                </a:solidFill>
              </a:rPr>
              <a:t>Réaliser un benchmark des modèles LLM.</a:t>
            </a:r>
          </a:p>
          <a:p>
            <a:pPr lvl="0" indent="-228600" algn="l">
              <a:buFont typeface="Arial" panose="020B0604020202020204" pitchFamily="34" charset="0"/>
              <a:buChar char="•"/>
            </a:pPr>
            <a:r>
              <a:rPr lang="en-US" sz="1700">
                <a:solidFill>
                  <a:schemeClr val="tx1">
                    <a:alpha val="80000"/>
                  </a:schemeClr>
                </a:solidFill>
              </a:rPr>
              <a:t>Comparer les performances.</a:t>
            </a:r>
          </a:p>
          <a:p>
            <a:pPr lvl="0" indent="-228600" algn="l">
              <a:buFont typeface="Arial" panose="020B0604020202020204" pitchFamily="34" charset="0"/>
              <a:buChar char="•"/>
            </a:pPr>
            <a:r>
              <a:rPr lang="en-US" sz="1700">
                <a:solidFill>
                  <a:schemeClr val="tx1">
                    <a:alpha val="80000"/>
                  </a:schemeClr>
                </a:solidFill>
              </a:rPr>
              <a:t>Choisir le meilleur modèle.</a:t>
            </a:r>
          </a:p>
          <a:p>
            <a:pPr lvl="0" indent="-228600" algn="l">
              <a:buFont typeface="Arial" panose="020B0604020202020204" pitchFamily="34" charset="0"/>
              <a:buChar char="•"/>
            </a:pPr>
            <a:r>
              <a:rPr lang="en-US" sz="1700">
                <a:solidFill>
                  <a:schemeClr val="tx1">
                    <a:alpha val="80000"/>
                  </a:schemeClr>
                </a:solidFill>
              </a:rPr>
              <a:t>Justifier ce choix dans un </a:t>
            </a:r>
            <a:r>
              <a:rPr lang="en-US" sz="1700" b="1">
                <a:solidFill>
                  <a:schemeClr val="tx1">
                    <a:alpha val="80000"/>
                  </a:schemeClr>
                </a:solidFill>
              </a:rPr>
              <a:t>ADR (Architecture Decision Record)</a:t>
            </a:r>
            <a:r>
              <a:rPr lang="en-US" sz="1700">
                <a:solidFill>
                  <a:schemeClr val="tx1">
                    <a:alpha val="80000"/>
                  </a:schemeClr>
                </a:solidFill>
              </a:rPr>
              <a:t>.</a:t>
            </a:r>
          </a:p>
          <a:p>
            <a:pPr lvl="0" indent="-228600" algn="l">
              <a:buFont typeface="Arial" panose="020B0604020202020204" pitchFamily="34" charset="0"/>
              <a:buChar char="•"/>
            </a:pPr>
            <a:r>
              <a:rPr lang="en-US" sz="1700">
                <a:solidFill>
                  <a:schemeClr val="tx1">
                    <a:alpha val="80000"/>
                  </a:schemeClr>
                </a:solidFill>
              </a:rPr>
              <a:t>Adapter l'application à l'aide d'un système feature flag.</a:t>
            </a:r>
          </a:p>
          <a:p>
            <a:pPr indent="-228600" algn="l">
              <a:buFont typeface="Arial" panose="020B0604020202020204" pitchFamily="34" charset="0"/>
              <a:buChar char="•"/>
            </a:pPr>
            <a:r>
              <a:rPr lang="en-US" sz="1700" b="1">
                <a:solidFill>
                  <a:schemeClr val="tx1">
                    <a:alpha val="80000"/>
                  </a:schemeClr>
                </a:solidFill>
              </a:rPr>
              <a:t>Compétence évaluée :</a:t>
            </a:r>
            <a:r>
              <a:rPr lang="en-US" sz="1700">
                <a:solidFill>
                  <a:schemeClr val="tx1">
                    <a:alpha val="80000"/>
                  </a:schemeClr>
                </a:solidFill>
              </a:rPr>
              <a:t> prise de décision technique argumentée.</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03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4B5592-776A-A23B-AA82-FBE1EF86FD5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5C7EF0F9-3097-9927-1B61-FF7932C695D5}"/>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Perturbation J3 : Prompt Injection (Sécurité)</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5330570-6405-95AF-2783-1466693D51C1}"/>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b="1">
                <a:solidFill>
                  <a:schemeClr val="tx1">
                    <a:alpha val="80000"/>
                  </a:schemeClr>
                </a:solidFill>
              </a:rPr>
              <a:t>Contexte</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Une faille de sécurité est découverte : un utilisateur peut intégrer des instructions cachées dans un document afin de modifier le comportement du modèle d'intelligence artificielle.</a:t>
            </a:r>
          </a:p>
          <a:p>
            <a:pPr indent="-228600" algn="l">
              <a:buFont typeface="Arial" panose="020B0604020202020204" pitchFamily="34" charset="0"/>
              <a:buChar char="•"/>
            </a:pPr>
            <a:r>
              <a:rPr lang="en-US" sz="1700" b="1">
                <a:solidFill>
                  <a:schemeClr val="tx1">
                    <a:alpha val="80000"/>
                  </a:schemeClr>
                </a:solidFill>
              </a:rPr>
              <a:t>Pourquoi cette perturbation ?</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Les applications utilisant des LLM sont exposées aux attaques de </a:t>
            </a:r>
            <a:r>
              <a:rPr lang="en-US" sz="1700" b="1">
                <a:solidFill>
                  <a:schemeClr val="tx1">
                    <a:alpha val="80000"/>
                  </a:schemeClr>
                </a:solidFill>
              </a:rPr>
              <a:t>Prompt Injection (OWASP LLM Top 10)</a:t>
            </a:r>
            <a:r>
              <a:rPr lang="en-US" sz="1700">
                <a:solidFill>
                  <a:schemeClr val="tx1">
                    <a:alpha val="80000"/>
                  </a:schemeClr>
                </a:solidFill>
              </a:rPr>
              <a:t>. Il est donc nécessaire de renforcer la sécurité avant toute mise en production.</a:t>
            </a:r>
          </a:p>
          <a:p>
            <a:pPr indent="-228600" algn="l">
              <a:buFont typeface="Arial" panose="020B0604020202020204" pitchFamily="34" charset="0"/>
              <a:buChar char="•"/>
            </a:pPr>
            <a:r>
              <a:rPr lang="en-US" sz="1700" b="1">
                <a:solidFill>
                  <a:schemeClr val="tx1">
                    <a:alpha val="80000"/>
                  </a:schemeClr>
                </a:solidFill>
              </a:rPr>
              <a:t>Objectif</a:t>
            </a:r>
            <a:endParaRPr lang="en-US" sz="1700">
              <a:solidFill>
                <a:schemeClr val="tx1">
                  <a:alpha val="80000"/>
                </a:schemeClr>
              </a:solidFill>
            </a:endParaRPr>
          </a:p>
          <a:p>
            <a:pPr lvl="0" indent="-228600" algn="l">
              <a:buFont typeface="Arial" panose="020B0604020202020204" pitchFamily="34" charset="0"/>
              <a:buChar char="•"/>
            </a:pPr>
            <a:r>
              <a:rPr lang="en-US" sz="1700">
                <a:solidFill>
                  <a:schemeClr val="tx1">
                    <a:alpha val="80000"/>
                  </a:schemeClr>
                </a:solidFill>
              </a:rPr>
              <a:t>Identifier la vulnérabilité.</a:t>
            </a:r>
          </a:p>
          <a:p>
            <a:pPr lvl="0" indent="-228600" algn="l">
              <a:buFont typeface="Arial" panose="020B0604020202020204" pitchFamily="34" charset="0"/>
              <a:buChar char="•"/>
            </a:pPr>
            <a:r>
              <a:rPr lang="en-US" sz="1700">
                <a:solidFill>
                  <a:schemeClr val="tx1">
                    <a:alpha val="80000"/>
                  </a:schemeClr>
                </a:solidFill>
              </a:rPr>
              <a:t>Mettre en place un patch en </a:t>
            </a:r>
            <a:r>
              <a:rPr lang="en-US" sz="1700" b="1">
                <a:solidFill>
                  <a:schemeClr val="tx1">
                    <a:alpha val="80000"/>
                  </a:schemeClr>
                </a:solidFill>
              </a:rPr>
              <a:t>4 couches</a:t>
            </a:r>
            <a:r>
              <a:rPr lang="en-US" sz="1700">
                <a:solidFill>
                  <a:schemeClr val="tx1">
                    <a:alpha val="80000"/>
                  </a:schemeClr>
                </a:solidFill>
              </a:rPr>
              <a:t>.</a:t>
            </a:r>
          </a:p>
          <a:p>
            <a:pPr lvl="0" indent="-228600" algn="l">
              <a:buFont typeface="Arial" panose="020B0604020202020204" pitchFamily="34" charset="0"/>
              <a:buChar char="•"/>
            </a:pPr>
            <a:r>
              <a:rPr lang="en-US" sz="1700">
                <a:solidFill>
                  <a:schemeClr val="tx1">
                    <a:alpha val="80000"/>
                  </a:schemeClr>
                </a:solidFill>
              </a:rPr>
              <a:t>Ajouter des tests adversariaux.</a:t>
            </a:r>
          </a:p>
          <a:p>
            <a:pPr lvl="0" indent="-228600" algn="l">
              <a:buFont typeface="Arial" panose="020B0604020202020204" pitchFamily="34" charset="0"/>
              <a:buChar char="•"/>
            </a:pPr>
            <a:r>
              <a:rPr lang="en-US" sz="1700">
                <a:solidFill>
                  <a:schemeClr val="tx1">
                    <a:alpha val="80000"/>
                  </a:schemeClr>
                </a:solidFill>
              </a:rPr>
              <a:t>Documenter les mesures de sécurité.</a:t>
            </a:r>
          </a:p>
          <a:p>
            <a:pPr indent="-228600" algn="l">
              <a:buFont typeface="Arial" panose="020B0604020202020204" pitchFamily="34" charset="0"/>
              <a:buChar char="•"/>
            </a:pPr>
            <a:r>
              <a:rPr lang="en-US" sz="1700" b="1">
                <a:solidFill>
                  <a:schemeClr val="tx1">
                    <a:alpha val="80000"/>
                  </a:schemeClr>
                </a:solidFill>
              </a:rPr>
              <a:t>Compétence évaluée :</a:t>
            </a:r>
            <a:r>
              <a:rPr lang="en-US" sz="1700">
                <a:solidFill>
                  <a:schemeClr val="tx1">
                    <a:alpha val="80000"/>
                  </a:schemeClr>
                </a:solidFill>
              </a:rPr>
              <a:t> sécurisation d'une application utilisant un LLM.</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0106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1DD84-FD87-61E6-85E0-C0E549225A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4B6C09BF-BABF-E319-3057-22010A2C4BFB}"/>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Perturbation J3-bis : Demande RGPD</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EA49B55-CC10-048D-01D9-F2E478765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b="1">
                <a:solidFill>
                  <a:schemeClr val="tx1">
                    <a:alpha val="80000"/>
                  </a:schemeClr>
                </a:solidFill>
              </a:rPr>
              <a:t>Contexte</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En pleine finalisation du MVP, un utilisateur exerce ses droits RGPD et demande l'accès à l'ensemble de ses données personnelles.</a:t>
            </a:r>
          </a:p>
          <a:p>
            <a:pPr indent="-228600" algn="l">
              <a:buFont typeface="Arial" panose="020B0604020202020204" pitchFamily="34" charset="0"/>
              <a:buChar char="•"/>
            </a:pPr>
            <a:r>
              <a:rPr lang="en-US" sz="1700" b="1">
                <a:solidFill>
                  <a:schemeClr val="tx1">
                    <a:alpha val="80000"/>
                  </a:schemeClr>
                </a:solidFill>
              </a:rPr>
              <a:t>Pourquoi cette perturbation ?</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Même lorsqu'un produit est fonctionnel, il doit respecter les obligations réglementaires liées au traitement des données personnelles.</a:t>
            </a:r>
          </a:p>
          <a:p>
            <a:pPr indent="-228600" algn="l">
              <a:buFont typeface="Arial" panose="020B0604020202020204" pitchFamily="34" charset="0"/>
              <a:buChar char="•"/>
            </a:pPr>
            <a:r>
              <a:rPr lang="en-US" sz="1700" b="1">
                <a:solidFill>
                  <a:schemeClr val="tx1">
                    <a:alpha val="80000"/>
                  </a:schemeClr>
                </a:solidFill>
              </a:rPr>
              <a:t>Objectif</a:t>
            </a:r>
            <a:endParaRPr lang="en-US" sz="1700">
              <a:solidFill>
                <a:schemeClr val="tx1">
                  <a:alpha val="80000"/>
                </a:schemeClr>
              </a:solidFill>
            </a:endParaRPr>
          </a:p>
          <a:p>
            <a:pPr lvl="0" indent="-228600" algn="l">
              <a:buFont typeface="Arial" panose="020B0604020202020204" pitchFamily="34" charset="0"/>
              <a:buChar char="•"/>
            </a:pPr>
            <a:r>
              <a:rPr lang="en-US" sz="1700">
                <a:solidFill>
                  <a:schemeClr val="tx1">
                    <a:alpha val="80000"/>
                  </a:schemeClr>
                </a:solidFill>
              </a:rPr>
              <a:t>Prioriser la demande.</a:t>
            </a:r>
          </a:p>
          <a:p>
            <a:pPr lvl="0" indent="-228600" algn="l">
              <a:buFont typeface="Arial" panose="020B0604020202020204" pitchFamily="34" charset="0"/>
              <a:buChar char="•"/>
            </a:pPr>
            <a:r>
              <a:rPr lang="en-US" sz="1700">
                <a:solidFill>
                  <a:schemeClr val="tx1">
                    <a:alpha val="80000"/>
                  </a:schemeClr>
                </a:solidFill>
              </a:rPr>
              <a:t>Préparer une réponse à un </a:t>
            </a:r>
            <a:r>
              <a:rPr lang="en-US" sz="1700" b="1">
                <a:solidFill>
                  <a:schemeClr val="tx1">
                    <a:alpha val="80000"/>
                  </a:schemeClr>
                </a:solidFill>
              </a:rPr>
              <a:t>SAR (Subject Access Request)</a:t>
            </a:r>
            <a:r>
              <a:rPr lang="en-US" sz="1700">
                <a:solidFill>
                  <a:schemeClr val="tx1">
                    <a:alpha val="80000"/>
                  </a:schemeClr>
                </a:solidFill>
              </a:rPr>
              <a:t>.</a:t>
            </a:r>
          </a:p>
          <a:p>
            <a:pPr lvl="0" indent="-228600" algn="l">
              <a:buFont typeface="Arial" panose="020B0604020202020204" pitchFamily="34" charset="0"/>
              <a:buChar char="•"/>
            </a:pPr>
            <a:r>
              <a:rPr lang="en-US" sz="1700">
                <a:solidFill>
                  <a:schemeClr val="tx1">
                    <a:alpha val="80000"/>
                  </a:schemeClr>
                </a:solidFill>
              </a:rPr>
              <a:t>Mettre à jour les documents RGPD.</a:t>
            </a:r>
          </a:p>
          <a:p>
            <a:pPr lvl="0" indent="-228600" algn="l">
              <a:buFont typeface="Arial" panose="020B0604020202020204" pitchFamily="34" charset="0"/>
              <a:buChar char="•"/>
            </a:pPr>
            <a:r>
              <a:rPr lang="en-US" sz="1700">
                <a:solidFill>
                  <a:schemeClr val="tx1">
                    <a:alpha val="80000"/>
                  </a:schemeClr>
                </a:solidFill>
              </a:rPr>
              <a:t>Vérifier la conformité de l'application.</a:t>
            </a:r>
          </a:p>
          <a:p>
            <a:pPr indent="-228600" algn="l">
              <a:buFont typeface="Arial" panose="020B0604020202020204" pitchFamily="34" charset="0"/>
              <a:buChar char="•"/>
            </a:pPr>
            <a:r>
              <a:rPr lang="en-US" sz="1700" b="1">
                <a:solidFill>
                  <a:schemeClr val="tx1">
                    <a:alpha val="80000"/>
                  </a:schemeClr>
                </a:solidFill>
              </a:rPr>
              <a:t>Compétence évaluée :</a:t>
            </a:r>
            <a:r>
              <a:rPr lang="en-US" sz="1700">
                <a:solidFill>
                  <a:schemeClr val="tx1">
                    <a:alpha val="80000"/>
                  </a:schemeClr>
                </a:solidFill>
              </a:rPr>
              <a:t> prise en compte des exigences réglementaires dans un projet logiciel.</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0811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1851C5-FBAC-BA3E-CA84-9749C15696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B525DF5C-E078-E3F0-A1BB-C34FD7D2681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Perturbation J4 : Le retour de Mme Lefèvre</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16B9B0F-6F2D-300F-868C-5C0DBC6DB199}"/>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b="1">
                <a:solidFill>
                  <a:schemeClr val="tx1">
                    <a:alpha val="80000"/>
                  </a:schemeClr>
                </a:solidFill>
              </a:rPr>
              <a:t>Contexte</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Après avoir utilisé l'application, Mme Lefèvre remonte plusieurs problèmes et propose des améliorations. L'équipe doit gérer ce retour tout en préparant la livraison finale.</a:t>
            </a:r>
          </a:p>
          <a:p>
            <a:pPr indent="-228600" algn="l">
              <a:buFont typeface="Arial" panose="020B0604020202020204" pitchFamily="34" charset="0"/>
              <a:buChar char="•"/>
            </a:pPr>
            <a:r>
              <a:rPr lang="en-US" sz="1700" b="1">
                <a:solidFill>
                  <a:schemeClr val="tx1">
                    <a:alpha val="80000"/>
                  </a:schemeClr>
                </a:solidFill>
              </a:rPr>
              <a:t>Pourquoi cette perturbation ?</a:t>
            </a:r>
            <a:endParaRPr lang="en-US" sz="1700">
              <a:solidFill>
                <a:schemeClr val="tx1">
                  <a:alpha val="80000"/>
                </a:schemeClr>
              </a:solidFill>
            </a:endParaRPr>
          </a:p>
          <a:p>
            <a:pPr indent="-228600" algn="l">
              <a:buFont typeface="Arial" panose="020B0604020202020204" pitchFamily="34" charset="0"/>
              <a:buChar char="•"/>
            </a:pPr>
            <a:r>
              <a:rPr lang="en-US" sz="1700">
                <a:solidFill>
                  <a:schemeClr val="tx1">
                    <a:alpha val="80000"/>
                  </a:schemeClr>
                </a:solidFill>
              </a:rPr>
              <a:t>La qualité d'un produit ne dépend pas uniquement du développement, mais également de la capacité à intégrer les retours utilisateurs et à préparer les évolutions futures.</a:t>
            </a:r>
          </a:p>
          <a:p>
            <a:pPr indent="-228600" algn="l">
              <a:buFont typeface="Arial" panose="020B0604020202020204" pitchFamily="34" charset="0"/>
              <a:buChar char="•"/>
            </a:pPr>
            <a:r>
              <a:rPr lang="en-US" sz="1700" b="1">
                <a:solidFill>
                  <a:schemeClr val="tx1">
                    <a:alpha val="80000"/>
                  </a:schemeClr>
                </a:solidFill>
              </a:rPr>
              <a:t>Objectif</a:t>
            </a:r>
            <a:endParaRPr lang="en-US" sz="1700">
              <a:solidFill>
                <a:schemeClr val="tx1">
                  <a:alpha val="80000"/>
                </a:schemeClr>
              </a:solidFill>
            </a:endParaRPr>
          </a:p>
          <a:p>
            <a:pPr lvl="0" indent="-228600" algn="l">
              <a:buFont typeface="Arial" panose="020B0604020202020204" pitchFamily="34" charset="0"/>
              <a:buChar char="•"/>
            </a:pPr>
            <a:r>
              <a:rPr lang="en-US" sz="1700">
                <a:solidFill>
                  <a:schemeClr val="tx1">
                    <a:alpha val="80000"/>
                  </a:schemeClr>
                </a:solidFill>
              </a:rPr>
              <a:t>Analyser les retours.</a:t>
            </a:r>
          </a:p>
          <a:p>
            <a:pPr lvl="0" indent="-228600" algn="l">
              <a:buFont typeface="Arial" panose="020B0604020202020204" pitchFamily="34" charset="0"/>
              <a:buChar char="•"/>
            </a:pPr>
            <a:r>
              <a:rPr lang="en-US" sz="1700">
                <a:solidFill>
                  <a:schemeClr val="tx1">
                    <a:alpha val="80000"/>
                  </a:schemeClr>
                </a:solidFill>
              </a:rPr>
              <a:t>Corriger les anomalies prioritaires.</a:t>
            </a:r>
          </a:p>
          <a:p>
            <a:pPr lvl="0" indent="-228600" algn="l">
              <a:buFont typeface="Arial" panose="020B0604020202020204" pitchFamily="34" charset="0"/>
              <a:buChar char="•"/>
            </a:pPr>
            <a:r>
              <a:rPr lang="en-US" sz="1700">
                <a:solidFill>
                  <a:schemeClr val="tx1">
                    <a:alpha val="80000"/>
                  </a:schemeClr>
                </a:solidFill>
              </a:rPr>
              <a:t>Réaliser un </a:t>
            </a:r>
            <a:r>
              <a:rPr lang="en-US" sz="1700" b="1">
                <a:solidFill>
                  <a:schemeClr val="tx1">
                    <a:alpha val="80000"/>
                  </a:schemeClr>
                </a:solidFill>
              </a:rPr>
              <a:t>Post-Mortem blameless</a:t>
            </a:r>
            <a:r>
              <a:rPr lang="en-US" sz="1700">
                <a:solidFill>
                  <a:schemeClr val="tx1">
                    <a:alpha val="80000"/>
                  </a:schemeClr>
                </a:solidFill>
              </a:rPr>
              <a:t>.</a:t>
            </a:r>
          </a:p>
          <a:p>
            <a:pPr lvl="0" indent="-228600" algn="l">
              <a:buFont typeface="Arial" panose="020B0604020202020204" pitchFamily="34" charset="0"/>
              <a:buChar char="•"/>
            </a:pPr>
            <a:r>
              <a:rPr lang="en-US" sz="1700">
                <a:solidFill>
                  <a:schemeClr val="tx1">
                    <a:alpha val="80000"/>
                  </a:schemeClr>
                </a:solidFill>
              </a:rPr>
              <a:t>Préparer les fonctionnalités de la </a:t>
            </a:r>
            <a:r>
              <a:rPr lang="en-US" sz="1700" b="1">
                <a:solidFill>
                  <a:schemeClr val="tx1">
                    <a:alpha val="80000"/>
                  </a:schemeClr>
                </a:solidFill>
              </a:rPr>
              <a:t>Release 2</a:t>
            </a:r>
            <a:r>
              <a:rPr lang="en-US" sz="1700">
                <a:solidFill>
                  <a:schemeClr val="tx1">
                    <a:alpha val="80000"/>
                  </a:schemeClr>
                </a:solidFill>
              </a:rPr>
              <a:t> (ex. RAG, amélioration du feedback utilisateur).</a:t>
            </a:r>
          </a:p>
          <a:p>
            <a:pPr indent="-228600" algn="l">
              <a:buFont typeface="Arial" panose="020B0604020202020204" pitchFamily="34" charset="0"/>
              <a:buChar char="•"/>
            </a:pPr>
            <a:r>
              <a:rPr lang="en-US" sz="1700" b="1">
                <a:solidFill>
                  <a:schemeClr val="tx1">
                    <a:alpha val="80000"/>
                  </a:schemeClr>
                </a:solidFill>
              </a:rPr>
              <a:t>Compétence évaluée :</a:t>
            </a:r>
            <a:r>
              <a:rPr lang="en-US" sz="1700">
                <a:solidFill>
                  <a:schemeClr val="tx1">
                    <a:alpha val="80000"/>
                  </a:schemeClr>
                </a:solidFill>
              </a:rPr>
              <a:t> amélioration continue et gestion de la relation client.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705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93BC1FC-6059-BD7A-E9FC-C9E7D5B8A72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66C80E42-8EE9-7D6C-AB6F-D873278FA4DA}"/>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000" b="1" kern="1200">
                <a:solidFill>
                  <a:srgbClr val="FFFFFF"/>
                </a:solidFill>
                <a:latin typeface="+mj-lt"/>
                <a:ea typeface="+mj-ea"/>
                <a:cs typeface="+mj-cs"/>
              </a:rPr>
              <a:t>Bilan des perturbations</a:t>
            </a:r>
            <a:br>
              <a:rPr lang="en-US" sz="5000" kern="1200">
                <a:solidFill>
                  <a:srgbClr val="FFFFFF"/>
                </a:solidFill>
                <a:latin typeface="+mj-lt"/>
                <a:ea typeface="+mj-ea"/>
                <a:cs typeface="+mj-cs"/>
              </a:rPr>
            </a:br>
            <a:r>
              <a:rPr lang="en-US" sz="5000" b="1" kern="1200">
                <a:solidFill>
                  <a:srgbClr val="FFFFFF"/>
                </a:solidFill>
                <a:latin typeface="+mj-lt"/>
                <a:ea typeface="+mj-ea"/>
                <a:cs typeface="+mj-cs"/>
              </a:rPr>
              <a:t>Objectif global</a:t>
            </a:r>
            <a:endParaRPr lang="en-US" sz="50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11C4F25-F42D-D84F-E4E1-DA781E0CAAE3}"/>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a:solidFill>
                  <a:schemeClr val="tx1">
                    <a:alpha val="80000"/>
                  </a:schemeClr>
                </a:solidFill>
              </a:rPr>
              <a:t>Les perturbations ont permis de reproduire les contraintes d'un véritable projet informatique :</a:t>
            </a:r>
          </a:p>
          <a:p>
            <a:pPr marL="342900" lvl="0" indent="-228600" algn="l">
              <a:buFont typeface="Arial" panose="020B0604020202020204" pitchFamily="34" charset="0"/>
              <a:buChar char="•"/>
            </a:pPr>
            <a:r>
              <a:rPr lang="en-US" sz="1700">
                <a:solidFill>
                  <a:schemeClr val="tx1">
                    <a:alpha val="80000"/>
                  </a:schemeClr>
                </a:solidFill>
              </a:rPr>
              <a:t>📌 évolution des besoins métier ;</a:t>
            </a:r>
          </a:p>
          <a:p>
            <a:pPr marL="342900" lvl="0" indent="-228600" algn="l">
              <a:buFont typeface="Arial" panose="020B0604020202020204" pitchFamily="34" charset="0"/>
              <a:buChar char="•"/>
            </a:pPr>
            <a:r>
              <a:rPr lang="en-US" sz="1700">
                <a:solidFill>
                  <a:schemeClr val="tx1">
                    <a:alpha val="80000"/>
                  </a:schemeClr>
                </a:solidFill>
              </a:rPr>
              <a:t>⚙️ prise de décision technique ;</a:t>
            </a:r>
          </a:p>
          <a:p>
            <a:pPr marL="342900" lvl="0" indent="-228600" algn="l">
              <a:buFont typeface="Arial" panose="020B0604020202020204" pitchFamily="34" charset="0"/>
              <a:buChar char="•"/>
            </a:pPr>
            <a:r>
              <a:rPr lang="en-US" sz="1700">
                <a:solidFill>
                  <a:schemeClr val="tx1">
                    <a:alpha val="80000"/>
                  </a:schemeClr>
                </a:solidFill>
              </a:rPr>
              <a:t>🔒 sécurisation d'une IA générative ;</a:t>
            </a:r>
          </a:p>
          <a:p>
            <a:pPr marL="342900" lvl="0" indent="-228600" algn="l">
              <a:buFont typeface="Arial" panose="020B0604020202020204" pitchFamily="34" charset="0"/>
              <a:buChar char="•"/>
            </a:pPr>
            <a:r>
              <a:rPr lang="en-US" sz="1700">
                <a:solidFill>
                  <a:schemeClr val="tx1">
                    <a:alpha val="80000"/>
                  </a:schemeClr>
                </a:solidFill>
              </a:rPr>
              <a:t>⚖️ conformité RGPD ;</a:t>
            </a:r>
          </a:p>
          <a:p>
            <a:pPr marL="342900" lvl="0" indent="-228600" algn="l">
              <a:buFont typeface="Arial" panose="020B0604020202020204" pitchFamily="34" charset="0"/>
              <a:buChar char="•"/>
            </a:pPr>
            <a:r>
              <a:rPr lang="en-US" sz="1700">
                <a:solidFill>
                  <a:schemeClr val="tx1">
                    <a:alpha val="80000"/>
                  </a:schemeClr>
                </a:solidFill>
              </a:rPr>
              <a:t>🤝 prise en compte des retours utilisateurs.</a:t>
            </a:r>
          </a:p>
          <a:p>
            <a:pPr indent="-228600" algn="l">
              <a:buFont typeface="Arial" panose="020B0604020202020204" pitchFamily="34" charset="0"/>
              <a:buChar char="•"/>
            </a:pPr>
            <a:r>
              <a:rPr lang="en-US" sz="1700" b="1">
                <a:solidFill>
                  <a:schemeClr val="tx1">
                    <a:alpha val="80000"/>
                  </a:schemeClr>
                </a:solidFill>
              </a:rPr>
              <a:t>Ce que nous avons retenu</a:t>
            </a:r>
            <a:endParaRPr lang="en-US" sz="1700">
              <a:solidFill>
                <a:schemeClr val="tx1">
                  <a:alpha val="80000"/>
                </a:schemeClr>
              </a:solidFill>
            </a:endParaRPr>
          </a:p>
          <a:p>
            <a:pPr marL="342900" lvl="0" indent="-228600" algn="l">
              <a:buFont typeface="Arial" panose="020B0604020202020204" pitchFamily="34" charset="0"/>
              <a:buChar char="•"/>
            </a:pPr>
            <a:r>
              <a:rPr lang="en-US" sz="1700">
                <a:solidFill>
                  <a:schemeClr val="tx1">
                    <a:alpha val="80000"/>
                  </a:schemeClr>
                </a:solidFill>
              </a:rPr>
              <a:t>Une planification doit rester adaptable.</a:t>
            </a:r>
          </a:p>
          <a:p>
            <a:pPr marL="342900" lvl="0" indent="-228600" algn="l">
              <a:buFont typeface="Arial" panose="020B0604020202020204" pitchFamily="34" charset="0"/>
              <a:buChar char="•"/>
            </a:pPr>
            <a:r>
              <a:rPr lang="en-US" sz="1700">
                <a:solidFill>
                  <a:schemeClr val="tx1">
                    <a:alpha val="80000"/>
                  </a:schemeClr>
                </a:solidFill>
              </a:rPr>
              <a:t>Les décisions doivent être argumentées et documentées.</a:t>
            </a:r>
          </a:p>
          <a:p>
            <a:pPr marL="342900" lvl="0" indent="-228600" algn="l">
              <a:buFont typeface="Arial" panose="020B0604020202020204" pitchFamily="34" charset="0"/>
              <a:buChar char="•"/>
            </a:pPr>
            <a:r>
              <a:rPr lang="en-US" sz="1700">
                <a:solidFill>
                  <a:schemeClr val="tx1">
                    <a:alpha val="80000"/>
                  </a:schemeClr>
                </a:solidFill>
              </a:rPr>
              <a:t>La sécurité et la conformité sont des éléments essentiels du projet.</a:t>
            </a:r>
          </a:p>
          <a:p>
            <a:pPr marL="342900" lvl="0" indent="-228600" algn="l">
              <a:buFont typeface="Arial" panose="020B0604020202020204" pitchFamily="34" charset="0"/>
              <a:buChar char="•"/>
            </a:pPr>
            <a:r>
              <a:rPr lang="en-US" sz="1700">
                <a:solidFill>
                  <a:schemeClr val="tx1">
                    <a:alpha val="80000"/>
                  </a:schemeClr>
                </a:solidFill>
              </a:rPr>
              <a:t>Les retours utilisateurs permettent d'améliorer le produit en continu.</a:t>
            </a:r>
          </a:p>
          <a:p>
            <a:pPr indent="-228600" algn="l">
              <a:buFont typeface="Arial" panose="020B0604020202020204" pitchFamily="34" charset="0"/>
              <a:buChar char="•"/>
            </a:pPr>
            <a:r>
              <a:rPr lang="en-US" sz="1700">
                <a:solidFill>
                  <a:schemeClr val="tx1">
                    <a:alpha val="80000"/>
                  </a:schemeClr>
                </a:solidFill>
              </a:rPr>
              <a:t>Cette simulation nous a permis de mettre en pratique les principes Scrum dans un contexte proche d'un projet réel.</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389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7086EA-C929-2D8A-6DA3-9284E22D1E1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F1BBA19-7FBB-19A7-2A0E-B5C4DEF6AC5F}"/>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863057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Product
Vision Board</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Vision : </a:t>
            </a:r>
            <a:r>
              <a:rPr lang="fr-FR" sz="1600">
                <a:solidFill>
                  <a:schemeClr val="tx1">
                    <a:alpha val="80000"/>
                  </a:schemeClr>
                </a:solidFill>
              </a:rPr>
              <a:t>plateforme e-learning IA pour étudiants et formateurs, apprentissage innovant et RGPD by design.</a:t>
            </a:r>
          </a:p>
          <a:p>
            <a:pPr indent="-228600" algn="l">
              <a:buFont typeface="Arial" panose="020B0604020202020204" pitchFamily="34" charset="0"/>
              <a:buChar char="•"/>
            </a:pPr>
            <a:r>
              <a:rPr lang="fr-FR" sz="1600" b="1">
                <a:solidFill>
                  <a:schemeClr val="tx1">
                    <a:alpha val="80000"/>
                  </a:schemeClr>
                </a:solidFill>
              </a:rPr>
              <a:t>Cibles : </a:t>
            </a:r>
            <a:r>
              <a:rPr lang="fr-FR" sz="1600">
                <a:solidFill>
                  <a:schemeClr val="tx1">
                    <a:alpha val="80000"/>
                  </a:schemeClr>
                </a:solidFill>
              </a:rPr>
              <a:t>Stéphanie (étudiante IPSSI) · Mme Lefèvre (formatrice BTS) · Jean (administrateur).</a:t>
            </a:r>
          </a:p>
          <a:p>
            <a:pPr indent="-228600" algn="l">
              <a:buFont typeface="Arial" panose="020B0604020202020204" pitchFamily="34" charset="0"/>
              <a:buChar char="•"/>
            </a:pPr>
            <a:r>
              <a:rPr lang="fr-FR" sz="1600" b="1">
                <a:solidFill>
                  <a:schemeClr val="tx1">
                    <a:alpha val="80000"/>
                  </a:schemeClr>
                </a:solidFill>
              </a:rPr>
              <a:t>Besoins : </a:t>
            </a:r>
            <a:r>
              <a:rPr lang="fr-FR" sz="1600">
                <a:solidFill>
                  <a:schemeClr val="tx1">
                    <a:alpha val="80000"/>
                  </a:schemeClr>
                </a:solidFill>
              </a:rPr>
              <a:t>réviser efficacement, quiz personnalisés, suivi de la progression, confidentialité des données.</a:t>
            </a:r>
          </a:p>
          <a:p>
            <a:pPr indent="-228600" algn="l">
              <a:buFont typeface="Arial" panose="020B0604020202020204" pitchFamily="34" charset="0"/>
              <a:buChar char="•"/>
            </a:pPr>
            <a:r>
              <a:rPr lang="fr-FR" sz="1600" b="1">
                <a:solidFill>
                  <a:schemeClr val="tx1">
                    <a:alpha val="80000"/>
                  </a:schemeClr>
                </a:solidFill>
              </a:rPr>
              <a:t>Produit : </a:t>
            </a:r>
            <a:r>
              <a:rPr lang="fr-FR" sz="1600">
                <a:solidFill>
                  <a:schemeClr val="tx1">
                    <a:alpha val="80000"/>
                  </a:schemeClr>
                </a:solidFill>
              </a:rPr>
              <a:t>supports de cours, génération de QCM par IA, visualisation des progrès, conformité RGPD.</a:t>
            </a:r>
          </a:p>
          <a:p>
            <a:pPr indent="-228600" algn="l">
              <a:buFont typeface="Arial" panose="020B0604020202020204" pitchFamily="34" charset="0"/>
              <a:buChar char="•"/>
            </a:pPr>
            <a:r>
              <a:rPr lang="fr-FR" sz="1600" b="1">
                <a:solidFill>
                  <a:schemeClr val="tx1">
                    <a:alpha val="80000"/>
                  </a:schemeClr>
                </a:solidFill>
              </a:rPr>
              <a:t>Différenciateurs : </a:t>
            </a:r>
            <a:r>
              <a:rPr lang="fr-FR" sz="1600">
                <a:solidFill>
                  <a:schemeClr val="tx1">
                    <a:alpha val="80000"/>
                  </a:schemeClr>
                </a:solidFill>
              </a:rPr>
              <a:t>enseignant-first · génération ancrée RAG (traçable) · local-first via Ollama.</a:t>
            </a:r>
          </a:p>
          <a:p>
            <a:pPr indent="-228600" algn="l">
              <a:buFont typeface="Arial" panose="020B0604020202020204" pitchFamily="34" charset="0"/>
              <a:buChar char="•"/>
            </a:pPr>
            <a:r>
              <a:rPr lang="fr-FR" sz="1600" b="1">
                <a:solidFill>
                  <a:schemeClr val="tx1">
                    <a:alpha val="80000"/>
                  </a:schemeClr>
                </a:solidFill>
              </a:rPr>
              <a:t>Objectifs : </a:t>
            </a:r>
            <a:r>
              <a:rPr lang="fr-FR" sz="1600">
                <a:solidFill>
                  <a:schemeClr val="tx1">
                    <a:alpha val="80000"/>
                  </a:schemeClr>
                </a:solidFill>
              </a:rPr>
              <a:t>500 inscrits le 1er mois · 300 étudiants/jour · complétion quiz &gt; 75 % · 20 formateurs/jour.</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7227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Fiches
Personas</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portraits fictifs mais réalistes des utilisateurs types.</a:t>
            </a:r>
          </a:p>
          <a:p>
            <a:pPr indent="-228600" algn="l">
              <a:buFont typeface="Arial" panose="020B0604020202020204" pitchFamily="34" charset="0"/>
              <a:buChar char="•"/>
            </a:pPr>
            <a:r>
              <a:rPr lang="fr-FR" sz="1600" b="1">
                <a:solidFill>
                  <a:schemeClr val="tx1">
                    <a:alpha val="80000"/>
                  </a:schemeClr>
                </a:solidFill>
              </a:rPr>
              <a:t>Stéphanie, 22 ans : </a:t>
            </a:r>
            <a:r>
              <a:rPr lang="fr-FR" sz="1600">
                <a:solidFill>
                  <a:schemeClr val="tx1">
                    <a:alpha val="80000"/>
                  </a:schemeClr>
                </a:solidFill>
              </a:rPr>
              <a:t>étudiante à l'IPSSI, révise sur mobile, veut des quiz rapides.</a:t>
            </a:r>
          </a:p>
          <a:p>
            <a:pPr indent="-228600" algn="l">
              <a:buFont typeface="Arial" panose="020B0604020202020204" pitchFamily="34" charset="0"/>
              <a:buChar char="•"/>
            </a:pPr>
            <a:r>
              <a:rPr lang="fr-FR" sz="1600" b="1">
                <a:solidFill>
                  <a:schemeClr val="tx1">
                    <a:alpha val="80000"/>
                  </a:schemeClr>
                </a:solidFill>
              </a:rPr>
              <a:t>Mme Lefèvre, 42 ans : </a:t>
            </a:r>
            <a:r>
              <a:rPr lang="fr-FR" sz="1600">
                <a:solidFill>
                  <a:schemeClr val="tx1">
                    <a:alpha val="80000"/>
                  </a:schemeClr>
                </a:solidFill>
              </a:rPr>
              <a:t>formatrice BTS Comm à Lyon, veut créer des évaluations sans effort.</a:t>
            </a:r>
          </a:p>
          <a:p>
            <a:pPr indent="-228600" algn="l">
              <a:buFont typeface="Arial" panose="020B0604020202020204" pitchFamily="34" charset="0"/>
              <a:buChar char="•"/>
            </a:pPr>
            <a:r>
              <a:rPr lang="fr-FR" sz="1600" b="1">
                <a:solidFill>
                  <a:schemeClr val="tx1">
                    <a:alpha val="80000"/>
                  </a:schemeClr>
                </a:solidFill>
              </a:rPr>
              <a:t>Jean, 37 ans : </a:t>
            </a:r>
            <a:r>
              <a:rPr lang="fr-FR" sz="1600">
                <a:solidFill>
                  <a:schemeClr val="tx1">
                    <a:alpha val="80000"/>
                  </a:schemeClr>
                </a:solidFill>
              </a:rPr>
              <a:t>administrateur de la plateforme, priorité conformité RGPD et stabilité.</a:t>
            </a:r>
          </a:p>
          <a:p>
            <a:pPr indent="-228600" algn="l">
              <a:buFont typeface="Arial" panose="020B0604020202020204" pitchFamily="34" charset="0"/>
              <a:buChar char="•"/>
            </a:pPr>
            <a:r>
              <a:rPr lang="fr-FR" sz="1600" b="1">
                <a:solidFill>
                  <a:schemeClr val="tx1">
                    <a:alpha val="80000"/>
                  </a:schemeClr>
                </a:solidFill>
              </a:rPr>
              <a:t>Utilité : </a:t>
            </a:r>
            <a:r>
              <a:rPr lang="fr-FR" sz="1600">
                <a:solidFill>
                  <a:schemeClr val="tx1">
                    <a:alpha val="80000"/>
                  </a:schemeClr>
                </a:solidFill>
              </a:rPr>
              <a:t>chaque décision produit répond à un besoin réel identifié.</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6958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Customer
Journey</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carte des étapes vécues par l'utilisateur de bout en bout.</a:t>
            </a:r>
          </a:p>
          <a:p>
            <a:pPr indent="-228600" algn="l">
              <a:buFont typeface="Arial" panose="020B0604020202020204" pitchFamily="34" charset="0"/>
              <a:buChar char="•"/>
            </a:pPr>
            <a:r>
              <a:rPr lang="fr-FR" sz="1600" b="1">
                <a:solidFill>
                  <a:schemeClr val="tx1">
                    <a:alpha val="80000"/>
                  </a:schemeClr>
                </a:solidFill>
              </a:rPr>
              <a:t>Étapes : </a:t>
            </a:r>
            <a:r>
              <a:rPr lang="fr-FR" sz="1600">
                <a:solidFill>
                  <a:schemeClr val="tx1">
                    <a:alpha val="80000"/>
                  </a:schemeClr>
                </a:solidFill>
              </a:rPr>
              <a:t>Découverte → Inscription → Recherche / upload cours → Quiz 10 QCM → Score &amp; correction → Suivi.</a:t>
            </a:r>
          </a:p>
          <a:p>
            <a:pPr indent="-228600" algn="l">
              <a:buFont typeface="Arial" panose="020B0604020202020204" pitchFamily="34" charset="0"/>
              <a:buChar char="•"/>
            </a:pPr>
            <a:r>
              <a:rPr lang="fr-FR" sz="1600" b="1">
                <a:solidFill>
                  <a:schemeClr val="tx1">
                    <a:alpha val="80000"/>
                  </a:schemeClr>
                </a:solidFill>
              </a:rPr>
              <a:t>Points de friction : </a:t>
            </a:r>
            <a:r>
              <a:rPr lang="fr-FR" sz="1600">
                <a:solidFill>
                  <a:schemeClr val="tx1">
                    <a:alpha val="80000"/>
                  </a:schemeClr>
                </a:solidFill>
              </a:rPr>
              <a:t>identifiés à chaque étape pour prioriser les corrections.</a:t>
            </a:r>
          </a:p>
          <a:p>
            <a:pPr indent="-228600" algn="l">
              <a:buFont typeface="Arial" panose="020B0604020202020204" pitchFamily="34" charset="0"/>
              <a:buChar char="•"/>
            </a:pPr>
            <a:r>
              <a:rPr lang="fr-FR" sz="1600" b="1">
                <a:solidFill>
                  <a:schemeClr val="tx1">
                    <a:alpha val="80000"/>
                  </a:schemeClr>
                </a:solidFill>
              </a:rPr>
              <a:t>1 journey / persona : </a:t>
            </a:r>
            <a:r>
              <a:rPr lang="fr-FR" sz="1600">
                <a:solidFill>
                  <a:schemeClr val="tx1">
                    <a:alpha val="80000"/>
                  </a:schemeClr>
                </a:solidFill>
              </a:rPr>
              <a:t>Stéphanie et Mme Lefèvre ont des parcours distincts.</a:t>
            </a:r>
          </a:p>
          <a:p>
            <a:pPr indent="-228600" algn="l">
              <a:buFont typeface="Arial" panose="020B0604020202020204" pitchFamily="34" charset="0"/>
              <a:buChar char="•"/>
            </a:pPr>
            <a:r>
              <a:rPr lang="fr-FR" sz="1600" b="1">
                <a:solidFill>
                  <a:schemeClr val="tx1">
                    <a:alpha val="80000"/>
                  </a:schemeClr>
                </a:solidFill>
              </a:rPr>
              <a:t>Utilité : </a:t>
            </a:r>
            <a:r>
              <a:rPr lang="fr-FR" sz="1600">
                <a:solidFill>
                  <a:schemeClr val="tx1">
                    <a:alpha val="80000"/>
                  </a:schemeClr>
                </a:solidFill>
              </a:rPr>
              <a:t>concevoir pour l'utilisateur réel, pas pour soi.</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8400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Story Map</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carte 2D — activités utilisateur (colonnes) × niveaux MoSCoW (lignes), MVP en haut.</a:t>
            </a:r>
          </a:p>
          <a:p>
            <a:pPr indent="-228600" algn="l">
              <a:buFont typeface="Arial" panose="020B0604020202020204" pitchFamily="34" charset="0"/>
              <a:buChar char="•"/>
            </a:pPr>
            <a:r>
              <a:rPr lang="fr-FR" sz="1600" b="1">
                <a:solidFill>
                  <a:schemeClr val="tx1">
                    <a:alpha val="80000"/>
                  </a:schemeClr>
                </a:solidFill>
              </a:rPr>
              <a:t>Activités : </a:t>
            </a:r>
            <a:r>
              <a:rPr lang="fr-FR" sz="1600">
                <a:solidFill>
                  <a:schemeClr val="tx1">
                    <a:alpha val="80000"/>
                  </a:schemeClr>
                </a:solidFill>
              </a:rPr>
              <a:t>Découvrir · S'inscrire · Rechercher un cours · Échanges · Gamification · Analyse · Administration.</a:t>
            </a:r>
          </a:p>
          <a:p>
            <a:pPr indent="-228600" algn="l">
              <a:buFont typeface="Arial" panose="020B0604020202020204" pitchFamily="34" charset="0"/>
              <a:buChar char="•"/>
            </a:pPr>
            <a:r>
              <a:rPr lang="fr-FR" sz="1600" b="1">
                <a:solidFill>
                  <a:schemeClr val="tx1">
                    <a:alpha val="80000"/>
                  </a:schemeClr>
                </a:solidFill>
              </a:rPr>
              <a:t>MUST — Release 1 (F1-F6) : </a:t>
            </a:r>
            <a:r>
              <a:rPr lang="fr-FR" sz="1600">
                <a:solidFill>
                  <a:schemeClr val="tx1">
                    <a:alpha val="80000"/>
                  </a:schemeClr>
                </a:solidFill>
              </a:rPr>
              <a:t>inscription/connexion, upload cours, quiz 10 QCM, correction, score &amp; historique, admin.</a:t>
            </a:r>
          </a:p>
          <a:p>
            <a:pPr indent="-228600" algn="l">
              <a:buFont typeface="Arial" panose="020B0604020202020204" pitchFamily="34" charset="0"/>
              <a:buChar char="•"/>
            </a:pPr>
            <a:r>
              <a:rPr lang="fr-FR" sz="1600" b="1">
                <a:solidFill>
                  <a:schemeClr val="tx1">
                    <a:alpha val="80000"/>
                  </a:schemeClr>
                </a:solidFill>
              </a:rPr>
              <a:t>SHOULD — Release 2 : </a:t>
            </a:r>
            <a:r>
              <a:rPr lang="fr-FR" sz="1600">
                <a:solidFill>
                  <a:schemeClr val="tx1">
                    <a:alpha val="80000"/>
                  </a:schemeClr>
                </a:solidFill>
              </a:rPr>
              <a:t>avis, mot de passe oublié, barre de recherche, messagerie, quiz adaptatif.</a:t>
            </a:r>
          </a:p>
          <a:p>
            <a:pPr indent="-228600" algn="l">
              <a:buFont typeface="Arial" panose="020B0604020202020204" pitchFamily="34" charset="0"/>
              <a:buChar char="•"/>
            </a:pPr>
            <a:r>
              <a:rPr lang="fr-FR" sz="1600" b="1">
                <a:solidFill>
                  <a:schemeClr val="tx1">
                    <a:alpha val="80000"/>
                  </a:schemeClr>
                </a:solidFill>
              </a:rPr>
              <a:t>COULD — Release 2 : </a:t>
            </a:r>
            <a:r>
              <a:rPr lang="fr-FR" sz="1600">
                <a:solidFill>
                  <a:schemeClr val="tx1">
                    <a:alpha val="80000"/>
                  </a:schemeClr>
                </a:solidFill>
              </a:rPr>
              <a:t>connexion Google, suggestions, notation prof, graphique de progression.</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61018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Release
Planning</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7 sprints (demi-journée) + cadrage + soutenance, planifiés sur 2 releases.</a:t>
            </a:r>
          </a:p>
          <a:p>
            <a:pPr indent="-228600" algn="l">
              <a:buFont typeface="Arial" panose="020B0604020202020204" pitchFamily="34" charset="0"/>
              <a:buChar char="•"/>
            </a:pPr>
            <a:r>
              <a:rPr lang="fr-FR" sz="1600" b="1">
                <a:solidFill>
                  <a:schemeClr val="tx1">
                    <a:alpha val="80000"/>
                  </a:schemeClr>
                </a:solidFill>
              </a:rPr>
              <a:t>Capacité : </a:t>
            </a:r>
            <a:r>
              <a:rPr lang="fr-FR" sz="1600">
                <a:solidFill>
                  <a:schemeClr val="tx1">
                    <a:alpha val="80000"/>
                  </a:schemeClr>
                </a:solidFill>
              </a:rPr>
              <a:t>équipe de 7 · 203 h-pers · vélocité cible 48 SP sur la semaine.</a:t>
            </a:r>
          </a:p>
          <a:p>
            <a:pPr indent="-228600" algn="l">
              <a:buFont typeface="Arial" panose="020B0604020202020204" pitchFamily="34" charset="0"/>
              <a:buChar char="•"/>
            </a:pPr>
            <a:r>
              <a:rPr lang="fr-FR" sz="1600" b="1">
                <a:solidFill>
                  <a:schemeClr val="tx1">
                    <a:alpha val="80000"/>
                  </a:schemeClr>
                </a:solidFill>
              </a:rPr>
              <a:t>Sprints 1-5 (lun→mer) : </a:t>
            </a:r>
            <a:r>
              <a:rPr lang="fr-FR" sz="1600">
                <a:solidFill>
                  <a:schemeClr val="tx1">
                    <a:alpha val="80000"/>
                  </a:schemeClr>
                </a:solidFill>
              </a:rPr>
              <a:t>setup, inscription/connexion, upload cours, génération de quiz &amp; historiques, admin.</a:t>
            </a:r>
          </a:p>
          <a:p>
            <a:pPr indent="-228600" algn="l">
              <a:buFont typeface="Arial" panose="020B0604020202020204" pitchFamily="34" charset="0"/>
              <a:buChar char="•"/>
            </a:pPr>
            <a:r>
              <a:rPr lang="fr-FR" sz="1600" b="1">
                <a:solidFill>
                  <a:schemeClr val="tx1">
                    <a:alpha val="80000"/>
                  </a:schemeClr>
                </a:solidFill>
              </a:rPr>
              <a:t>Release 1 — MVP : </a:t>
            </a:r>
            <a:r>
              <a:rPr lang="fr-FR" sz="1600">
                <a:solidFill>
                  <a:schemeClr val="tx1">
                    <a:alpha val="80000"/>
                  </a:schemeClr>
                </a:solidFill>
              </a:rPr>
              <a:t>fin Sprint 5, mercredi 01/07 17h45 (tag v1.0.0-mvp) — F1 à F6, sécurité, RGPD.</a:t>
            </a:r>
          </a:p>
          <a:p>
            <a:pPr indent="-228600" algn="l">
              <a:buFont typeface="Arial" panose="020B0604020202020204" pitchFamily="34" charset="0"/>
              <a:buChar char="•"/>
            </a:pPr>
            <a:r>
              <a:rPr lang="fr-FR" sz="1600" b="1">
                <a:solidFill>
                  <a:schemeClr val="tx1">
                    <a:alpha val="80000"/>
                  </a:schemeClr>
                </a:solidFill>
              </a:rPr>
              <a:t>Sprints 6-7 (jeu) : </a:t>
            </a:r>
            <a:r>
              <a:rPr lang="fr-FR" sz="1600">
                <a:solidFill>
                  <a:schemeClr val="tx1">
                    <a:alpha val="80000"/>
                  </a:schemeClr>
                </a:solidFill>
              </a:rPr>
              <a:t>quiz adaptatif, connexion Google, suggestions, polish &amp; graphiques.</a:t>
            </a:r>
          </a:p>
          <a:p>
            <a:pPr indent="-228600" algn="l">
              <a:buFont typeface="Arial" panose="020B0604020202020204" pitchFamily="34" charset="0"/>
              <a:buChar char="•"/>
            </a:pPr>
            <a:r>
              <a:rPr lang="fr-FR" sz="1600" b="1">
                <a:solidFill>
                  <a:schemeClr val="tx1">
                    <a:alpha val="80000"/>
                  </a:schemeClr>
                </a:solidFill>
              </a:rPr>
              <a:t>Release 2 : </a:t>
            </a:r>
            <a:r>
              <a:rPr lang="fr-FR" sz="1600">
                <a:solidFill>
                  <a:schemeClr val="tx1">
                    <a:alpha val="80000"/>
                  </a:schemeClr>
                </a:solidFill>
              </a:rPr>
              <a:t>fin Sprint 7, jeudi 02/07 17h (tag v1.1.0) — 2 à 3 pistes choisies.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35921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Product
Backlog</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liste ordonnée de 23 User Stories réparties en 6 epics, au format INVEST.</a:t>
            </a:r>
          </a:p>
          <a:p>
            <a:pPr indent="-228600" algn="l">
              <a:buFont typeface="Arial" panose="020B0604020202020204" pitchFamily="34" charset="0"/>
              <a:buChar char="•"/>
            </a:pPr>
            <a:r>
              <a:rPr lang="fr-FR" sz="1600" b="1">
                <a:solidFill>
                  <a:schemeClr val="tx1">
                    <a:alpha val="80000"/>
                  </a:schemeClr>
                </a:solidFill>
              </a:rPr>
              <a:t>Priorisation : </a:t>
            </a:r>
            <a:r>
              <a:rPr lang="fr-FR" sz="1600">
                <a:solidFill>
                  <a:schemeClr val="tx1">
                    <a:alpha val="80000"/>
                  </a:schemeClr>
                </a:solidFill>
              </a:rPr>
              <a:t>MoSCoW — MUST (MVP F1-F6), SHOULD &amp; COULD (Release 2) ; 48 SP au total.</a:t>
            </a:r>
          </a:p>
          <a:p>
            <a:pPr indent="-228600" algn="l">
              <a:buFont typeface="Arial" panose="020B0604020202020204" pitchFamily="34" charset="0"/>
              <a:buChar char="•"/>
            </a:pPr>
            <a:r>
              <a:rPr lang="fr-FR" sz="1600" b="1">
                <a:solidFill>
                  <a:schemeClr val="tx1">
                    <a:alpha val="80000"/>
                  </a:schemeClr>
                </a:solidFill>
              </a:rPr>
              <a:t>Epics : </a:t>
            </a:r>
            <a:r>
              <a:rPr lang="fr-FR" sz="1600">
                <a:solidFill>
                  <a:schemeClr val="tx1">
                    <a:alpha val="80000"/>
                  </a:schemeClr>
                </a:solidFill>
              </a:rPr>
              <a:t>identification · gestion de contenu · génération de quiz · passage de quiz · suivi · conformité &amp; admin.</a:t>
            </a:r>
          </a:p>
          <a:p>
            <a:pPr indent="-228600" algn="l">
              <a:buFont typeface="Arial" panose="020B0604020202020204" pitchFamily="34" charset="0"/>
              <a:buChar char="•"/>
            </a:pPr>
            <a:r>
              <a:rPr lang="fr-FR" sz="1600" b="1">
                <a:solidFill>
                  <a:schemeClr val="tx1">
                    <a:alpha val="80000"/>
                  </a:schemeClr>
                </a:solidFill>
              </a:rPr>
              <a:t>DoR : </a:t>
            </a:r>
            <a:r>
              <a:rPr lang="fr-FR" sz="1600">
                <a:solidFill>
                  <a:schemeClr val="tx1">
                    <a:alpha val="80000"/>
                  </a:schemeClr>
                </a:solidFill>
              </a:rPr>
              <a:t>INVEST, persona, MoSCoW, critères Given/When/Then, estimation, dépendances non bloquantes.</a:t>
            </a:r>
          </a:p>
          <a:p>
            <a:pPr indent="-228600" algn="l">
              <a:buFont typeface="Arial" panose="020B0604020202020204" pitchFamily="34" charset="0"/>
              <a:buChar char="•"/>
            </a:pPr>
            <a:r>
              <a:rPr lang="fr-FR" sz="1600" b="1">
                <a:solidFill>
                  <a:schemeClr val="tx1">
                    <a:alpha val="80000"/>
                  </a:schemeClr>
                </a:solidFill>
              </a:rPr>
              <a:t>DoD : </a:t>
            </a:r>
            <a:r>
              <a:rPr lang="fr-FR" sz="1600">
                <a:solidFill>
                  <a:schemeClr val="tx1">
                    <a:alpha val="80000"/>
                  </a:schemeClr>
                </a:solidFill>
              </a:rPr>
              <a:t>critères satisfaits, code reviewé (PR), tests verts en CI, doc à jour, validé PO, mergé + tag.</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31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kern="1200">
                <a:solidFill>
                  <a:srgbClr val="FFFFFF"/>
                </a:solidFill>
                <a:latin typeface="+mj-lt"/>
                <a:ea typeface="+mj-ea"/>
                <a:cs typeface="+mj-cs"/>
              </a:rPr>
              <a:t>Sprint
Backlog</a:t>
            </a:r>
            <a:endParaRPr lang="en-US" sz="5600" kern="120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Définition : </a:t>
            </a:r>
            <a:r>
              <a:rPr lang="fr-FR" sz="1600">
                <a:solidFill>
                  <a:schemeClr val="tx1">
                    <a:alpha val="80000"/>
                  </a:schemeClr>
                </a:solidFill>
              </a:rPr>
              <a:t>décomposition technique du Sprint 1 en tâches fines (1-3 h), estimées et assignées.</a:t>
            </a:r>
          </a:p>
          <a:p>
            <a:pPr indent="-228600" algn="l">
              <a:buFont typeface="Arial" panose="020B0604020202020204" pitchFamily="34" charset="0"/>
              <a:buChar char="•"/>
            </a:pPr>
            <a:r>
              <a:rPr lang="fr-FR" sz="1600" b="1">
                <a:solidFill>
                  <a:schemeClr val="tx1">
                    <a:alpha val="80000"/>
                  </a:schemeClr>
                </a:solidFill>
              </a:rPr>
              <a:t>Cadre : </a:t>
            </a:r>
            <a:r>
              <a:rPr lang="fr-FR" sz="1600">
                <a:solidFill>
                  <a:schemeClr val="tx1">
                    <a:alpha val="80000"/>
                  </a:schemeClr>
                </a:solidFill>
              </a:rPr>
              <a:t>lundi 14h-18h · équipe de 7 · 28 h-pers · objectif setup + inscription/connexion (F1) + accueil.</a:t>
            </a:r>
          </a:p>
          <a:p>
            <a:pPr indent="-228600" algn="l">
              <a:buFont typeface="Arial" panose="020B0604020202020204" pitchFamily="34" charset="0"/>
              <a:buChar char="•"/>
            </a:pPr>
            <a:r>
              <a:rPr lang="fr-FR" sz="1600" b="1">
                <a:solidFill>
                  <a:schemeClr val="tx1">
                    <a:alpha val="80000"/>
                  </a:schemeClr>
                </a:solidFill>
              </a:rPr>
              <a:t>Stories : </a:t>
            </a:r>
            <a:r>
              <a:rPr lang="fr-FR" sz="1600">
                <a:solidFill>
                  <a:schemeClr val="tx1">
                    <a:alpha val="80000"/>
                  </a:schemeClr>
                </a:solidFill>
              </a:rPr>
              <a:t>US-01 inscription/connexion · US-07 connexion JWT · US-10 mémoriser identifiants · US-23 page d'accueil.</a:t>
            </a:r>
          </a:p>
          <a:p>
            <a:pPr indent="-228600" algn="l">
              <a:buFont typeface="Arial" panose="020B0604020202020204" pitchFamily="34" charset="0"/>
              <a:buChar char="•"/>
            </a:pPr>
            <a:r>
              <a:rPr lang="fr-FR" sz="1600" b="1">
                <a:solidFill>
                  <a:schemeClr val="tx1">
                    <a:alpha val="80000"/>
                  </a:schemeClr>
                </a:solidFill>
              </a:rPr>
              <a:t>Tâches types : </a:t>
            </a:r>
            <a:r>
              <a:rPr lang="fr-FR" sz="1600">
                <a:solidFill>
                  <a:schemeClr val="tx1">
                    <a:alpha val="80000"/>
                  </a:schemeClr>
                </a:solidFill>
              </a:rPr>
              <a:t>back-end (endpoints, JWT) · front-end (formulaires, pages) · design · tests / sécurité.</a:t>
            </a:r>
          </a:p>
          <a:p>
            <a:pPr indent="-228600" algn="l">
              <a:buFont typeface="Arial" panose="020B0604020202020204" pitchFamily="34" charset="0"/>
              <a:buChar char="•"/>
            </a:pPr>
            <a:r>
              <a:rPr lang="fr-FR" sz="1600" b="1">
                <a:solidFill>
                  <a:schemeClr val="tx1">
                    <a:alpha val="80000"/>
                  </a:schemeClr>
                </a:solidFill>
              </a:rPr>
              <a:t>Charge : </a:t>
            </a:r>
            <a:r>
              <a:rPr lang="fr-FR" sz="1600">
                <a:solidFill>
                  <a:schemeClr val="tx1">
                    <a:alpha val="80000"/>
                  </a:schemeClr>
                </a:solidFill>
              </a:rPr>
              <a:t>16 h estimées sur 28 h-pers, marge 12 h (onboarding, pair-programming, setup).</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8223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0280B2-441D-DBDC-75AD-5E3E0CEA0B88}"/>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ED2A9DA-860D-47CF-6716-638FC058E00E}"/>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1446885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1DD84-FD87-61E6-85E0-C0E549225A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4B6C09BF-BABF-E319-3057-22010A2C4BFB}"/>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4000" b="1" dirty="0">
                <a:solidFill>
                  <a:srgbClr val="FFFFFF"/>
                </a:solidFill>
              </a:rPr>
              <a:t>Perturbation J3 - Sécurité Prompt Injection</a:t>
            </a:r>
            <a:endParaRPr lang="fr-FR" sz="4000" b="1" kern="1200" dirty="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EA49B55-CC10-048D-01D9-F2E478765424}"/>
              </a:ext>
            </a:extLst>
          </p:cNvPr>
          <p:cNvSpPr>
            <a:spLocks noGrp="1"/>
          </p:cNvSpPr>
          <p:nvPr>
            <p:ph type="subTitle" idx="1"/>
          </p:nvPr>
        </p:nvSpPr>
        <p:spPr>
          <a:xfrm>
            <a:off x="6150000" y="518400"/>
            <a:ext cx="5090000" cy="5837949"/>
          </a:xfrm>
        </p:spPr>
        <p:txBody>
          <a:bodyPr vert="horz" lIns="91440" tIns="45720" rIns="91440" bIns="45720" rtlCol="0" anchor="ctr">
            <a:normAutofit/>
          </a:bodyPr>
          <a:lstStyle/>
          <a:p>
            <a:pPr marL="285750" indent="-285750" algn="l">
              <a:buFont typeface="Arial" panose="020B0604020202020204" pitchFamily="34" charset="0"/>
              <a:buChar char="•"/>
            </a:pPr>
            <a:r>
              <a:rPr lang="fr-FR" sz="1600" b="1" dirty="0"/>
              <a:t>La perturbation :</a:t>
            </a:r>
            <a:r>
              <a:rPr lang="fr-FR" sz="1600" dirty="0"/>
              <a:t> en pleine semaine de développement (J3), une faille critique est identifiée sur </a:t>
            </a:r>
            <a:r>
              <a:rPr lang="fr-FR" sz="1600" dirty="0" err="1"/>
              <a:t>EduTutor</a:t>
            </a:r>
            <a:r>
              <a:rPr lang="fr-FR" sz="1600" dirty="0"/>
              <a:t> IA. Un utilisateur malveillant peut injecter des instructions dans le prompt LLM pour détourner le comportement du modèle (OWASP LLM-01). Il fallait sécuriser sans bloquer le sprint.</a:t>
            </a:r>
          </a:p>
          <a:p>
            <a:pPr marL="285750" indent="-285750" algn="l">
              <a:buFont typeface="Arial" panose="020B0604020202020204" pitchFamily="34" charset="0"/>
              <a:buChar char="•"/>
            </a:pPr>
            <a:r>
              <a:rPr lang="fr-FR" sz="1600" b="1" dirty="0"/>
              <a:t>Notre analyse :</a:t>
            </a:r>
            <a:r>
              <a:rPr lang="fr-FR" sz="1600" dirty="0"/>
              <a:t> nous avons qualifié la menace comme une injection de prompt directe (LLM-01). L'attaquant modifie le comportement du LLM via l'input utilisateur (ex. « ignore </a:t>
            </a:r>
            <a:r>
              <a:rPr lang="fr-FR" sz="1600" dirty="0" err="1"/>
              <a:t>previous</a:t>
            </a:r>
            <a:r>
              <a:rPr lang="fr-FR" sz="1600" dirty="0"/>
              <a:t> instructions »). Référence : OWASP LLM Top 10, risque LLM-01.</a:t>
            </a:r>
          </a:p>
          <a:p>
            <a:pPr marL="285750" indent="-285750" algn="l">
              <a:buFont typeface="Arial" panose="020B0604020202020204" pitchFamily="34" charset="0"/>
              <a:buChar char="•"/>
            </a:pPr>
            <a:r>
              <a:rPr lang="fr-FR" sz="1600" b="1" dirty="0"/>
              <a:t>Notre organisation :</a:t>
            </a:r>
            <a:r>
              <a:rPr lang="fr-FR" sz="1600" dirty="0"/>
              <a:t> plutôt que de bloquer le sprint, nous avons ajouté US-SEC-01 au </a:t>
            </a:r>
            <a:r>
              <a:rPr lang="fr-FR" sz="1600" dirty="0" err="1"/>
              <a:t>backlog</a:t>
            </a:r>
            <a:r>
              <a:rPr lang="fr-FR" sz="1600" dirty="0"/>
              <a:t> en priorité Must Have et traité la sécurité en parallèle du développement MVP, avec un system prompt protégé côté serveur Django.</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53304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1851C5-FBAC-BA3E-CA84-9749C15696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B525DF5C-E078-E3F0-A1BB-C34FD7D2681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5600" b="1" dirty="0">
                <a:solidFill>
                  <a:srgbClr val="FFFFFF"/>
                </a:solidFill>
              </a:rPr>
              <a:t>Mesures de protection LLM</a:t>
            </a:r>
            <a:endParaRPr lang="fr-FR" sz="5600" b="1" kern="1200" dirty="0">
              <a:solidFill>
                <a:srgbClr val="FFFFFF"/>
              </a:solidFill>
              <a:latin typeface="+mj-lt"/>
              <a:ea typeface="+mj-ea"/>
              <a:cs typeface="+mj-cs"/>
            </a:endParaRP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16B9B0F-6F2D-300F-868C-5C0DBC6DB199}"/>
              </a:ext>
            </a:extLst>
          </p:cNvPr>
          <p:cNvSpPr>
            <a:spLocks noGrp="1"/>
          </p:cNvSpPr>
          <p:nvPr>
            <p:ph type="subTitle" idx="1"/>
          </p:nvPr>
        </p:nvSpPr>
        <p:spPr>
          <a:xfrm>
            <a:off x="6150000" y="518400"/>
            <a:ext cx="5090000" cy="5837949"/>
          </a:xfrm>
        </p:spPr>
        <p:txBody>
          <a:bodyPr vert="horz" lIns="91440" tIns="45720" rIns="91440" bIns="45720" rtlCol="0" anchor="ctr">
            <a:normAutofit/>
          </a:bodyPr>
          <a:lstStyle/>
          <a:p>
            <a:pPr marL="285750" indent="-285750" algn="l">
              <a:buFont typeface="Arial" panose="020B0604020202020204" pitchFamily="34" charset="0"/>
              <a:buChar char="•"/>
            </a:pPr>
            <a:r>
              <a:rPr lang="fr-FR" sz="1600" b="1" dirty="0"/>
              <a:t>System prompt protégé (US-SEC-01) :</a:t>
            </a:r>
            <a:r>
              <a:rPr lang="fr-FR" sz="1600" dirty="0"/>
              <a:t> un system prompt fixe et non modifiable est injecté avant chaque requête LLM. L'utilisateur ne peut pas surcharger ce prompt côté serveur Django — priorité Must Have, Story Points : 5.</a:t>
            </a:r>
          </a:p>
          <a:p>
            <a:pPr marL="285750" indent="-285750" algn="l">
              <a:buFont typeface="Arial" panose="020B0604020202020204" pitchFamily="34" charset="0"/>
              <a:buChar char="•"/>
            </a:pPr>
            <a:r>
              <a:rPr lang="fr-FR" sz="1600" b="1" dirty="0" err="1"/>
              <a:t>Sanitisation</a:t>
            </a:r>
            <a:r>
              <a:rPr lang="fr-FR" sz="1600" b="1" dirty="0"/>
              <a:t> des inputs :</a:t>
            </a:r>
            <a:r>
              <a:rPr lang="fr-FR" sz="1600" dirty="0"/>
              <a:t> filtre côté Back Django sur les patterns d'injection classiques (« ignore </a:t>
            </a:r>
            <a:r>
              <a:rPr lang="fr-FR" sz="1600" dirty="0" err="1"/>
              <a:t>previous</a:t>
            </a:r>
            <a:r>
              <a:rPr lang="fr-FR" sz="1600" dirty="0"/>
              <a:t> instructions », jailbreak, etc.). Requêtes bloquées loguées en PostgreSQL (date, user, </a:t>
            </a:r>
            <a:r>
              <a:rPr lang="fr-FR" sz="1600" dirty="0" err="1"/>
              <a:t>payload</a:t>
            </a:r>
            <a:r>
              <a:rPr lang="fr-FR" sz="1600" dirty="0"/>
              <a:t>) pour audit admin.</a:t>
            </a:r>
          </a:p>
          <a:p>
            <a:pPr marL="285750" indent="-285750" algn="l">
              <a:buFont typeface="Arial" panose="020B0604020202020204" pitchFamily="34" charset="0"/>
              <a:buChar char="•"/>
            </a:pPr>
            <a:r>
              <a:rPr lang="fr-FR" sz="1600" b="1" dirty="0"/>
              <a:t>Tests de validation :</a:t>
            </a:r>
            <a:r>
              <a:rPr lang="fr-FR" sz="1600" dirty="0"/>
              <a:t> </a:t>
            </a:r>
            <a:r>
              <a:rPr lang="fr-FR" sz="1600" dirty="0" err="1"/>
              <a:t>payloads</a:t>
            </a:r>
            <a:r>
              <a:rPr lang="fr-FR" sz="1600" dirty="0"/>
              <a:t> OWASP LLM-01 testés — le system prompt tient. Taux de faux positifs validé sur corpus d'inputs normaux.</a:t>
            </a:r>
          </a:p>
          <a:p>
            <a:pPr marL="285750" indent="-285750" algn="l">
              <a:buFont typeface="Arial" panose="020B0604020202020204" pitchFamily="34" charset="0"/>
              <a:buChar char="•"/>
            </a:pPr>
            <a:r>
              <a:rPr lang="fr-FR" sz="1600" b="1" dirty="0"/>
              <a:t>Ce qu'on retient de cette perturbation :</a:t>
            </a:r>
            <a:r>
              <a:rPr lang="fr-FR" sz="1600" dirty="0"/>
              <a:t> la sécurité LLM se construit dès la conception, pas en </a:t>
            </a:r>
            <a:r>
              <a:rPr lang="fr-FR" sz="1600" dirty="0" err="1"/>
              <a:t>post-prod</a:t>
            </a:r>
            <a:r>
              <a:rPr lang="fr-FR" sz="1600" dirty="0"/>
              <a:t>. Un system prompt fixe est la première ligne de défense contre les injections de prompt.</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2609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9FD0CC-FE15-E9AB-BF25-0F272EC8161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EA3A763-8B15-41B3-38A3-07F9FA9EAAF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93B26429-05E4-A163-24D0-C1F1D3C6A628}"/>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6404675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21DD84-FD87-61E6-85E0-C0E549225A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4B6C09BF-BABF-E319-3057-22010A2C4BFB}"/>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5600" b="1" kern="1200" dirty="0">
                <a:solidFill>
                  <a:srgbClr val="FFFFFF"/>
                </a:solidFill>
                <a:latin typeface="+mj-lt"/>
                <a:ea typeface="+mj-ea"/>
                <a:cs typeface="+mj-cs"/>
              </a:rPr>
              <a:t>Perturbation J3- RGPD</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EA49B55-CC10-048D-01D9-F2E478765424}"/>
              </a:ext>
            </a:extLst>
          </p:cNvPr>
          <p:cNvSpPr>
            <a:spLocks noGrp="1"/>
          </p:cNvSpPr>
          <p:nvPr>
            <p:ph type="subTitle" idx="1"/>
          </p:nvPr>
        </p:nvSpPr>
        <p:spPr>
          <a:xfrm>
            <a:off x="6150000" y="518400"/>
            <a:ext cx="5090000"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a:solidFill>
                  <a:schemeClr val="tx1">
                    <a:alpha val="80000"/>
                  </a:schemeClr>
                </a:solidFill>
              </a:rPr>
              <a:t>La perturbation : </a:t>
            </a:r>
            <a:r>
              <a:rPr lang="fr-FR" sz="1600">
                <a:solidFill>
                  <a:schemeClr val="tx1">
                    <a:alpha val="80000"/>
                  </a:schemeClr>
                </a:solidFill>
              </a:rPr>
              <a:t>en pleine finalisation du MVP (mercredi 01/07 à 14h), un utilisateur a exercé ses droits RGPD et demandé l'accès à toutes ses données, une SAR. Il fallait répondre sans bloquer le sprint.</a:t>
            </a:r>
          </a:p>
          <a:p>
            <a:pPr indent="-228600" algn="l">
              <a:buFont typeface="Arial" panose="020B0604020202020204" pitchFamily="34" charset="0"/>
              <a:buChar char="•"/>
            </a:pPr>
            <a:r>
              <a:rPr lang="fr-FR" sz="1600" b="1">
                <a:solidFill>
                  <a:schemeClr val="tx1">
                    <a:alpha val="80000"/>
                  </a:schemeClr>
                </a:solidFill>
              </a:rPr>
              <a:t>Notre analyse : </a:t>
            </a:r>
            <a:r>
              <a:rPr lang="fr-FR" sz="1600">
                <a:solidFill>
                  <a:schemeClr val="tx1">
                    <a:alpha val="80000"/>
                  </a:schemeClr>
                </a:solidFill>
              </a:rPr>
              <a:t>nous avons qualifié la demande comme une Subject Access Request (Art. 15), puis identifié les trois droits à couvrir : accès, effacement et portabilité, dans le délai légal d'un mois.</a:t>
            </a:r>
          </a:p>
          <a:p>
            <a:pPr indent="-228600" algn="l">
              <a:buFont typeface="Arial" panose="020B0604020202020204" pitchFamily="34" charset="0"/>
              <a:buChar char="•"/>
            </a:pPr>
            <a:r>
              <a:rPr lang="fr-FR" sz="1600" b="1">
                <a:solidFill>
                  <a:schemeClr val="tx1">
                    <a:alpha val="80000"/>
                  </a:schemeClr>
                </a:solidFill>
              </a:rPr>
              <a:t>Notre organisation : </a:t>
            </a:r>
            <a:r>
              <a:rPr lang="fr-FR" sz="1600">
                <a:solidFill>
                  <a:schemeClr val="tx1">
                    <a:alpha val="80000"/>
                  </a:schemeClr>
                </a:solidFill>
              </a:rPr>
              <a:t>plutôt que d'arrêter le développement, nous avons ajouté la demande au backlog et traité la conformité en parallèle du MVP.</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70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1851C5-FBAC-BA3E-CA84-9749C156968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B525DF5C-E078-E3F0-A1BB-C34FD7D2681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5600" b="1" kern="1200">
                <a:solidFill>
                  <a:srgbClr val="FFFFFF"/>
                </a:solidFill>
                <a:latin typeface="+mj-lt"/>
                <a:ea typeface="+mj-ea"/>
                <a:cs typeface="+mj-cs"/>
              </a:rPr>
              <a:t>Mentions légales &amp; conformité</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16B9B0F-6F2D-300F-868C-5C0DBC6DB199}"/>
              </a:ext>
            </a:extLst>
          </p:cNvPr>
          <p:cNvSpPr>
            <a:spLocks noGrp="1"/>
          </p:cNvSpPr>
          <p:nvPr>
            <p:ph type="subTitle" idx="1"/>
          </p:nvPr>
        </p:nvSpPr>
        <p:spPr>
          <a:xfrm>
            <a:off x="6150000" y="518400"/>
            <a:ext cx="5090000" cy="5837949"/>
          </a:xfrm>
        </p:spPr>
        <p:txBody>
          <a:bodyPr vert="horz" lIns="91440" tIns="45720" rIns="91440" bIns="45720" rtlCol="0" anchor="ctr">
            <a:normAutofit/>
          </a:bodyPr>
          <a:lstStyle/>
          <a:p>
            <a:pPr indent="-228600" algn="l">
              <a:buFont typeface="Arial" panose="020B0604020202020204" pitchFamily="34" charset="0"/>
              <a:buChar char="•"/>
            </a:pPr>
            <a:r>
              <a:rPr lang="fr-FR" sz="1600" b="1" dirty="0">
                <a:solidFill>
                  <a:schemeClr val="tx1">
                    <a:alpha val="80000"/>
                  </a:schemeClr>
                </a:solidFill>
              </a:rPr>
              <a:t>Mentions légales (v1.2) : </a:t>
            </a:r>
            <a:r>
              <a:rPr lang="fr-FR" sz="1600" dirty="0">
                <a:solidFill>
                  <a:schemeClr val="tx1">
                    <a:alpha val="80000"/>
                  </a:schemeClr>
                </a:solidFill>
              </a:rPr>
              <a:t>j'ai rédigé un document complet : éditeur, hébergement local-first, données collectées, finalités, durées de conservation et base légale de chaque traitement.</a:t>
            </a:r>
          </a:p>
          <a:p>
            <a:pPr indent="-228600" algn="l">
              <a:buFont typeface="Arial" panose="020B0604020202020204" pitchFamily="34" charset="0"/>
              <a:buChar char="•"/>
            </a:pPr>
            <a:r>
              <a:rPr lang="fr-FR" sz="1600" b="1" dirty="0">
                <a:solidFill>
                  <a:schemeClr val="tx1">
                    <a:alpha val="80000"/>
                  </a:schemeClr>
                </a:solidFill>
              </a:rPr>
              <a:t>Accès &amp; portabilité : </a:t>
            </a:r>
            <a:r>
              <a:rPr lang="fr-FR" sz="1600" dirty="0">
                <a:solidFill>
                  <a:schemeClr val="tx1">
                    <a:alpha val="80000"/>
                  </a:schemeClr>
                </a:solidFill>
              </a:rPr>
              <a:t>nous avons créé </a:t>
            </a:r>
            <a:r>
              <a:rPr lang="fr-FR" sz="1600" dirty="0" err="1">
                <a:solidFill>
                  <a:schemeClr val="tx1">
                    <a:alpha val="80000"/>
                  </a:schemeClr>
                </a:solidFill>
              </a:rPr>
              <a:t>l'endpoint</a:t>
            </a:r>
            <a:r>
              <a:rPr lang="fr-FR" sz="1600" dirty="0">
                <a:solidFill>
                  <a:schemeClr val="tx1">
                    <a:alpha val="80000"/>
                  </a:schemeClr>
                </a:solidFill>
              </a:rPr>
              <a:t> GET /api/</a:t>
            </a:r>
            <a:r>
              <a:rPr lang="fr-FR" sz="1600" dirty="0" err="1">
                <a:solidFill>
                  <a:schemeClr val="tx1">
                    <a:alpha val="80000"/>
                  </a:schemeClr>
                </a:solidFill>
              </a:rPr>
              <a:t>users</a:t>
            </a:r>
            <a:r>
              <a:rPr lang="fr-FR" sz="1600" dirty="0">
                <a:solidFill>
                  <a:schemeClr val="tx1">
                    <a:alpha val="80000"/>
                  </a:schemeClr>
                </a:solidFill>
              </a:rPr>
              <a:t>/me/export/ qui restitue à l'utilisateur toutes ses données en JSON ou CSV (Art. 15 et 20).</a:t>
            </a:r>
          </a:p>
          <a:p>
            <a:pPr indent="-228600" algn="l">
              <a:buFont typeface="Arial" panose="020B0604020202020204" pitchFamily="34" charset="0"/>
              <a:buChar char="•"/>
            </a:pPr>
            <a:r>
              <a:rPr lang="fr-FR" sz="1600" b="1" dirty="0">
                <a:solidFill>
                  <a:schemeClr val="tx1">
                    <a:alpha val="80000"/>
                  </a:schemeClr>
                </a:solidFill>
              </a:rPr>
              <a:t>Effacement : </a:t>
            </a:r>
            <a:r>
              <a:rPr lang="fr-FR" sz="1600" dirty="0">
                <a:solidFill>
                  <a:schemeClr val="tx1">
                    <a:alpha val="80000"/>
                  </a:schemeClr>
                </a:solidFill>
              </a:rPr>
              <a:t>une fonction supprime le compte, les logs et les sauvegardes sur demande (Art. 17).</a:t>
            </a:r>
          </a:p>
          <a:p>
            <a:pPr indent="-228600" algn="l">
              <a:buFont typeface="Arial" panose="020B0604020202020204" pitchFamily="34" charset="0"/>
              <a:buChar char="•"/>
            </a:pPr>
            <a:r>
              <a:rPr lang="fr-FR" sz="1600" b="1" dirty="0">
                <a:solidFill>
                  <a:schemeClr val="tx1">
                    <a:alpha val="80000"/>
                  </a:schemeClr>
                </a:solidFill>
              </a:rPr>
              <a:t>Sécurité &amp; cookies : </a:t>
            </a:r>
            <a:r>
              <a:rPr lang="fr-FR" sz="1600" dirty="0">
                <a:solidFill>
                  <a:schemeClr val="tx1">
                    <a:alpha val="80000"/>
                  </a:schemeClr>
                </a:solidFill>
              </a:rPr>
              <a:t>logs conservés 1 an (L.34-1 CPCE) et un seul cookie de session </a:t>
            </a:r>
            <a:r>
              <a:rPr lang="fr-FR" sz="1600" dirty="0" err="1">
                <a:solidFill>
                  <a:schemeClr val="tx1">
                    <a:alpha val="80000"/>
                  </a:schemeClr>
                </a:solidFill>
              </a:rPr>
              <a:t>httpOnly</a:t>
            </a:r>
            <a:r>
              <a:rPr lang="fr-FR" sz="1600" dirty="0">
                <a:solidFill>
                  <a:schemeClr val="tx1">
                    <a:alpha val="80000"/>
                  </a:schemeClr>
                </a:solidFill>
              </a:rPr>
              <a:t>, sans traceur : donc sans bandeau de consentement (CNIL).</a:t>
            </a:r>
          </a:p>
          <a:p>
            <a:pPr indent="-228600" algn="l">
              <a:buFont typeface="Arial" panose="020B0604020202020204" pitchFamily="34" charset="0"/>
              <a:buChar char="•"/>
            </a:pPr>
            <a:r>
              <a:rPr lang="fr-FR" sz="1600" b="1" dirty="0">
                <a:solidFill>
                  <a:schemeClr val="tx1">
                    <a:alpha val="80000"/>
                  </a:schemeClr>
                </a:solidFill>
              </a:rPr>
              <a:t>Ce qu’on retient de cette </a:t>
            </a:r>
            <a:r>
              <a:rPr lang="fr-FR" sz="1600" b="1" dirty="0" err="1">
                <a:solidFill>
                  <a:schemeClr val="tx1">
                    <a:alpha val="80000"/>
                  </a:schemeClr>
                </a:solidFill>
              </a:rPr>
              <a:t>pertubation</a:t>
            </a:r>
            <a:r>
              <a:rPr lang="fr-FR" sz="1600" b="1" dirty="0">
                <a:solidFill>
                  <a:schemeClr val="tx1">
                    <a:alpha val="80000"/>
                  </a:schemeClr>
                </a:solidFill>
              </a:rPr>
              <a:t> : </a:t>
            </a:r>
            <a:r>
              <a:rPr lang="fr-FR" sz="1600" dirty="0">
                <a:solidFill>
                  <a:schemeClr val="tx1">
                    <a:alpha val="80000"/>
                  </a:schemeClr>
                </a:solidFill>
              </a:rPr>
              <a:t>la conformité se construit au fur et a mesure de la création du projet et la documentation constitue la preuve de nos engagements.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3676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ED7CE-9118-4992-D389-1004E633C80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77BDC8A-6178-B9E7-714D-3F7FACADFEE9}"/>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0403DB6-A974-3A11-8B32-240E01B8EC36}"/>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41126079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3DF8973-C999-3A37-06A9-EC89D8D6CA1F}"/>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50C34D2-11D0-37AB-FB80-AD4F233D08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61F7BBF2-6609-A761-473A-D8125EA83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F557EEA9-8C90-99E7-359F-B8B79D8E8CDB}"/>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err="1">
                <a:solidFill>
                  <a:srgbClr val="FFFFFF"/>
                </a:solidFill>
              </a:rPr>
              <a:t>Sommaire</a:t>
            </a:r>
            <a:endParaRPr lang="en-US" sz="5600" b="1" dirty="0">
              <a:solidFill>
                <a:srgbClr val="FFFFFF"/>
              </a:solidFill>
            </a:endParaRPr>
          </a:p>
        </p:txBody>
      </p:sp>
      <p:grpSp>
        <p:nvGrpSpPr>
          <p:cNvPr id="26" name="Group 25">
            <a:extLst>
              <a:ext uri="{FF2B5EF4-FFF2-40B4-BE49-F238E27FC236}">
                <a16:creationId xmlns:a16="http://schemas.microsoft.com/office/drawing/2014/main" id="{4A236BB3-F496-4AB1-FF49-4515F31A7C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C03C969F-960E-B025-BB69-D3A855637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FB79085B-C54F-FDB2-C107-5D58EFB329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B4DCD10C-A223-4F8B-236F-90D04F1679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506434EE-44B9-4CCF-89D9-73CCC09D0D53}"/>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800" dirty="0" err="1">
                <a:solidFill>
                  <a:schemeClr val="tx1">
                    <a:alpha val="80000"/>
                  </a:schemeClr>
                </a:solidFill>
              </a:rPr>
              <a:t>Présentation</a:t>
            </a:r>
            <a:r>
              <a:rPr lang="en-US" sz="1800" dirty="0">
                <a:solidFill>
                  <a:schemeClr val="tx1">
                    <a:alpha val="80000"/>
                  </a:schemeClr>
                </a:solidFill>
              </a:rPr>
              <a:t> de </a:t>
            </a:r>
            <a:r>
              <a:rPr lang="en-US" sz="1800" dirty="0" err="1">
                <a:solidFill>
                  <a:schemeClr val="tx1">
                    <a:alpha val="80000"/>
                  </a:schemeClr>
                </a:solidFill>
              </a:rPr>
              <a:t>l'équipe</a:t>
            </a:r>
            <a:endParaRPr lang="en-US" sz="1800" dirty="0">
              <a:solidFill>
                <a:schemeClr val="tx1">
                  <a:alpha val="80000"/>
                </a:schemeClr>
              </a:solidFill>
            </a:endParaRPr>
          </a:p>
          <a:p>
            <a:pPr indent="-228600" algn="l">
              <a:buFont typeface="Arial" panose="020B0604020202020204" pitchFamily="34" charset="0"/>
              <a:buChar char="•"/>
            </a:pPr>
            <a:r>
              <a:rPr lang="en-US" sz="1800" dirty="0">
                <a:solidFill>
                  <a:schemeClr val="tx1">
                    <a:alpha val="80000"/>
                  </a:schemeClr>
                </a:solidFill>
              </a:rPr>
              <a:t>Résumé du </a:t>
            </a:r>
            <a:r>
              <a:rPr lang="en-US" sz="1800" dirty="0" err="1">
                <a:solidFill>
                  <a:schemeClr val="tx1">
                    <a:alpha val="80000"/>
                  </a:schemeClr>
                </a:solidFill>
              </a:rPr>
              <a:t>projet</a:t>
            </a:r>
            <a:endParaRPr lang="en-US" sz="1800" dirty="0">
              <a:solidFill>
                <a:schemeClr val="tx1">
                  <a:alpha val="80000"/>
                </a:schemeClr>
              </a:solidFill>
            </a:endParaRPr>
          </a:p>
          <a:p>
            <a:pPr indent="-228600" algn="l">
              <a:buFont typeface="Arial" panose="020B0604020202020204" pitchFamily="34" charset="0"/>
              <a:buChar char="•"/>
            </a:pPr>
            <a:r>
              <a:rPr lang="en-US" sz="1800" dirty="0">
                <a:solidFill>
                  <a:schemeClr val="tx1">
                    <a:alpha val="80000"/>
                  </a:schemeClr>
                </a:solidFill>
              </a:rPr>
              <a:t>Perturbation J1 — </a:t>
            </a:r>
            <a:r>
              <a:rPr lang="en-US" sz="1800" dirty="0" err="1">
                <a:solidFill>
                  <a:schemeClr val="tx1">
                    <a:alpha val="80000"/>
                  </a:schemeClr>
                </a:solidFill>
              </a:rPr>
              <a:t>Produit</a:t>
            </a:r>
            <a:r>
              <a:rPr lang="en-US" sz="1800" dirty="0">
                <a:solidFill>
                  <a:schemeClr val="tx1">
                    <a:alpha val="80000"/>
                  </a:schemeClr>
                </a:solidFill>
              </a:rPr>
              <a:t> / Scope</a:t>
            </a:r>
          </a:p>
          <a:p>
            <a:pPr indent="-228600" algn="l">
              <a:buFont typeface="Arial" panose="020B0604020202020204" pitchFamily="34" charset="0"/>
              <a:buChar char="•"/>
            </a:pPr>
            <a:r>
              <a:rPr lang="en-US" sz="1800" dirty="0">
                <a:solidFill>
                  <a:schemeClr val="tx1">
                    <a:alpha val="80000"/>
                  </a:schemeClr>
                </a:solidFill>
              </a:rPr>
              <a:t>Perturbation J2 — Technique</a:t>
            </a:r>
          </a:p>
          <a:p>
            <a:pPr indent="-228600" algn="l">
              <a:buFont typeface="Arial" panose="020B0604020202020204" pitchFamily="34" charset="0"/>
              <a:buChar char="•"/>
            </a:pPr>
            <a:r>
              <a:rPr lang="en-US" sz="1800" dirty="0">
                <a:solidFill>
                  <a:schemeClr val="tx1">
                    <a:alpha val="80000"/>
                  </a:schemeClr>
                </a:solidFill>
              </a:rPr>
              <a:t>Perturbation J3 — Sécurité</a:t>
            </a:r>
          </a:p>
          <a:p>
            <a:pPr indent="-228600" algn="l">
              <a:buFont typeface="Arial" panose="020B0604020202020204" pitchFamily="34" charset="0"/>
              <a:buChar char="•"/>
            </a:pPr>
            <a:r>
              <a:rPr lang="en-US" sz="1800" dirty="0">
                <a:solidFill>
                  <a:schemeClr val="tx1">
                    <a:alpha val="80000"/>
                  </a:schemeClr>
                </a:solidFill>
              </a:rPr>
              <a:t>Perturbation J3-bis — RGPD</a:t>
            </a:r>
          </a:p>
          <a:p>
            <a:pPr indent="-228600" algn="l">
              <a:buFont typeface="Arial" panose="020B0604020202020204" pitchFamily="34" charset="0"/>
              <a:buChar char="•"/>
            </a:pPr>
            <a:r>
              <a:rPr lang="en-US" sz="1800" dirty="0">
                <a:solidFill>
                  <a:schemeClr val="tx1">
                    <a:alpha val="80000"/>
                  </a:schemeClr>
                </a:solidFill>
              </a:rPr>
              <a:t>Perturbation J4 — Retour </a:t>
            </a:r>
            <a:r>
              <a:rPr lang="en-US" sz="1800" dirty="0" err="1">
                <a:solidFill>
                  <a:schemeClr val="tx1">
                    <a:alpha val="80000"/>
                  </a:schemeClr>
                </a:solidFill>
              </a:rPr>
              <a:t>utilisateur</a:t>
            </a:r>
            <a:endParaRPr lang="en-US" sz="1800" dirty="0">
              <a:solidFill>
                <a:schemeClr val="tx1">
                  <a:alpha val="80000"/>
                </a:schemeClr>
              </a:solidFill>
            </a:endParaRPr>
          </a:p>
          <a:p>
            <a:pPr indent="-228600" algn="l">
              <a:buFont typeface="Arial" panose="020B0604020202020204" pitchFamily="34" charset="0"/>
              <a:buChar char="•"/>
            </a:pPr>
            <a:r>
              <a:rPr lang="en-US" sz="1800" dirty="0">
                <a:solidFill>
                  <a:schemeClr val="tx1">
                    <a:alpha val="80000"/>
                  </a:schemeClr>
                </a:solidFill>
              </a:rPr>
              <a:t>Bilan des perturbations</a:t>
            </a:r>
          </a:p>
        </p:txBody>
      </p:sp>
      <p:cxnSp>
        <p:nvCxnSpPr>
          <p:cNvPr id="31" name="Straight Connector 30">
            <a:extLst>
              <a:ext uri="{FF2B5EF4-FFF2-40B4-BE49-F238E27FC236}">
                <a16:creationId xmlns:a16="http://schemas.microsoft.com/office/drawing/2014/main" id="{BAE63FFF-FC27-F9EF-862B-6EF3B09229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08868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10D344-429F-5173-C622-369851786B6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90C7F7C-99EF-6332-F792-0218A7CD6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4B4DDD27-CE9D-5F3B-3238-9BBC02A216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810FDB1D-6734-AD3F-C34F-7F6308A21BB6}"/>
              </a:ext>
            </a:extLst>
          </p:cNvPr>
          <p:cNvSpPr>
            <a:spLocks noGrp="1"/>
          </p:cNvSpPr>
          <p:nvPr>
            <p:ph type="ctrTitle"/>
          </p:nvPr>
        </p:nvSpPr>
        <p:spPr>
          <a:xfrm>
            <a:off x="1075643" y="381935"/>
            <a:ext cx="4121009" cy="5974414"/>
          </a:xfrm>
        </p:spPr>
        <p:txBody>
          <a:bodyPr vert="horz" lIns="91440" tIns="45720" rIns="91440" bIns="45720" rtlCol="0" anchor="ctr">
            <a:normAutofit/>
          </a:bodyPr>
          <a:lstStyle/>
          <a:p>
            <a:pPr algn="l"/>
            <a:r>
              <a:rPr lang="en-US" sz="5600" b="1" dirty="0" err="1">
                <a:solidFill>
                  <a:srgbClr val="FFFFFF"/>
                </a:solidFill>
              </a:rPr>
              <a:t>Présentation</a:t>
            </a:r>
            <a:r>
              <a:rPr lang="en-US" sz="5600" b="1" dirty="0">
                <a:solidFill>
                  <a:srgbClr val="FFFFFF"/>
                </a:solidFill>
              </a:rPr>
              <a:t> de </a:t>
            </a:r>
            <a:r>
              <a:rPr lang="en-US" sz="5600" b="1" dirty="0" err="1">
                <a:solidFill>
                  <a:srgbClr val="FFFFFF"/>
                </a:solidFill>
              </a:rPr>
              <a:t>l'équipe</a:t>
            </a:r>
            <a:endParaRPr lang="en-US" sz="5600" b="1" dirty="0">
              <a:solidFill>
                <a:srgbClr val="FFFFFF"/>
              </a:solidFill>
            </a:endParaRPr>
          </a:p>
        </p:txBody>
      </p:sp>
      <p:grpSp>
        <p:nvGrpSpPr>
          <p:cNvPr id="26" name="Group 25">
            <a:extLst>
              <a:ext uri="{FF2B5EF4-FFF2-40B4-BE49-F238E27FC236}">
                <a16:creationId xmlns:a16="http://schemas.microsoft.com/office/drawing/2014/main" id="{835F0C68-BF7D-6446-F438-B308EDBB35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C3528B10-65E7-D030-2B99-716FB5B3ED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D2876D79-A462-86BF-6BA5-83D5C8354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BC945635-4048-7723-B709-A48035EDF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848C4726-767B-BEB5-3CD4-62BE842EAE90}"/>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800" b="1" dirty="0">
                <a:solidFill>
                  <a:schemeClr val="tx1">
                    <a:alpha val="80000"/>
                  </a:schemeClr>
                </a:solidFill>
              </a:rPr>
              <a:t>Équipe </a:t>
            </a:r>
            <a:r>
              <a:rPr lang="en-US" sz="1800" b="1" dirty="0" err="1">
                <a:solidFill>
                  <a:schemeClr val="tx1">
                    <a:alpha val="80000"/>
                  </a:schemeClr>
                </a:solidFill>
              </a:rPr>
              <a:t>projet</a:t>
            </a:r>
            <a:r>
              <a:rPr lang="en-US" sz="1800" b="1" dirty="0">
                <a:solidFill>
                  <a:schemeClr val="tx1">
                    <a:alpha val="80000"/>
                  </a:schemeClr>
                </a:solidFill>
              </a:rPr>
              <a:t> — </a:t>
            </a:r>
            <a:r>
              <a:rPr lang="en-US" sz="1800" b="1" dirty="0" err="1">
                <a:solidFill>
                  <a:schemeClr val="tx1">
                    <a:alpha val="80000"/>
                  </a:schemeClr>
                </a:solidFill>
              </a:rPr>
              <a:t>EduTutor</a:t>
            </a:r>
            <a:r>
              <a:rPr lang="en-US" sz="1800" b="1" dirty="0">
                <a:solidFill>
                  <a:schemeClr val="tx1">
                    <a:alpha val="80000"/>
                  </a:schemeClr>
                </a:solidFill>
              </a:rPr>
              <a:t> IA</a:t>
            </a:r>
          </a:p>
          <a:p>
            <a:pPr indent="-228600" algn="l">
              <a:buFont typeface="Arial" panose="020B0604020202020204" pitchFamily="34" charset="0"/>
              <a:buChar char="•"/>
            </a:pPr>
            <a:r>
              <a:rPr lang="en-US" sz="1800" b="1" dirty="0" err="1">
                <a:solidFill>
                  <a:schemeClr val="tx1">
                    <a:alpha val="80000"/>
                  </a:schemeClr>
                </a:solidFill>
              </a:rPr>
              <a:t>Prénom</a:t>
            </a:r>
            <a:r>
              <a:rPr lang="en-US" sz="1800" b="1" dirty="0">
                <a:solidFill>
                  <a:schemeClr val="tx1">
                    <a:alpha val="80000"/>
                  </a:schemeClr>
                </a:solidFill>
              </a:rPr>
              <a:t> Nom</a:t>
            </a:r>
            <a:r>
              <a:rPr lang="en-US" sz="1800" dirty="0">
                <a:solidFill>
                  <a:schemeClr val="tx1">
                    <a:alpha val="80000"/>
                  </a:schemeClr>
                </a:solidFill>
              </a:rPr>
              <a:t> — Product Owner / Scrum Master</a:t>
            </a:r>
          </a:p>
          <a:p>
            <a:pPr indent="-228600" algn="l">
              <a:buFont typeface="Arial" panose="020B0604020202020204" pitchFamily="34" charset="0"/>
              <a:buChar char="•"/>
            </a:pPr>
            <a:r>
              <a:rPr lang="en-US" sz="1800" b="1" dirty="0" err="1">
                <a:solidFill>
                  <a:schemeClr val="tx1">
                    <a:alpha val="80000"/>
                  </a:schemeClr>
                </a:solidFill>
              </a:rPr>
              <a:t>Prénom</a:t>
            </a:r>
            <a:r>
              <a:rPr lang="en-US" sz="1800" b="1" dirty="0">
                <a:solidFill>
                  <a:schemeClr val="tx1">
                    <a:alpha val="80000"/>
                  </a:schemeClr>
                </a:solidFill>
              </a:rPr>
              <a:t> Nom</a:t>
            </a:r>
            <a:r>
              <a:rPr lang="en-US" sz="1800" dirty="0">
                <a:solidFill>
                  <a:schemeClr val="tx1">
                    <a:alpha val="80000"/>
                  </a:schemeClr>
                </a:solidFill>
              </a:rPr>
              <a:t> — </a:t>
            </a:r>
            <a:r>
              <a:rPr lang="en-US" sz="1800" dirty="0" err="1">
                <a:solidFill>
                  <a:schemeClr val="tx1">
                    <a:alpha val="80000"/>
                  </a:schemeClr>
                </a:solidFill>
              </a:rPr>
              <a:t>Développeur</a:t>
            </a:r>
            <a:r>
              <a:rPr lang="en-US" sz="1800" dirty="0">
                <a:solidFill>
                  <a:schemeClr val="tx1">
                    <a:alpha val="80000"/>
                  </a:schemeClr>
                </a:solidFill>
              </a:rPr>
              <a:t> back-end (Django / DRF)</a:t>
            </a:r>
          </a:p>
          <a:p>
            <a:pPr indent="-228600" algn="l">
              <a:buFont typeface="Arial" panose="020B0604020202020204" pitchFamily="34" charset="0"/>
              <a:buChar char="•"/>
            </a:pPr>
            <a:r>
              <a:rPr lang="en-US" sz="1800" b="1" dirty="0" err="1">
                <a:solidFill>
                  <a:schemeClr val="tx1">
                    <a:alpha val="80000"/>
                  </a:schemeClr>
                </a:solidFill>
              </a:rPr>
              <a:t>Prénom</a:t>
            </a:r>
            <a:r>
              <a:rPr lang="en-US" sz="1800" b="1" dirty="0">
                <a:solidFill>
                  <a:schemeClr val="tx1">
                    <a:alpha val="80000"/>
                  </a:schemeClr>
                </a:solidFill>
              </a:rPr>
              <a:t> Nom</a:t>
            </a:r>
            <a:r>
              <a:rPr lang="en-US" sz="1800" dirty="0">
                <a:solidFill>
                  <a:schemeClr val="tx1">
                    <a:alpha val="80000"/>
                  </a:schemeClr>
                </a:solidFill>
              </a:rPr>
              <a:t> — </a:t>
            </a:r>
            <a:r>
              <a:rPr lang="en-US" sz="1800" dirty="0" err="1">
                <a:solidFill>
                  <a:schemeClr val="tx1">
                    <a:alpha val="80000"/>
                  </a:schemeClr>
                </a:solidFill>
              </a:rPr>
              <a:t>Développeur</a:t>
            </a:r>
            <a:r>
              <a:rPr lang="en-US" sz="1800" dirty="0">
                <a:solidFill>
                  <a:schemeClr val="tx1">
                    <a:alpha val="80000"/>
                  </a:schemeClr>
                </a:solidFill>
              </a:rPr>
              <a:t> front-end (React)</a:t>
            </a:r>
          </a:p>
          <a:p>
            <a:pPr indent="-228600" algn="l">
              <a:buFont typeface="Arial" panose="020B0604020202020204" pitchFamily="34" charset="0"/>
              <a:buChar char="•"/>
            </a:pPr>
            <a:r>
              <a:rPr lang="en-US" sz="1800" b="1" dirty="0" err="1">
                <a:solidFill>
                  <a:schemeClr val="tx1">
                    <a:alpha val="80000"/>
                  </a:schemeClr>
                </a:solidFill>
              </a:rPr>
              <a:t>Prénom</a:t>
            </a:r>
            <a:r>
              <a:rPr lang="en-US" sz="1800" b="1" dirty="0">
                <a:solidFill>
                  <a:schemeClr val="tx1">
                    <a:alpha val="80000"/>
                  </a:schemeClr>
                </a:solidFill>
              </a:rPr>
              <a:t> Nom</a:t>
            </a:r>
            <a:r>
              <a:rPr lang="en-US" sz="1800" dirty="0">
                <a:solidFill>
                  <a:schemeClr val="tx1">
                    <a:alpha val="80000"/>
                  </a:schemeClr>
                </a:solidFill>
              </a:rPr>
              <a:t> — DevOps (Docker, CI/CD)</a:t>
            </a:r>
          </a:p>
          <a:p>
            <a:pPr indent="-228600" algn="l">
              <a:buFont typeface="Arial" panose="020B0604020202020204" pitchFamily="34" charset="0"/>
              <a:buChar char="•"/>
            </a:pPr>
            <a:r>
              <a:rPr lang="en-US" sz="1800" b="1" dirty="0" err="1">
                <a:solidFill>
                  <a:schemeClr val="tx1">
                    <a:alpha val="80000"/>
                  </a:schemeClr>
                </a:solidFill>
              </a:rPr>
              <a:t>Prénom</a:t>
            </a:r>
            <a:r>
              <a:rPr lang="en-US" sz="1800" b="1" dirty="0">
                <a:solidFill>
                  <a:schemeClr val="tx1">
                    <a:alpha val="80000"/>
                  </a:schemeClr>
                </a:solidFill>
              </a:rPr>
              <a:t> Nom</a:t>
            </a:r>
            <a:r>
              <a:rPr lang="en-US" sz="1800" dirty="0">
                <a:solidFill>
                  <a:schemeClr val="tx1">
                    <a:alpha val="80000"/>
                  </a:schemeClr>
                </a:solidFill>
              </a:rPr>
              <a:t> — </a:t>
            </a:r>
            <a:r>
              <a:rPr lang="en-US" sz="1800" dirty="0" err="1">
                <a:solidFill>
                  <a:schemeClr val="tx1">
                    <a:alpha val="80000"/>
                  </a:schemeClr>
                </a:solidFill>
              </a:rPr>
              <a:t>Référent</a:t>
            </a:r>
            <a:r>
              <a:rPr lang="en-US" sz="1800" dirty="0">
                <a:solidFill>
                  <a:schemeClr val="tx1">
                    <a:alpha val="80000"/>
                  </a:schemeClr>
                </a:solidFill>
              </a:rPr>
              <a:t> sécurité / RGPD</a:t>
            </a:r>
          </a:p>
          <a:p>
            <a:pPr indent="-228600" algn="l">
              <a:buFont typeface="Arial" panose="020B0604020202020204" pitchFamily="34" charset="0"/>
              <a:buChar char="•"/>
            </a:pPr>
            <a:r>
              <a:rPr lang="en-US" sz="1800" dirty="0">
                <a:solidFill>
                  <a:schemeClr val="tx1">
                    <a:alpha val="80000"/>
                  </a:schemeClr>
                </a:solidFill>
              </a:rPr>
              <a:t>À </a:t>
            </a:r>
            <a:r>
              <a:rPr lang="en-US" sz="1800" dirty="0" err="1">
                <a:solidFill>
                  <a:schemeClr val="tx1">
                    <a:alpha val="80000"/>
                  </a:schemeClr>
                </a:solidFill>
              </a:rPr>
              <a:t>compléter</a:t>
            </a:r>
            <a:r>
              <a:rPr lang="en-US" sz="1800" dirty="0">
                <a:solidFill>
                  <a:schemeClr val="tx1">
                    <a:alpha val="80000"/>
                  </a:schemeClr>
                </a:solidFill>
              </a:rPr>
              <a:t> avec les </a:t>
            </a:r>
            <a:r>
              <a:rPr lang="en-US" sz="1800" dirty="0" err="1">
                <a:solidFill>
                  <a:schemeClr val="tx1">
                    <a:alpha val="80000"/>
                  </a:schemeClr>
                </a:solidFill>
              </a:rPr>
              <a:t>membres</a:t>
            </a:r>
            <a:r>
              <a:rPr lang="en-US" sz="1800" dirty="0">
                <a:solidFill>
                  <a:schemeClr val="tx1">
                    <a:alpha val="80000"/>
                  </a:schemeClr>
                </a:solidFill>
              </a:rPr>
              <a:t> de </a:t>
            </a:r>
            <a:r>
              <a:rPr lang="en-US" sz="1800" dirty="0" err="1">
                <a:solidFill>
                  <a:schemeClr val="tx1">
                    <a:alpha val="80000"/>
                  </a:schemeClr>
                </a:solidFill>
              </a:rPr>
              <a:t>l'équipe</a:t>
            </a:r>
            <a:r>
              <a:rPr lang="en-US" sz="1800" dirty="0">
                <a:solidFill>
                  <a:schemeClr val="tx1">
                    <a:alpha val="80000"/>
                  </a:schemeClr>
                </a:solidFill>
              </a:rPr>
              <a:t> et </a:t>
            </a:r>
            <a:r>
              <a:rPr lang="en-US" sz="1800" dirty="0" err="1">
                <a:solidFill>
                  <a:schemeClr val="tx1">
                    <a:alpha val="80000"/>
                  </a:schemeClr>
                </a:solidFill>
              </a:rPr>
              <a:t>leurs</a:t>
            </a:r>
            <a:r>
              <a:rPr lang="en-US" sz="1800" dirty="0">
                <a:solidFill>
                  <a:schemeClr val="tx1">
                    <a:alpha val="80000"/>
                  </a:schemeClr>
                </a:solidFill>
              </a:rPr>
              <a:t> </a:t>
            </a:r>
            <a:r>
              <a:rPr lang="en-US" sz="1800" dirty="0" err="1">
                <a:solidFill>
                  <a:schemeClr val="tx1">
                    <a:alpha val="80000"/>
                  </a:schemeClr>
                </a:solidFill>
              </a:rPr>
              <a:t>rôles</a:t>
            </a:r>
            <a:r>
              <a:rPr lang="en-US" sz="1800" dirty="0">
                <a:solidFill>
                  <a:schemeClr val="tx1">
                    <a:alpha val="80000"/>
                  </a:schemeClr>
                </a:solidFill>
              </a:rPr>
              <a:t>.</a:t>
            </a:r>
          </a:p>
        </p:txBody>
      </p:sp>
      <p:cxnSp>
        <p:nvCxnSpPr>
          <p:cNvPr id="31" name="Straight Connector 30">
            <a:extLst>
              <a:ext uri="{FF2B5EF4-FFF2-40B4-BE49-F238E27FC236}">
                <a16:creationId xmlns:a16="http://schemas.microsoft.com/office/drawing/2014/main" id="{378A38B8-7B6E-9FC4-B21D-C72B41122E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7849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0B4162E-7618-0ECB-382F-E8DD035C149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267BEE0-DFE2-3C85-5DD7-4FF376FD1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085BB544-3558-7274-F461-877882DF23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9E7BE436-EE45-A579-D299-33AAE811A2EC}"/>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a:solidFill>
                  <a:srgbClr val="FFFFFF"/>
                </a:solidFill>
              </a:rPr>
              <a:t>Résumé du </a:t>
            </a:r>
            <a:r>
              <a:rPr lang="en-US" sz="5600" b="1" dirty="0" err="1">
                <a:solidFill>
                  <a:srgbClr val="FFFFFF"/>
                </a:solidFill>
              </a:rPr>
              <a:t>projet</a:t>
            </a:r>
            <a:endParaRPr lang="en-US" sz="5600" b="1" dirty="0">
              <a:solidFill>
                <a:srgbClr val="FFFFFF"/>
              </a:solidFill>
            </a:endParaRPr>
          </a:p>
        </p:txBody>
      </p:sp>
      <p:grpSp>
        <p:nvGrpSpPr>
          <p:cNvPr id="26" name="Group 25">
            <a:extLst>
              <a:ext uri="{FF2B5EF4-FFF2-40B4-BE49-F238E27FC236}">
                <a16:creationId xmlns:a16="http://schemas.microsoft.com/office/drawing/2014/main" id="{B7125CF4-5CD4-226A-EE83-E41E130E8E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779D3F5-39BD-8728-BDE0-84F81B6B3F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787845C4-0BE4-0187-AFEB-B11FA2DE5A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DD5AA32D-CFCF-CE45-4606-4B95CB4228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6E4ED53-865E-B408-599B-B17E9AEB0BBE}"/>
              </a:ext>
            </a:extLst>
          </p:cNvPr>
          <p:cNvSpPr>
            <a:spLocks noGrp="1"/>
          </p:cNvSpPr>
          <p:nvPr>
            <p:ph type="subTitle" idx="1"/>
          </p:nvPr>
        </p:nvSpPr>
        <p:spPr>
          <a:xfrm>
            <a:off x="6297233" y="518400"/>
            <a:ext cx="4771607" cy="5837949"/>
          </a:xfrm>
        </p:spPr>
        <p:txBody>
          <a:bodyPr vert="horz" lIns="91440" tIns="45720" rIns="91440" bIns="45720" rtlCol="0" anchor="ctr">
            <a:normAutofit lnSpcReduction="10000"/>
          </a:bodyPr>
          <a:lstStyle/>
          <a:p>
            <a:pPr indent="-228600" algn="l">
              <a:buFont typeface="Arial" panose="020B0604020202020204" pitchFamily="34" charset="0"/>
              <a:buChar char="•"/>
            </a:pPr>
            <a:r>
              <a:rPr lang="en-US" sz="1800" b="1" dirty="0" err="1">
                <a:solidFill>
                  <a:schemeClr val="tx1">
                    <a:alpha val="80000"/>
                  </a:schemeClr>
                </a:solidFill>
              </a:rPr>
              <a:t>Contexte</a:t>
            </a:r>
            <a:endParaRPr lang="en-US" sz="1800" b="1" dirty="0">
              <a:solidFill>
                <a:schemeClr val="tx1">
                  <a:alpha val="80000"/>
                </a:schemeClr>
              </a:solidFill>
            </a:endParaRPr>
          </a:p>
          <a:p>
            <a:pPr indent="-228600" algn="l">
              <a:buFont typeface="Arial" panose="020B0604020202020204" pitchFamily="34" charset="0"/>
              <a:buChar char="•"/>
            </a:pPr>
            <a:r>
              <a:rPr lang="en-US" sz="1800" dirty="0" err="1">
                <a:solidFill>
                  <a:schemeClr val="tx1">
                    <a:alpha val="80000"/>
                  </a:schemeClr>
                </a:solidFill>
              </a:rPr>
              <a:t>EduTutor</a:t>
            </a:r>
            <a:r>
              <a:rPr lang="en-US" sz="1800" dirty="0">
                <a:solidFill>
                  <a:schemeClr val="tx1">
                    <a:alpha val="80000"/>
                  </a:schemeClr>
                </a:solidFill>
              </a:rPr>
              <a:t> IA est </a:t>
            </a:r>
            <a:r>
              <a:rPr lang="en-US" sz="1800" dirty="0" err="1">
                <a:solidFill>
                  <a:schemeClr val="tx1">
                    <a:alpha val="80000"/>
                  </a:schemeClr>
                </a:solidFill>
              </a:rPr>
              <a:t>une</a:t>
            </a:r>
            <a:r>
              <a:rPr lang="en-US" sz="1800" dirty="0">
                <a:solidFill>
                  <a:schemeClr val="tx1">
                    <a:alpha val="80000"/>
                  </a:schemeClr>
                </a:solidFill>
              </a:rPr>
              <a:t> startup edtech française qui met </a:t>
            </a:r>
            <a:r>
              <a:rPr lang="en-US" sz="1800" dirty="0" err="1">
                <a:solidFill>
                  <a:schemeClr val="tx1">
                    <a:alpha val="80000"/>
                  </a:schemeClr>
                </a:solidFill>
              </a:rPr>
              <a:t>l'IA</a:t>
            </a:r>
            <a:r>
              <a:rPr lang="en-US" sz="1800" dirty="0">
                <a:solidFill>
                  <a:schemeClr val="tx1">
                    <a:alpha val="80000"/>
                  </a:schemeClr>
                </a:solidFill>
              </a:rPr>
              <a:t> au service des </a:t>
            </a:r>
            <a:r>
              <a:rPr lang="en-US" sz="1800" dirty="0" err="1">
                <a:solidFill>
                  <a:schemeClr val="tx1">
                    <a:alpha val="80000"/>
                  </a:schemeClr>
                </a:solidFill>
              </a:rPr>
              <a:t>enseignants</a:t>
            </a:r>
            <a:r>
              <a:rPr lang="en-US" sz="1800" dirty="0">
                <a:solidFill>
                  <a:schemeClr val="tx1">
                    <a:alpha val="80000"/>
                  </a:schemeClr>
                </a:solidFill>
              </a:rPr>
              <a:t> et des </a:t>
            </a:r>
            <a:r>
              <a:rPr lang="en-US" sz="1800" dirty="0" err="1">
                <a:solidFill>
                  <a:schemeClr val="tx1">
                    <a:alpha val="80000"/>
                  </a:schemeClr>
                </a:solidFill>
              </a:rPr>
              <a:t>étudiants</a:t>
            </a:r>
            <a:r>
              <a:rPr lang="en-US" sz="1800" dirty="0">
                <a:solidFill>
                  <a:schemeClr val="tx1">
                    <a:alpha val="80000"/>
                  </a:schemeClr>
                </a:solidFill>
              </a:rPr>
              <a:t>. Nous </a:t>
            </a:r>
            <a:r>
              <a:rPr lang="en-US" sz="1800" dirty="0" err="1">
                <a:solidFill>
                  <a:schemeClr val="tx1">
                    <a:alpha val="80000"/>
                  </a:schemeClr>
                </a:solidFill>
              </a:rPr>
              <a:t>reprenons</a:t>
            </a:r>
            <a:r>
              <a:rPr lang="en-US" sz="1800" dirty="0">
                <a:solidFill>
                  <a:schemeClr val="tx1">
                    <a:alpha val="80000"/>
                  </a:schemeClr>
                </a:solidFill>
              </a:rPr>
              <a:t> </a:t>
            </a:r>
            <a:r>
              <a:rPr lang="en-US" sz="1800" dirty="0" err="1">
                <a:solidFill>
                  <a:schemeClr val="tx1">
                    <a:alpha val="80000"/>
                  </a:schemeClr>
                </a:solidFill>
              </a:rPr>
              <a:t>une</a:t>
            </a:r>
            <a:r>
              <a:rPr lang="en-US" sz="1800" dirty="0">
                <a:solidFill>
                  <a:schemeClr val="tx1">
                    <a:alpha val="80000"/>
                  </a:schemeClr>
                </a:solidFill>
              </a:rPr>
              <a:t> base de code </a:t>
            </a:r>
            <a:r>
              <a:rPr lang="en-US" sz="1800" dirty="0" err="1">
                <a:solidFill>
                  <a:schemeClr val="tx1">
                    <a:alpha val="80000"/>
                  </a:schemeClr>
                </a:solidFill>
              </a:rPr>
              <a:t>existante</a:t>
            </a:r>
            <a:r>
              <a:rPr lang="en-US" sz="1800" dirty="0">
                <a:solidFill>
                  <a:schemeClr val="tx1">
                    <a:alpha val="80000"/>
                  </a:schemeClr>
                </a:solidFill>
              </a:rPr>
              <a:t> (brownfield) pour la </a:t>
            </a:r>
            <a:r>
              <a:rPr lang="en-US" sz="1800" dirty="0" err="1">
                <a:solidFill>
                  <a:schemeClr val="tx1">
                    <a:alpha val="80000"/>
                  </a:schemeClr>
                </a:solidFill>
              </a:rPr>
              <a:t>finaliser</a:t>
            </a:r>
            <a:r>
              <a:rPr lang="en-US" sz="1800" dirty="0">
                <a:solidFill>
                  <a:schemeClr val="tx1">
                    <a:alpha val="80000"/>
                  </a:schemeClr>
                </a:solidFill>
              </a:rPr>
              <a:t> et la </a:t>
            </a:r>
            <a:r>
              <a:rPr lang="en-US" sz="1800" dirty="0" err="1">
                <a:solidFill>
                  <a:schemeClr val="tx1">
                    <a:alpha val="80000"/>
                  </a:schemeClr>
                </a:solidFill>
              </a:rPr>
              <a:t>mettre</a:t>
            </a:r>
            <a:r>
              <a:rPr lang="en-US" sz="1800" dirty="0">
                <a:solidFill>
                  <a:schemeClr val="tx1">
                    <a:alpha val="80000"/>
                  </a:schemeClr>
                </a:solidFill>
              </a:rPr>
              <a:t> </a:t>
            </a:r>
            <a:r>
              <a:rPr lang="en-US" sz="1800" dirty="0" err="1">
                <a:solidFill>
                  <a:schemeClr val="tx1">
                    <a:alpha val="80000"/>
                  </a:schemeClr>
                </a:solidFill>
              </a:rPr>
              <a:t>en</a:t>
            </a:r>
            <a:r>
              <a:rPr lang="en-US" sz="1800" dirty="0">
                <a:solidFill>
                  <a:schemeClr val="tx1">
                    <a:alpha val="80000"/>
                  </a:schemeClr>
                </a:solidFill>
              </a:rPr>
              <a:t> production.</a:t>
            </a:r>
          </a:p>
          <a:p>
            <a:pPr indent="-228600" algn="l">
              <a:buFont typeface="Arial" panose="020B0604020202020204" pitchFamily="34" charset="0"/>
              <a:buChar char="•"/>
            </a:pPr>
            <a:r>
              <a:rPr lang="en-US" sz="1800" b="1" dirty="0">
                <a:solidFill>
                  <a:schemeClr val="tx1">
                    <a:alpha val="80000"/>
                  </a:schemeClr>
                </a:solidFill>
              </a:rPr>
              <a:t>Objectif du MVP</a:t>
            </a:r>
          </a:p>
          <a:p>
            <a:pPr indent="-228600" algn="l">
              <a:buFont typeface="Arial" panose="020B0604020202020204" pitchFamily="34" charset="0"/>
              <a:buChar char="•"/>
            </a:pPr>
            <a:r>
              <a:rPr lang="en-US" sz="1800" dirty="0" err="1">
                <a:solidFill>
                  <a:schemeClr val="tx1">
                    <a:alpha val="80000"/>
                  </a:schemeClr>
                </a:solidFill>
              </a:rPr>
              <a:t>Permettre</a:t>
            </a:r>
            <a:r>
              <a:rPr lang="en-US" sz="1800" dirty="0">
                <a:solidFill>
                  <a:schemeClr val="tx1">
                    <a:alpha val="80000"/>
                  </a:schemeClr>
                </a:solidFill>
              </a:rPr>
              <a:t> à un </a:t>
            </a:r>
            <a:r>
              <a:rPr lang="en-US" sz="1800" dirty="0" err="1">
                <a:solidFill>
                  <a:schemeClr val="tx1">
                    <a:alpha val="80000"/>
                  </a:schemeClr>
                </a:solidFill>
              </a:rPr>
              <a:t>étudiant</a:t>
            </a:r>
            <a:r>
              <a:rPr lang="en-US" sz="1800" dirty="0">
                <a:solidFill>
                  <a:schemeClr val="tx1">
                    <a:alpha val="80000"/>
                  </a:schemeClr>
                </a:solidFill>
              </a:rPr>
              <a:t> de </a:t>
            </a:r>
            <a:r>
              <a:rPr lang="en-US" sz="1800" dirty="0" err="1">
                <a:solidFill>
                  <a:schemeClr val="tx1">
                    <a:alpha val="80000"/>
                  </a:schemeClr>
                </a:solidFill>
              </a:rPr>
              <a:t>réviser</a:t>
            </a:r>
            <a:r>
              <a:rPr lang="en-US" sz="1800" dirty="0">
                <a:solidFill>
                  <a:schemeClr val="tx1">
                    <a:alpha val="80000"/>
                  </a:schemeClr>
                </a:solidFill>
              </a:rPr>
              <a:t> à </a:t>
            </a:r>
            <a:r>
              <a:rPr lang="en-US" sz="1800" dirty="0" err="1">
                <a:solidFill>
                  <a:schemeClr val="tx1">
                    <a:alpha val="80000"/>
                  </a:schemeClr>
                </a:solidFill>
              </a:rPr>
              <a:t>partir</a:t>
            </a:r>
            <a:r>
              <a:rPr lang="en-US" sz="1800" dirty="0">
                <a:solidFill>
                  <a:schemeClr val="tx1">
                    <a:alpha val="80000"/>
                  </a:schemeClr>
                </a:solidFill>
              </a:rPr>
              <a:t> de </a:t>
            </a:r>
            <a:r>
              <a:rPr lang="en-US" sz="1800" dirty="0" err="1">
                <a:solidFill>
                  <a:schemeClr val="tx1">
                    <a:alpha val="80000"/>
                  </a:schemeClr>
                </a:solidFill>
              </a:rPr>
              <a:t>ses</a:t>
            </a:r>
            <a:r>
              <a:rPr lang="en-US" sz="1800" dirty="0">
                <a:solidFill>
                  <a:schemeClr val="tx1">
                    <a:alpha val="80000"/>
                  </a:schemeClr>
                </a:solidFill>
              </a:rPr>
              <a:t> </a:t>
            </a:r>
            <a:r>
              <a:rPr lang="en-US" sz="1800" dirty="0" err="1">
                <a:solidFill>
                  <a:schemeClr val="tx1">
                    <a:alpha val="80000"/>
                  </a:schemeClr>
                </a:solidFill>
              </a:rPr>
              <a:t>propres</a:t>
            </a:r>
            <a:r>
              <a:rPr lang="en-US" sz="1800" dirty="0">
                <a:solidFill>
                  <a:schemeClr val="tx1">
                    <a:alpha val="80000"/>
                  </a:schemeClr>
                </a:solidFill>
              </a:rPr>
              <a:t> </a:t>
            </a:r>
            <a:r>
              <a:rPr lang="en-US" sz="1800" dirty="0" err="1">
                <a:solidFill>
                  <a:schemeClr val="tx1">
                    <a:alpha val="80000"/>
                  </a:schemeClr>
                </a:solidFill>
              </a:rPr>
              <a:t>cours</a:t>
            </a:r>
            <a:r>
              <a:rPr lang="en-US" sz="1800" dirty="0">
                <a:solidFill>
                  <a:schemeClr val="tx1">
                    <a:alpha val="80000"/>
                  </a:schemeClr>
                </a:solidFill>
              </a:rPr>
              <a:t> : import d'un PDF </a:t>
            </a:r>
            <a:r>
              <a:rPr lang="en-US" sz="1800" dirty="0" err="1">
                <a:solidFill>
                  <a:schemeClr val="tx1">
                    <a:alpha val="80000"/>
                  </a:schemeClr>
                </a:solidFill>
              </a:rPr>
              <a:t>ou</a:t>
            </a:r>
            <a:r>
              <a:rPr lang="en-US" sz="1800" dirty="0">
                <a:solidFill>
                  <a:schemeClr val="tx1">
                    <a:alpha val="80000"/>
                  </a:schemeClr>
                </a:solidFill>
              </a:rPr>
              <a:t> d'un </a:t>
            </a:r>
            <a:r>
              <a:rPr lang="en-US" sz="1800" dirty="0" err="1">
                <a:solidFill>
                  <a:schemeClr val="tx1">
                    <a:alpha val="80000"/>
                  </a:schemeClr>
                </a:solidFill>
              </a:rPr>
              <a:t>texte</a:t>
            </a:r>
            <a:r>
              <a:rPr lang="en-US" sz="1800" dirty="0">
                <a:solidFill>
                  <a:schemeClr val="tx1">
                    <a:alpha val="80000"/>
                  </a:schemeClr>
                </a:solidFill>
              </a:rPr>
              <a:t>, </a:t>
            </a:r>
            <a:r>
              <a:rPr lang="en-US" sz="1800" dirty="0" err="1">
                <a:solidFill>
                  <a:schemeClr val="tx1">
                    <a:alpha val="80000"/>
                  </a:schemeClr>
                </a:solidFill>
              </a:rPr>
              <a:t>génération</a:t>
            </a:r>
            <a:r>
              <a:rPr lang="en-US" sz="1800" dirty="0">
                <a:solidFill>
                  <a:schemeClr val="tx1">
                    <a:alpha val="80000"/>
                  </a:schemeClr>
                </a:solidFill>
              </a:rPr>
              <a:t> d'un quiz de 10 QCM, correction, score et </a:t>
            </a:r>
            <a:r>
              <a:rPr lang="en-US" sz="1800" dirty="0" err="1">
                <a:solidFill>
                  <a:schemeClr val="tx1">
                    <a:alpha val="80000"/>
                  </a:schemeClr>
                </a:solidFill>
              </a:rPr>
              <a:t>historique</a:t>
            </a:r>
            <a:r>
              <a:rPr lang="en-US" sz="1800" dirty="0">
                <a:solidFill>
                  <a:schemeClr val="tx1">
                    <a:alpha val="80000"/>
                  </a:schemeClr>
                </a:solidFill>
              </a:rPr>
              <a:t>.</a:t>
            </a:r>
          </a:p>
          <a:p>
            <a:pPr indent="-228600" algn="l">
              <a:buFont typeface="Arial" panose="020B0604020202020204" pitchFamily="34" charset="0"/>
              <a:buChar char="•"/>
            </a:pPr>
            <a:r>
              <a:rPr lang="en-US" sz="1800" b="1" dirty="0">
                <a:solidFill>
                  <a:schemeClr val="tx1">
                    <a:alpha val="80000"/>
                  </a:schemeClr>
                </a:solidFill>
              </a:rPr>
              <a:t>Stack technique</a:t>
            </a:r>
          </a:p>
          <a:p>
            <a:pPr indent="-228600" algn="l">
              <a:buFont typeface="Arial" panose="020B0604020202020204" pitchFamily="34" charset="0"/>
              <a:buChar char="•"/>
            </a:pPr>
            <a:r>
              <a:rPr lang="en-US" sz="1800" dirty="0">
                <a:solidFill>
                  <a:schemeClr val="tx1">
                    <a:alpha val="80000"/>
                  </a:schemeClr>
                </a:solidFill>
              </a:rPr>
              <a:t>Django / DRF / PostgreSQL </a:t>
            </a:r>
            <a:r>
              <a:rPr lang="en-US" sz="1800" dirty="0" err="1">
                <a:solidFill>
                  <a:schemeClr val="tx1">
                    <a:alpha val="80000"/>
                  </a:schemeClr>
                </a:solidFill>
              </a:rPr>
              <a:t>côté</a:t>
            </a:r>
            <a:r>
              <a:rPr lang="en-US" sz="1800" dirty="0">
                <a:solidFill>
                  <a:schemeClr val="tx1">
                    <a:alpha val="80000"/>
                  </a:schemeClr>
                </a:solidFill>
              </a:rPr>
              <a:t> </a:t>
            </a:r>
            <a:r>
              <a:rPr lang="en-US" sz="1800" dirty="0" err="1">
                <a:solidFill>
                  <a:schemeClr val="tx1">
                    <a:alpha val="80000"/>
                  </a:schemeClr>
                </a:solidFill>
              </a:rPr>
              <a:t>serveur</a:t>
            </a:r>
            <a:r>
              <a:rPr lang="en-US" sz="1800" dirty="0">
                <a:solidFill>
                  <a:schemeClr val="tx1">
                    <a:alpha val="80000"/>
                  </a:schemeClr>
                </a:solidFill>
              </a:rPr>
              <a:t>, React (Vite) </a:t>
            </a:r>
            <a:r>
              <a:rPr lang="en-US" sz="1800" dirty="0" err="1">
                <a:solidFill>
                  <a:schemeClr val="tx1">
                    <a:alpha val="80000"/>
                  </a:schemeClr>
                </a:solidFill>
              </a:rPr>
              <a:t>côté</a:t>
            </a:r>
            <a:r>
              <a:rPr lang="en-US" sz="1800" dirty="0">
                <a:solidFill>
                  <a:schemeClr val="tx1">
                    <a:alpha val="80000"/>
                  </a:schemeClr>
                </a:solidFill>
              </a:rPr>
              <a:t> interface, Docker Compose, et un LLM local (</a:t>
            </a:r>
            <a:r>
              <a:rPr lang="en-US" sz="1800" dirty="0" err="1">
                <a:solidFill>
                  <a:schemeClr val="tx1">
                    <a:alpha val="80000"/>
                  </a:schemeClr>
                </a:solidFill>
              </a:rPr>
              <a:t>Ollama</a:t>
            </a:r>
            <a:r>
              <a:rPr lang="en-US" sz="1800" dirty="0">
                <a:solidFill>
                  <a:schemeClr val="tx1">
                    <a:alpha val="80000"/>
                  </a:schemeClr>
                </a:solidFill>
              </a:rPr>
              <a:t>) pour la </a:t>
            </a:r>
            <a:r>
              <a:rPr lang="en-US" sz="1800" dirty="0" err="1">
                <a:solidFill>
                  <a:schemeClr val="tx1">
                    <a:alpha val="80000"/>
                  </a:schemeClr>
                </a:solidFill>
              </a:rPr>
              <a:t>souveraineté</a:t>
            </a:r>
            <a:r>
              <a:rPr lang="en-US" sz="1800" dirty="0">
                <a:solidFill>
                  <a:schemeClr val="tx1">
                    <a:alpha val="80000"/>
                  </a:schemeClr>
                </a:solidFill>
              </a:rPr>
              <a:t> des données (RGPD).</a:t>
            </a:r>
          </a:p>
          <a:p>
            <a:pPr indent="-228600" algn="l">
              <a:buFont typeface="Arial" panose="020B0604020202020204" pitchFamily="34" charset="0"/>
              <a:buChar char="•"/>
            </a:pPr>
            <a:r>
              <a:rPr lang="en-US" sz="1800" b="1" dirty="0">
                <a:solidFill>
                  <a:schemeClr val="tx1">
                    <a:alpha val="80000"/>
                  </a:schemeClr>
                </a:solidFill>
              </a:rPr>
              <a:t>Démarche Agile</a:t>
            </a:r>
          </a:p>
          <a:p>
            <a:pPr indent="-228600" algn="l">
              <a:buFont typeface="Arial" panose="020B0604020202020204" pitchFamily="34" charset="0"/>
              <a:buChar char="•"/>
            </a:pPr>
            <a:r>
              <a:rPr lang="en-US" sz="1800" dirty="0">
                <a:solidFill>
                  <a:schemeClr val="tx1">
                    <a:alpha val="80000"/>
                  </a:schemeClr>
                </a:solidFill>
              </a:rPr>
              <a:t>Une </a:t>
            </a:r>
            <a:r>
              <a:rPr lang="en-US" sz="1800" dirty="0" err="1">
                <a:solidFill>
                  <a:schemeClr val="tx1">
                    <a:alpha val="80000"/>
                  </a:schemeClr>
                </a:solidFill>
              </a:rPr>
              <a:t>semaine</a:t>
            </a:r>
            <a:r>
              <a:rPr lang="en-US" sz="1800" dirty="0">
                <a:solidFill>
                  <a:schemeClr val="tx1">
                    <a:alpha val="80000"/>
                  </a:schemeClr>
                </a:solidFill>
              </a:rPr>
              <a:t> de simulation Scrum </a:t>
            </a:r>
            <a:r>
              <a:rPr lang="en-US" sz="1800" dirty="0" err="1">
                <a:solidFill>
                  <a:schemeClr val="tx1">
                    <a:alpha val="80000"/>
                  </a:schemeClr>
                </a:solidFill>
              </a:rPr>
              <a:t>ponctuée</a:t>
            </a:r>
            <a:r>
              <a:rPr lang="en-US" sz="1800" dirty="0">
                <a:solidFill>
                  <a:schemeClr val="tx1">
                    <a:alpha val="80000"/>
                  </a:schemeClr>
                </a:solidFill>
              </a:rPr>
              <a:t> de 5 perturbations </a:t>
            </a:r>
            <a:r>
              <a:rPr lang="en-US" sz="1800" dirty="0" err="1">
                <a:solidFill>
                  <a:schemeClr val="tx1">
                    <a:alpha val="80000"/>
                  </a:schemeClr>
                </a:solidFill>
              </a:rPr>
              <a:t>reproduisant</a:t>
            </a:r>
            <a:r>
              <a:rPr lang="en-US" sz="1800" dirty="0">
                <a:solidFill>
                  <a:schemeClr val="tx1">
                    <a:alpha val="80000"/>
                  </a:schemeClr>
                </a:solidFill>
              </a:rPr>
              <a:t> les </a:t>
            </a:r>
            <a:r>
              <a:rPr lang="en-US" sz="1800" dirty="0" err="1">
                <a:solidFill>
                  <a:schemeClr val="tx1">
                    <a:alpha val="80000"/>
                  </a:schemeClr>
                </a:solidFill>
              </a:rPr>
              <a:t>contraintes</a:t>
            </a:r>
            <a:r>
              <a:rPr lang="en-US" sz="1800" dirty="0">
                <a:solidFill>
                  <a:schemeClr val="tx1">
                    <a:alpha val="80000"/>
                  </a:schemeClr>
                </a:solidFill>
              </a:rPr>
              <a:t> d'un </a:t>
            </a:r>
            <a:r>
              <a:rPr lang="en-US" sz="1800" dirty="0" err="1">
                <a:solidFill>
                  <a:schemeClr val="tx1">
                    <a:alpha val="80000"/>
                  </a:schemeClr>
                </a:solidFill>
              </a:rPr>
              <a:t>projet</a:t>
            </a:r>
            <a:r>
              <a:rPr lang="en-US" sz="1800" dirty="0">
                <a:solidFill>
                  <a:schemeClr val="tx1">
                    <a:alpha val="80000"/>
                  </a:schemeClr>
                </a:solidFill>
              </a:rPr>
              <a:t> </a:t>
            </a:r>
            <a:r>
              <a:rPr lang="en-US" sz="1800" dirty="0" err="1">
                <a:solidFill>
                  <a:schemeClr val="tx1">
                    <a:alpha val="80000"/>
                  </a:schemeClr>
                </a:solidFill>
              </a:rPr>
              <a:t>réel</a:t>
            </a:r>
            <a:r>
              <a:rPr lang="en-US" sz="1800" dirty="0">
                <a:solidFill>
                  <a:schemeClr val="tx1">
                    <a:alpha val="80000"/>
                  </a:schemeClr>
                </a:solidFill>
              </a:rPr>
              <a:t> : </a:t>
            </a:r>
            <a:r>
              <a:rPr lang="en-US" sz="1800" dirty="0" err="1">
                <a:solidFill>
                  <a:schemeClr val="tx1">
                    <a:alpha val="80000"/>
                  </a:schemeClr>
                </a:solidFill>
              </a:rPr>
              <a:t>besoins</a:t>
            </a:r>
            <a:r>
              <a:rPr lang="en-US" sz="1800" dirty="0">
                <a:solidFill>
                  <a:schemeClr val="tx1">
                    <a:alpha val="80000"/>
                  </a:schemeClr>
                </a:solidFill>
              </a:rPr>
              <a:t>, technique, sécurité, RGPD et retours </a:t>
            </a:r>
            <a:r>
              <a:rPr lang="en-US" sz="1800" dirty="0" err="1">
                <a:solidFill>
                  <a:schemeClr val="tx1">
                    <a:alpha val="80000"/>
                  </a:schemeClr>
                </a:solidFill>
              </a:rPr>
              <a:t>utilisateurs</a:t>
            </a:r>
            <a:r>
              <a:rPr lang="en-US" sz="1800" dirty="0">
                <a:solidFill>
                  <a:schemeClr val="tx1">
                    <a:alpha val="80000"/>
                  </a:schemeClr>
                </a:solidFill>
              </a:rPr>
              <a:t>.</a:t>
            </a:r>
          </a:p>
        </p:txBody>
      </p:sp>
      <p:cxnSp>
        <p:nvCxnSpPr>
          <p:cNvPr id="31" name="Straight Connector 30">
            <a:extLst>
              <a:ext uri="{FF2B5EF4-FFF2-40B4-BE49-F238E27FC236}">
                <a16:creationId xmlns:a16="http://schemas.microsoft.com/office/drawing/2014/main" id="{7AB29E43-3F9E-9CB1-2B84-FD06E03F37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30159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848E9F-ECB9-A1A6-F240-9304DE3F856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E8B9C6B6-ED1C-4593-A847-2EED7A79650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a:solidFill>
                  <a:srgbClr val="FFFFFF"/>
                </a:solidFill>
              </a:rPr>
              <a:t>Architecture Decision Record</a:t>
            </a:r>
            <a:br>
              <a:rPr lang="en-US" sz="5600" dirty="0"/>
            </a:br>
            <a:r>
              <a:rPr lang="en-US" sz="5600" b="1" dirty="0" err="1">
                <a:solidFill>
                  <a:srgbClr val="FFFFFF"/>
                </a:solidFill>
              </a:rPr>
              <a:t>Pourquoi</a:t>
            </a:r>
            <a:r>
              <a:rPr lang="en-US" sz="5600" b="1" dirty="0">
                <a:solidFill>
                  <a:srgbClr val="FFFFFF"/>
                </a:solidFill>
              </a:rPr>
              <a:t> un ADR ?</a:t>
            </a:r>
            <a:endParaRPr lang="en-US" sz="5600" dirty="0">
              <a:solidFill>
                <a:srgbClr val="FFFFFF"/>
              </a:solidFill>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B615D3A-EE6A-594B-C97E-56C93CEC9424}"/>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en-US" sz="1700" dirty="0">
                <a:solidFill>
                  <a:schemeClr val="tx1">
                    <a:alpha val="80000"/>
                  </a:schemeClr>
                </a:solidFill>
              </a:rPr>
              <a:t>Lors de la </a:t>
            </a:r>
            <a:r>
              <a:rPr lang="en-US" sz="1700" b="1" dirty="0">
                <a:solidFill>
                  <a:schemeClr val="tx1">
                    <a:alpha val="80000"/>
                  </a:schemeClr>
                </a:solidFill>
              </a:rPr>
              <a:t>perturbation J2</a:t>
            </a:r>
            <a:r>
              <a:rPr lang="en-US" sz="1700" dirty="0">
                <a:solidFill>
                  <a:schemeClr val="tx1">
                    <a:alpha val="80000"/>
                  </a:schemeClr>
                </a:solidFill>
              </a:rPr>
              <a:t>, nous </a:t>
            </a:r>
            <a:r>
              <a:rPr lang="en-US" sz="1700" dirty="0" err="1">
                <a:solidFill>
                  <a:schemeClr val="tx1">
                    <a:alpha val="80000"/>
                  </a:schemeClr>
                </a:solidFill>
              </a:rPr>
              <a:t>devions</a:t>
            </a:r>
            <a:r>
              <a:rPr lang="en-US" sz="1700" dirty="0">
                <a:solidFill>
                  <a:schemeClr val="tx1">
                    <a:alpha val="80000"/>
                  </a:schemeClr>
                </a:solidFill>
              </a:rPr>
              <a:t> </a:t>
            </a:r>
            <a:r>
              <a:rPr lang="en-US" sz="1700" dirty="0" err="1">
                <a:solidFill>
                  <a:schemeClr val="tx1">
                    <a:alpha val="80000"/>
                  </a:schemeClr>
                </a:solidFill>
              </a:rPr>
              <a:t>résoudre</a:t>
            </a:r>
            <a:r>
              <a:rPr lang="en-US" sz="1700" dirty="0">
                <a:solidFill>
                  <a:schemeClr val="tx1">
                    <a:alpha val="80000"/>
                  </a:schemeClr>
                </a:solidFill>
              </a:rPr>
              <a:t> un </a:t>
            </a:r>
            <a:r>
              <a:rPr lang="en-US" sz="1700" dirty="0" err="1">
                <a:solidFill>
                  <a:schemeClr val="tx1">
                    <a:alpha val="80000"/>
                  </a:schemeClr>
                </a:solidFill>
              </a:rPr>
              <a:t>problème</a:t>
            </a:r>
            <a:r>
              <a:rPr lang="en-US" sz="1700" dirty="0">
                <a:solidFill>
                  <a:schemeClr val="tx1">
                    <a:alpha val="80000"/>
                  </a:schemeClr>
                </a:solidFill>
              </a:rPr>
              <a:t> de performances : la </a:t>
            </a:r>
            <a:r>
              <a:rPr lang="en-US" sz="1700" dirty="0" err="1">
                <a:solidFill>
                  <a:schemeClr val="tx1">
                    <a:alpha val="80000"/>
                  </a:schemeClr>
                </a:solidFill>
              </a:rPr>
              <a:t>génération</a:t>
            </a:r>
            <a:r>
              <a:rPr lang="en-US" sz="1700" dirty="0">
                <a:solidFill>
                  <a:schemeClr val="tx1">
                    <a:alpha val="80000"/>
                  </a:schemeClr>
                </a:solidFill>
              </a:rPr>
              <a:t> des quiz </a:t>
            </a:r>
            <a:r>
              <a:rPr lang="en-US" sz="1700" dirty="0" err="1">
                <a:solidFill>
                  <a:schemeClr val="tx1">
                    <a:alpha val="80000"/>
                  </a:schemeClr>
                </a:solidFill>
              </a:rPr>
              <a:t>était</a:t>
            </a:r>
            <a:r>
              <a:rPr lang="en-US" sz="1700" dirty="0">
                <a:solidFill>
                  <a:schemeClr val="tx1">
                    <a:alpha val="80000"/>
                  </a:schemeClr>
                </a:solidFill>
              </a:rPr>
              <a:t> </a:t>
            </a:r>
            <a:r>
              <a:rPr lang="en-US" sz="1700" dirty="0" err="1">
                <a:solidFill>
                  <a:schemeClr val="tx1">
                    <a:alpha val="80000"/>
                  </a:schemeClr>
                </a:solidFill>
              </a:rPr>
              <a:t>jugée</a:t>
            </a:r>
            <a:r>
              <a:rPr lang="en-US" sz="1700" dirty="0">
                <a:solidFill>
                  <a:schemeClr val="tx1">
                    <a:alpha val="80000"/>
                  </a:schemeClr>
                </a:solidFill>
              </a:rPr>
              <a:t> trop lente.</a:t>
            </a:r>
          </a:p>
          <a:p>
            <a:pPr indent="-228600" algn="l">
              <a:buFont typeface="Arial" panose="020B0604020202020204" pitchFamily="34" charset="0"/>
              <a:buChar char="•"/>
            </a:pPr>
            <a:r>
              <a:rPr lang="en-US" sz="1700" dirty="0" err="1">
                <a:solidFill>
                  <a:schemeClr val="tx1">
                    <a:alpha val="80000"/>
                  </a:schemeClr>
                </a:solidFill>
              </a:rPr>
              <a:t>Plutôt</a:t>
            </a:r>
            <a:r>
              <a:rPr lang="en-US" sz="1700" dirty="0">
                <a:solidFill>
                  <a:schemeClr val="tx1">
                    <a:alpha val="80000"/>
                  </a:schemeClr>
                </a:solidFill>
              </a:rPr>
              <a:t> </a:t>
            </a:r>
            <a:r>
              <a:rPr lang="en-US" sz="1700" dirty="0" err="1">
                <a:solidFill>
                  <a:schemeClr val="tx1">
                    <a:alpha val="80000"/>
                  </a:schemeClr>
                </a:solidFill>
              </a:rPr>
              <a:t>que</a:t>
            </a:r>
            <a:r>
              <a:rPr lang="en-US" sz="1700" dirty="0">
                <a:solidFill>
                  <a:schemeClr val="tx1">
                    <a:alpha val="80000"/>
                  </a:schemeClr>
                </a:solidFill>
              </a:rPr>
              <a:t> de </a:t>
            </a:r>
            <a:r>
              <a:rPr lang="en-US" sz="1700" dirty="0" err="1">
                <a:solidFill>
                  <a:schemeClr val="tx1">
                    <a:alpha val="80000"/>
                  </a:schemeClr>
                </a:solidFill>
              </a:rPr>
              <a:t>choisir</a:t>
            </a:r>
            <a:r>
              <a:rPr lang="en-US" sz="1700" dirty="0">
                <a:solidFill>
                  <a:schemeClr val="tx1">
                    <a:alpha val="80000"/>
                  </a:schemeClr>
                </a:solidFill>
              </a:rPr>
              <a:t> </a:t>
            </a:r>
            <a:r>
              <a:rPr lang="en-US" sz="1700" dirty="0" err="1">
                <a:solidFill>
                  <a:schemeClr val="tx1">
                    <a:alpha val="80000"/>
                  </a:schemeClr>
                </a:solidFill>
              </a:rPr>
              <a:t>une</a:t>
            </a:r>
            <a:r>
              <a:rPr lang="en-US" sz="1700" dirty="0">
                <a:solidFill>
                  <a:schemeClr val="tx1">
                    <a:alpha val="80000"/>
                  </a:schemeClr>
                </a:solidFill>
              </a:rPr>
              <a:t> solution de manière </a:t>
            </a:r>
            <a:r>
              <a:rPr lang="en-US" sz="1700" dirty="0" err="1">
                <a:solidFill>
                  <a:schemeClr val="tx1">
                    <a:alpha val="80000"/>
                  </a:schemeClr>
                </a:solidFill>
              </a:rPr>
              <a:t>arbitraire</a:t>
            </a:r>
            <a:r>
              <a:rPr lang="en-US" sz="1700" dirty="0">
                <a:solidFill>
                  <a:schemeClr val="tx1">
                    <a:alpha val="80000"/>
                  </a:schemeClr>
                </a:solidFill>
              </a:rPr>
              <a:t>, nous </a:t>
            </a:r>
            <a:r>
              <a:rPr lang="en-US" sz="1700" dirty="0" err="1">
                <a:solidFill>
                  <a:schemeClr val="tx1">
                    <a:alpha val="80000"/>
                  </a:schemeClr>
                </a:solidFill>
              </a:rPr>
              <a:t>avons</a:t>
            </a:r>
            <a:r>
              <a:rPr lang="en-US" sz="1700" dirty="0">
                <a:solidFill>
                  <a:schemeClr val="tx1">
                    <a:alpha val="80000"/>
                  </a:schemeClr>
                </a:solidFill>
              </a:rPr>
              <a:t> </a:t>
            </a:r>
            <a:r>
              <a:rPr lang="en-US" sz="1700" dirty="0" err="1">
                <a:solidFill>
                  <a:schemeClr val="tx1">
                    <a:alpha val="80000"/>
                  </a:schemeClr>
                </a:solidFill>
              </a:rPr>
              <a:t>rédigé</a:t>
            </a:r>
            <a:r>
              <a:rPr lang="en-US" sz="1700" dirty="0">
                <a:solidFill>
                  <a:schemeClr val="tx1">
                    <a:alpha val="80000"/>
                  </a:schemeClr>
                </a:solidFill>
              </a:rPr>
              <a:t> un </a:t>
            </a:r>
            <a:r>
              <a:rPr lang="en-US" sz="1700" b="1" dirty="0">
                <a:solidFill>
                  <a:schemeClr val="tx1">
                    <a:alpha val="80000"/>
                  </a:schemeClr>
                </a:solidFill>
              </a:rPr>
              <a:t>ADR (Architecture Decision Record)</a:t>
            </a:r>
            <a:r>
              <a:rPr lang="en-US" sz="1700" dirty="0">
                <a:solidFill>
                  <a:schemeClr val="tx1">
                    <a:alpha val="80000"/>
                  </a:schemeClr>
                </a:solidFill>
              </a:rPr>
              <a:t> </a:t>
            </a:r>
            <a:r>
              <a:rPr lang="en-US" sz="1700" dirty="0" err="1">
                <a:solidFill>
                  <a:schemeClr val="tx1">
                    <a:alpha val="80000"/>
                  </a:schemeClr>
                </a:solidFill>
              </a:rPr>
              <a:t>afin</a:t>
            </a:r>
            <a:r>
              <a:rPr lang="en-US" sz="1700" dirty="0">
                <a:solidFill>
                  <a:schemeClr val="tx1">
                    <a:alpha val="80000"/>
                  </a:schemeClr>
                </a:solidFill>
              </a:rPr>
              <a:t> de documenter </a:t>
            </a:r>
            <a:r>
              <a:rPr lang="en-US" sz="1700" dirty="0" err="1">
                <a:solidFill>
                  <a:schemeClr val="tx1">
                    <a:alpha val="80000"/>
                  </a:schemeClr>
                </a:solidFill>
              </a:rPr>
              <a:t>notre</a:t>
            </a:r>
            <a:r>
              <a:rPr lang="en-US" sz="1700" dirty="0">
                <a:solidFill>
                  <a:schemeClr val="tx1">
                    <a:alpha val="80000"/>
                  </a:schemeClr>
                </a:solidFill>
              </a:rPr>
              <a:t> </a:t>
            </a:r>
            <a:r>
              <a:rPr lang="en-US" sz="1700" dirty="0" err="1">
                <a:solidFill>
                  <a:schemeClr val="tx1">
                    <a:alpha val="80000"/>
                  </a:schemeClr>
                </a:solidFill>
              </a:rPr>
              <a:t>décision</a:t>
            </a:r>
            <a:r>
              <a:rPr lang="en-US" sz="1700" dirty="0">
                <a:solidFill>
                  <a:schemeClr val="tx1">
                    <a:alpha val="80000"/>
                  </a:schemeClr>
                </a:solidFill>
              </a:rPr>
              <a:t> technique et de conserver </a:t>
            </a:r>
            <a:r>
              <a:rPr lang="en-US" sz="1700" dirty="0" err="1">
                <a:solidFill>
                  <a:schemeClr val="tx1">
                    <a:alpha val="80000"/>
                  </a:schemeClr>
                </a:solidFill>
              </a:rPr>
              <a:t>une</a:t>
            </a:r>
            <a:r>
              <a:rPr lang="en-US" sz="1700" dirty="0">
                <a:solidFill>
                  <a:schemeClr val="tx1">
                    <a:alpha val="80000"/>
                  </a:schemeClr>
                </a:solidFill>
              </a:rPr>
              <a:t> trace de </a:t>
            </a:r>
            <a:r>
              <a:rPr lang="en-US" sz="1700" dirty="0" err="1">
                <a:solidFill>
                  <a:schemeClr val="tx1">
                    <a:alpha val="80000"/>
                  </a:schemeClr>
                </a:solidFill>
              </a:rPr>
              <a:t>notre</a:t>
            </a:r>
            <a:r>
              <a:rPr lang="en-US" sz="1700" dirty="0">
                <a:solidFill>
                  <a:schemeClr val="tx1">
                    <a:alpha val="80000"/>
                  </a:schemeClr>
                </a:solidFill>
              </a:rPr>
              <a:t> </a:t>
            </a:r>
            <a:r>
              <a:rPr lang="en-US" sz="1700" dirty="0" err="1">
                <a:solidFill>
                  <a:schemeClr val="tx1">
                    <a:alpha val="80000"/>
                  </a:schemeClr>
                </a:solidFill>
              </a:rPr>
              <a:t>raisonnement</a:t>
            </a:r>
            <a:r>
              <a:rPr lang="en-US" sz="1700" dirty="0">
                <a:solidFill>
                  <a:schemeClr val="tx1">
                    <a:alpha val="80000"/>
                  </a:schemeClr>
                </a:solidFill>
              </a:rPr>
              <a:t>. </a:t>
            </a:r>
          </a:p>
          <a:p>
            <a:pPr algn="l"/>
            <a:br>
              <a:rPr lang="en-US" sz="1700" dirty="0">
                <a:solidFill>
                  <a:schemeClr val="tx1">
                    <a:alpha val="80000"/>
                  </a:schemeClr>
                </a:solidFill>
              </a:rPr>
            </a:br>
            <a:endParaRPr lang="en-US" sz="1700" dirty="0">
              <a:solidFill>
                <a:schemeClr val="tx1">
                  <a:alpha val="80000"/>
                </a:schemeClr>
              </a:solidFill>
            </a:endParaRPr>
          </a:p>
          <a:p>
            <a:r>
              <a:rPr lang="en-US" sz="1700" b="1" dirty="0">
                <a:solidFill>
                  <a:schemeClr val="tx1">
                    <a:alpha val="80000"/>
                  </a:schemeClr>
                </a:solidFill>
              </a:rPr>
              <a:t>Notre démarche</a:t>
            </a:r>
          </a:p>
          <a:p>
            <a:pPr indent="-228600">
              <a:buFont typeface="Arial" panose="020B0604020202020204" pitchFamily="34" charset="0"/>
              <a:buChar char="•"/>
            </a:pPr>
            <a:r>
              <a:rPr lang="en-US" sz="1700" dirty="0">
                <a:solidFill>
                  <a:schemeClr val="tx1">
                    <a:alpha val="80000"/>
                  </a:schemeClr>
                </a:solidFill>
              </a:rPr>
              <a:t>📊 </a:t>
            </a:r>
            <a:r>
              <a:rPr lang="en-US" sz="1700" dirty="0" err="1">
                <a:solidFill>
                  <a:schemeClr val="tx1">
                    <a:alpha val="80000"/>
                  </a:schemeClr>
                </a:solidFill>
              </a:rPr>
              <a:t>Réalisation</a:t>
            </a:r>
            <a:r>
              <a:rPr lang="en-US" sz="1700" dirty="0">
                <a:solidFill>
                  <a:schemeClr val="tx1">
                    <a:alpha val="80000"/>
                  </a:schemeClr>
                </a:solidFill>
              </a:rPr>
              <a:t> d'un benchmark des </a:t>
            </a:r>
            <a:r>
              <a:rPr lang="en-US" sz="1700" dirty="0" err="1">
                <a:solidFill>
                  <a:schemeClr val="tx1">
                    <a:alpha val="80000"/>
                  </a:schemeClr>
                </a:solidFill>
              </a:rPr>
              <a:t>modèles</a:t>
            </a:r>
            <a:r>
              <a:rPr lang="en-US" sz="1700" dirty="0">
                <a:solidFill>
                  <a:schemeClr val="tx1">
                    <a:alpha val="80000"/>
                  </a:schemeClr>
                </a:solidFill>
              </a:rPr>
              <a:t> LLM </a:t>
            </a:r>
          </a:p>
          <a:p>
            <a:pPr indent="-228600">
              <a:buFont typeface="Arial" panose="020B0604020202020204" pitchFamily="34" charset="0"/>
              <a:buChar char="•"/>
            </a:pPr>
            <a:r>
              <a:rPr lang="en-US" sz="1700" dirty="0">
                <a:solidFill>
                  <a:schemeClr val="tx1">
                    <a:alpha val="80000"/>
                  </a:schemeClr>
                </a:solidFill>
              </a:rPr>
              <a:t>⚖️ </a:t>
            </a:r>
            <a:r>
              <a:rPr lang="en-US" sz="1700" dirty="0" err="1">
                <a:solidFill>
                  <a:schemeClr val="tx1">
                    <a:alpha val="80000"/>
                  </a:schemeClr>
                </a:solidFill>
              </a:rPr>
              <a:t>Comparaison</a:t>
            </a:r>
            <a:r>
              <a:rPr lang="en-US" sz="1700" dirty="0">
                <a:solidFill>
                  <a:schemeClr val="tx1">
                    <a:alpha val="80000"/>
                  </a:schemeClr>
                </a:solidFill>
              </a:rPr>
              <a:t> des performances (temps de </a:t>
            </a:r>
            <a:r>
              <a:rPr lang="en-US" sz="1700" dirty="0" err="1">
                <a:solidFill>
                  <a:schemeClr val="tx1">
                    <a:alpha val="80000"/>
                  </a:schemeClr>
                </a:solidFill>
              </a:rPr>
              <a:t>réponse</a:t>
            </a:r>
            <a:r>
              <a:rPr lang="en-US" sz="1700" dirty="0">
                <a:solidFill>
                  <a:schemeClr val="tx1">
                    <a:alpha val="80000"/>
                  </a:schemeClr>
                </a:solidFill>
              </a:rPr>
              <a:t>, </a:t>
            </a:r>
            <a:r>
              <a:rPr lang="en-US" sz="1700" dirty="0" err="1">
                <a:solidFill>
                  <a:schemeClr val="tx1">
                    <a:alpha val="80000"/>
                  </a:schemeClr>
                </a:solidFill>
              </a:rPr>
              <a:t>qualité</a:t>
            </a:r>
            <a:r>
              <a:rPr lang="en-US" sz="1700" dirty="0">
                <a:solidFill>
                  <a:schemeClr val="tx1">
                    <a:alpha val="80000"/>
                  </a:schemeClr>
                </a:solidFill>
              </a:rPr>
              <a:t>, </a:t>
            </a:r>
            <a:r>
              <a:rPr lang="en-US" sz="1700" dirty="0" err="1">
                <a:solidFill>
                  <a:schemeClr val="tx1">
                    <a:alpha val="80000"/>
                  </a:schemeClr>
                </a:solidFill>
              </a:rPr>
              <a:t>consommation</a:t>
            </a:r>
            <a:r>
              <a:rPr lang="en-US" sz="1700" dirty="0">
                <a:solidFill>
                  <a:schemeClr val="tx1">
                    <a:alpha val="80000"/>
                  </a:schemeClr>
                </a:solidFill>
              </a:rPr>
              <a:t> de </a:t>
            </a:r>
            <a:r>
              <a:rPr lang="en-US" sz="1700" dirty="0" err="1">
                <a:solidFill>
                  <a:schemeClr val="tx1">
                    <a:alpha val="80000"/>
                  </a:schemeClr>
                </a:solidFill>
              </a:rPr>
              <a:t>ressources</a:t>
            </a:r>
            <a:r>
              <a:rPr lang="en-US" sz="1700" dirty="0">
                <a:solidFill>
                  <a:schemeClr val="tx1">
                    <a:alpha val="80000"/>
                  </a:schemeClr>
                </a:solidFill>
              </a:rPr>
              <a:t>) </a:t>
            </a:r>
          </a:p>
          <a:p>
            <a:pPr indent="-228600">
              <a:buFont typeface="Arial" panose="020B0604020202020204" pitchFamily="34" charset="0"/>
              <a:buChar char="•"/>
            </a:pPr>
            <a:r>
              <a:rPr lang="en-US" sz="1700" dirty="0">
                <a:solidFill>
                  <a:schemeClr val="tx1">
                    <a:alpha val="80000"/>
                  </a:schemeClr>
                </a:solidFill>
              </a:rPr>
              <a:t>🎯 Choix du </a:t>
            </a:r>
            <a:r>
              <a:rPr lang="en-US" sz="1700" dirty="0" err="1">
                <a:solidFill>
                  <a:schemeClr val="tx1">
                    <a:alpha val="80000"/>
                  </a:schemeClr>
                </a:solidFill>
              </a:rPr>
              <a:t>modèle</a:t>
            </a:r>
            <a:r>
              <a:rPr lang="en-US" sz="1700" dirty="0">
                <a:solidFill>
                  <a:schemeClr val="tx1">
                    <a:alpha val="80000"/>
                  </a:schemeClr>
                </a:solidFill>
              </a:rPr>
              <a:t> </a:t>
            </a:r>
            <a:r>
              <a:rPr lang="en-US" sz="1700" dirty="0" err="1">
                <a:solidFill>
                  <a:schemeClr val="tx1">
                    <a:alpha val="80000"/>
                  </a:schemeClr>
                </a:solidFill>
              </a:rPr>
              <a:t>offrant</a:t>
            </a:r>
            <a:r>
              <a:rPr lang="en-US" sz="1700" dirty="0">
                <a:solidFill>
                  <a:schemeClr val="tx1">
                    <a:alpha val="80000"/>
                  </a:schemeClr>
                </a:solidFill>
              </a:rPr>
              <a:t> le </a:t>
            </a:r>
            <a:r>
              <a:rPr lang="en-US" sz="1700" dirty="0" err="1">
                <a:solidFill>
                  <a:schemeClr val="tx1">
                    <a:alpha val="80000"/>
                  </a:schemeClr>
                </a:solidFill>
              </a:rPr>
              <a:t>meilleur</a:t>
            </a:r>
            <a:r>
              <a:rPr lang="en-US" sz="1700" dirty="0">
                <a:solidFill>
                  <a:schemeClr val="tx1">
                    <a:alpha val="80000"/>
                  </a:schemeClr>
                </a:solidFill>
              </a:rPr>
              <a:t> </a:t>
            </a:r>
            <a:r>
              <a:rPr lang="en-US" sz="1700" dirty="0" err="1">
                <a:solidFill>
                  <a:schemeClr val="tx1">
                    <a:alpha val="80000"/>
                  </a:schemeClr>
                </a:solidFill>
              </a:rPr>
              <a:t>compromis</a:t>
            </a:r>
            <a:r>
              <a:rPr lang="en-US" sz="1700" dirty="0">
                <a:solidFill>
                  <a:schemeClr val="tx1">
                    <a:alpha val="80000"/>
                  </a:schemeClr>
                </a:solidFill>
              </a:rPr>
              <a:t> </a:t>
            </a:r>
          </a:p>
          <a:p>
            <a:pPr indent="-228600">
              <a:buFont typeface="Arial" panose="020B0604020202020204" pitchFamily="34" charset="0"/>
              <a:buChar char="•"/>
            </a:pPr>
            <a:r>
              <a:rPr lang="en-US" sz="1700" dirty="0">
                <a:solidFill>
                  <a:schemeClr val="tx1">
                    <a:alpha val="80000"/>
                  </a:schemeClr>
                </a:solidFill>
              </a:rPr>
              <a:t>📝 Documentation de la </a:t>
            </a:r>
            <a:r>
              <a:rPr lang="en-US" sz="1700" dirty="0" err="1">
                <a:solidFill>
                  <a:schemeClr val="tx1">
                    <a:alpha val="80000"/>
                  </a:schemeClr>
                </a:solidFill>
              </a:rPr>
              <a:t>décision</a:t>
            </a:r>
            <a:r>
              <a:rPr lang="en-US" sz="1700" dirty="0">
                <a:solidFill>
                  <a:schemeClr val="tx1">
                    <a:alpha val="80000"/>
                  </a:schemeClr>
                </a:solidFill>
              </a:rPr>
              <a:t> dans un ADR</a:t>
            </a: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702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AB0063-9063-880E-61FF-C41A9A2668B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25E23D-D7F3-0AF2-AA80-FBCC19D19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47F202E0-E623-7121-9013-AC744B2A2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D5274541-512F-72E5-A13E-88E86A852F1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a:solidFill>
                  <a:srgbClr val="FFFFFF"/>
                </a:solidFill>
              </a:rPr>
              <a:t>Benchmark des </a:t>
            </a:r>
            <a:r>
              <a:rPr lang="en-US" sz="5600" b="1" dirty="0" err="1">
                <a:solidFill>
                  <a:srgbClr val="FFFFFF"/>
                </a:solidFill>
              </a:rPr>
              <a:t>modèles</a:t>
            </a:r>
            <a:r>
              <a:rPr lang="en-US" sz="5600" b="1" dirty="0">
                <a:solidFill>
                  <a:srgbClr val="FFFFFF"/>
                </a:solidFill>
              </a:rPr>
              <a:t> LLM</a:t>
            </a:r>
          </a:p>
        </p:txBody>
      </p:sp>
      <p:grpSp>
        <p:nvGrpSpPr>
          <p:cNvPr id="26" name="Group 25">
            <a:extLst>
              <a:ext uri="{FF2B5EF4-FFF2-40B4-BE49-F238E27FC236}">
                <a16:creationId xmlns:a16="http://schemas.microsoft.com/office/drawing/2014/main" id="{13905293-3FB8-F785-0382-0F7113E254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38676C55-3F68-4970-92CE-94CFF1627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BD93D8E0-9C15-72FB-53AF-FED0968B9C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676A705D-1FFE-73B7-DE84-2377B3045A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803BF86-B654-C4D8-015E-F1C212EBA629}"/>
              </a:ext>
            </a:extLst>
          </p:cNvPr>
          <p:cNvSpPr>
            <a:spLocks noGrp="1"/>
          </p:cNvSpPr>
          <p:nvPr>
            <p:ph type="subTitle" idx="1"/>
          </p:nvPr>
        </p:nvSpPr>
        <p:spPr>
          <a:xfrm>
            <a:off x="6297233" y="518400"/>
            <a:ext cx="4771607" cy="5837949"/>
          </a:xfrm>
        </p:spPr>
        <p:txBody>
          <a:bodyPr vert="horz" lIns="91440" tIns="45720" rIns="91440" bIns="45720" rtlCol="0" anchor="ctr">
            <a:normAutofit fontScale="92500" lnSpcReduction="10000"/>
          </a:bodyPr>
          <a:lstStyle/>
          <a:p>
            <a:r>
              <a:rPr lang="en-US" b="1" dirty="0" err="1"/>
              <a:t>Pourquoi</a:t>
            </a:r>
            <a:r>
              <a:rPr lang="en-US" b="1" dirty="0"/>
              <a:t> </a:t>
            </a:r>
            <a:r>
              <a:rPr lang="en-US" b="1" dirty="0" err="1"/>
              <a:t>ce</a:t>
            </a:r>
            <a:r>
              <a:rPr lang="en-US" b="1" dirty="0"/>
              <a:t> benchmark ?</a:t>
            </a:r>
          </a:p>
          <a:p>
            <a:r>
              <a:rPr lang="en-US" dirty="0">
                <a:ea typeface="+mn-lt"/>
                <a:cs typeface="+mn-lt"/>
              </a:rPr>
              <a:t>Lors de la perturbation J2, un retour </a:t>
            </a:r>
            <a:r>
              <a:rPr lang="en-US" dirty="0" err="1">
                <a:ea typeface="+mn-lt"/>
                <a:cs typeface="+mn-lt"/>
              </a:rPr>
              <a:t>utilisateur</a:t>
            </a:r>
            <a:r>
              <a:rPr lang="en-US" dirty="0">
                <a:ea typeface="+mn-lt"/>
                <a:cs typeface="+mn-lt"/>
              </a:rPr>
              <a:t> </a:t>
            </a:r>
            <a:r>
              <a:rPr lang="en-US" dirty="0" err="1">
                <a:ea typeface="+mn-lt"/>
                <a:cs typeface="+mn-lt"/>
              </a:rPr>
              <a:t>signalait</a:t>
            </a:r>
            <a:r>
              <a:rPr lang="en-US" dirty="0">
                <a:ea typeface="+mn-lt"/>
                <a:cs typeface="+mn-lt"/>
              </a:rPr>
              <a:t> </a:t>
            </a:r>
            <a:r>
              <a:rPr lang="en-US" dirty="0" err="1">
                <a:ea typeface="+mn-lt"/>
                <a:cs typeface="+mn-lt"/>
              </a:rPr>
              <a:t>que</a:t>
            </a:r>
            <a:r>
              <a:rPr lang="en-US" dirty="0">
                <a:ea typeface="+mn-lt"/>
                <a:cs typeface="+mn-lt"/>
              </a:rPr>
              <a:t> la </a:t>
            </a:r>
            <a:r>
              <a:rPr lang="en-US" dirty="0" err="1">
                <a:ea typeface="+mn-lt"/>
                <a:cs typeface="+mn-lt"/>
              </a:rPr>
              <a:t>génération</a:t>
            </a:r>
            <a:r>
              <a:rPr lang="en-US" dirty="0">
                <a:ea typeface="+mn-lt"/>
                <a:cs typeface="+mn-lt"/>
              </a:rPr>
              <a:t> des quiz </a:t>
            </a:r>
            <a:r>
              <a:rPr lang="en-US" dirty="0" err="1">
                <a:ea typeface="+mn-lt"/>
                <a:cs typeface="+mn-lt"/>
              </a:rPr>
              <a:t>prenait</a:t>
            </a:r>
            <a:r>
              <a:rPr lang="en-US" dirty="0">
                <a:ea typeface="+mn-lt"/>
                <a:cs typeface="+mn-lt"/>
              </a:rPr>
              <a:t> environ 45 </a:t>
            </a:r>
            <a:r>
              <a:rPr lang="en-US" dirty="0" err="1">
                <a:ea typeface="+mn-lt"/>
                <a:cs typeface="+mn-lt"/>
              </a:rPr>
              <a:t>secondes</a:t>
            </a:r>
            <a:r>
              <a:rPr lang="en-US" dirty="0">
                <a:ea typeface="+mn-lt"/>
                <a:cs typeface="+mn-lt"/>
              </a:rPr>
              <a:t>, </a:t>
            </a:r>
            <a:r>
              <a:rPr lang="en-US" dirty="0" err="1">
                <a:ea typeface="+mn-lt"/>
                <a:cs typeface="+mn-lt"/>
              </a:rPr>
              <a:t>rendant</a:t>
            </a:r>
            <a:r>
              <a:rPr lang="en-US" dirty="0">
                <a:ea typeface="+mn-lt"/>
                <a:cs typeface="+mn-lt"/>
              </a:rPr>
              <a:t> </a:t>
            </a:r>
            <a:r>
              <a:rPr lang="en-US" dirty="0" err="1">
                <a:ea typeface="+mn-lt"/>
                <a:cs typeface="+mn-lt"/>
              </a:rPr>
              <a:t>l'application</a:t>
            </a:r>
            <a:r>
              <a:rPr lang="en-US" dirty="0">
                <a:ea typeface="+mn-lt"/>
                <a:cs typeface="+mn-lt"/>
              </a:rPr>
              <a:t> peu </a:t>
            </a:r>
            <a:r>
              <a:rPr lang="en-US" dirty="0" err="1">
                <a:ea typeface="+mn-lt"/>
                <a:cs typeface="+mn-lt"/>
              </a:rPr>
              <a:t>utilisable</a:t>
            </a:r>
            <a:r>
              <a:rPr lang="en-US" dirty="0">
                <a:ea typeface="+mn-lt"/>
                <a:cs typeface="+mn-lt"/>
              </a:rPr>
              <a:t>.</a:t>
            </a:r>
          </a:p>
          <a:p>
            <a:r>
              <a:rPr lang="en-US" dirty="0">
                <a:ea typeface="+mn-lt"/>
                <a:cs typeface="+mn-lt"/>
              </a:rPr>
              <a:t>Le sponsor nous </a:t>
            </a:r>
            <a:r>
              <a:rPr lang="en-US" dirty="0" err="1">
                <a:ea typeface="+mn-lt"/>
                <a:cs typeface="+mn-lt"/>
              </a:rPr>
              <a:t>demandait</a:t>
            </a:r>
            <a:r>
              <a:rPr lang="en-US" dirty="0">
                <a:ea typeface="+mn-lt"/>
                <a:cs typeface="+mn-lt"/>
              </a:rPr>
              <a:t> </a:t>
            </a:r>
            <a:r>
              <a:rPr lang="en-US" dirty="0" err="1">
                <a:ea typeface="+mn-lt"/>
                <a:cs typeface="+mn-lt"/>
              </a:rPr>
              <a:t>donc</a:t>
            </a:r>
            <a:r>
              <a:rPr lang="en-US" dirty="0">
                <a:ea typeface="+mn-lt"/>
                <a:cs typeface="+mn-lt"/>
              </a:rPr>
              <a:t> de proposer </a:t>
            </a:r>
            <a:r>
              <a:rPr lang="en-US" dirty="0" err="1">
                <a:ea typeface="+mn-lt"/>
                <a:cs typeface="+mn-lt"/>
              </a:rPr>
              <a:t>rapidement</a:t>
            </a:r>
            <a:r>
              <a:rPr lang="en-US" dirty="0">
                <a:ea typeface="+mn-lt"/>
                <a:cs typeface="+mn-lt"/>
              </a:rPr>
              <a:t> </a:t>
            </a:r>
            <a:r>
              <a:rPr lang="en-US" dirty="0" err="1">
                <a:ea typeface="+mn-lt"/>
                <a:cs typeface="+mn-lt"/>
              </a:rPr>
              <a:t>une</a:t>
            </a:r>
            <a:r>
              <a:rPr lang="en-US" dirty="0">
                <a:ea typeface="+mn-lt"/>
                <a:cs typeface="+mn-lt"/>
              </a:rPr>
              <a:t> solution </a:t>
            </a:r>
            <a:r>
              <a:rPr lang="en-US" dirty="0" err="1">
                <a:ea typeface="+mn-lt"/>
                <a:cs typeface="+mn-lt"/>
              </a:rPr>
              <a:t>afin</a:t>
            </a:r>
            <a:r>
              <a:rPr lang="en-US" dirty="0">
                <a:ea typeface="+mn-lt"/>
                <a:cs typeface="+mn-lt"/>
              </a:rPr>
              <a:t> de </a:t>
            </a:r>
            <a:r>
              <a:rPr lang="en-US" dirty="0" err="1">
                <a:ea typeface="+mn-lt"/>
                <a:cs typeface="+mn-lt"/>
              </a:rPr>
              <a:t>réduire</a:t>
            </a:r>
            <a:r>
              <a:rPr lang="en-US" dirty="0">
                <a:ea typeface="+mn-lt"/>
                <a:cs typeface="+mn-lt"/>
              </a:rPr>
              <a:t> </a:t>
            </a:r>
            <a:r>
              <a:rPr lang="en-US" dirty="0" err="1">
                <a:ea typeface="+mn-lt"/>
                <a:cs typeface="+mn-lt"/>
              </a:rPr>
              <a:t>cette</a:t>
            </a:r>
            <a:r>
              <a:rPr lang="en-US" dirty="0">
                <a:ea typeface="+mn-lt"/>
                <a:cs typeface="+mn-lt"/>
              </a:rPr>
              <a:t> </a:t>
            </a:r>
            <a:r>
              <a:rPr lang="en-US" dirty="0" err="1">
                <a:ea typeface="+mn-lt"/>
                <a:cs typeface="+mn-lt"/>
              </a:rPr>
              <a:t>latence</a:t>
            </a:r>
            <a:r>
              <a:rPr lang="en-US" dirty="0">
                <a:ea typeface="+mn-lt"/>
                <a:cs typeface="+mn-lt"/>
              </a:rPr>
              <a:t>.</a:t>
            </a:r>
          </a:p>
          <a:p>
            <a:r>
              <a:rPr lang="en-US" b="1" dirty="0"/>
              <a:t>Notre démarche</a:t>
            </a:r>
          </a:p>
          <a:p>
            <a:pPr marL="285750" indent="-285750">
              <a:buFont typeface="Arial"/>
              <a:buChar char="•"/>
            </a:pPr>
            <a:r>
              <a:rPr lang="en-US" dirty="0" err="1">
                <a:ea typeface="+mn-lt"/>
                <a:cs typeface="+mn-lt"/>
              </a:rPr>
              <a:t>Réalisation</a:t>
            </a:r>
            <a:r>
              <a:rPr lang="en-US" dirty="0">
                <a:ea typeface="+mn-lt"/>
                <a:cs typeface="+mn-lt"/>
              </a:rPr>
              <a:t> d'un benchmark de </a:t>
            </a:r>
            <a:r>
              <a:rPr lang="en-US" dirty="0" err="1">
                <a:ea typeface="+mn-lt"/>
                <a:cs typeface="+mn-lt"/>
              </a:rPr>
              <a:t>plusieurs</a:t>
            </a:r>
            <a:r>
              <a:rPr lang="en-US" dirty="0">
                <a:ea typeface="+mn-lt"/>
                <a:cs typeface="+mn-lt"/>
              </a:rPr>
              <a:t> </a:t>
            </a:r>
            <a:r>
              <a:rPr lang="en-US" dirty="0" err="1">
                <a:ea typeface="+mn-lt"/>
                <a:cs typeface="+mn-lt"/>
              </a:rPr>
              <a:t>modèles</a:t>
            </a:r>
            <a:r>
              <a:rPr lang="en-US" dirty="0">
                <a:ea typeface="+mn-lt"/>
                <a:cs typeface="+mn-lt"/>
              </a:rPr>
              <a:t> LLM </a:t>
            </a:r>
          </a:p>
          <a:p>
            <a:pPr marL="285750" indent="-285750">
              <a:buFont typeface="Arial"/>
              <a:buChar char="•"/>
            </a:pPr>
            <a:r>
              <a:rPr lang="en-US" dirty="0" err="1">
                <a:ea typeface="+mn-lt"/>
                <a:cs typeface="+mn-lt"/>
              </a:rPr>
              <a:t>Comparaison</a:t>
            </a:r>
            <a:r>
              <a:rPr lang="en-US" dirty="0">
                <a:ea typeface="+mn-lt"/>
                <a:cs typeface="+mn-lt"/>
              </a:rPr>
              <a:t> </a:t>
            </a:r>
            <a:r>
              <a:rPr lang="en-US" dirty="0" err="1">
                <a:ea typeface="+mn-lt"/>
                <a:cs typeface="+mn-lt"/>
              </a:rPr>
              <a:t>selon</a:t>
            </a:r>
            <a:r>
              <a:rPr lang="en-US" dirty="0">
                <a:ea typeface="+mn-lt"/>
                <a:cs typeface="+mn-lt"/>
              </a:rPr>
              <a:t> des </a:t>
            </a:r>
            <a:r>
              <a:rPr lang="en-US" dirty="0" err="1">
                <a:ea typeface="+mn-lt"/>
                <a:cs typeface="+mn-lt"/>
              </a:rPr>
              <a:t>critères</a:t>
            </a:r>
            <a:r>
              <a:rPr lang="en-US" dirty="0">
                <a:ea typeface="+mn-lt"/>
                <a:cs typeface="+mn-lt"/>
              </a:rPr>
              <a:t> </a:t>
            </a:r>
            <a:r>
              <a:rPr lang="en-US" dirty="0" err="1">
                <a:ea typeface="+mn-lt"/>
                <a:cs typeface="+mn-lt"/>
              </a:rPr>
              <a:t>objectifs</a:t>
            </a:r>
            <a:r>
              <a:rPr lang="en-US" dirty="0">
                <a:ea typeface="+mn-lt"/>
                <a:cs typeface="+mn-lt"/>
              </a:rPr>
              <a:t> : </a:t>
            </a:r>
          </a:p>
          <a:p>
            <a:pPr marL="742950" lvl="1" indent="-285750">
              <a:buFont typeface="Arial"/>
              <a:buChar char="•"/>
            </a:pPr>
            <a:r>
              <a:rPr lang="en-US" sz="2400" dirty="0">
                <a:ea typeface="+mn-lt"/>
                <a:cs typeface="+mn-lt"/>
              </a:rPr>
              <a:t>Temps de </a:t>
            </a:r>
            <a:r>
              <a:rPr lang="en-US" sz="2400" dirty="0" err="1">
                <a:ea typeface="+mn-lt"/>
                <a:cs typeface="+mn-lt"/>
              </a:rPr>
              <a:t>génération</a:t>
            </a:r>
            <a:r>
              <a:rPr lang="en-US" sz="2400" dirty="0">
                <a:ea typeface="+mn-lt"/>
                <a:cs typeface="+mn-lt"/>
              </a:rPr>
              <a:t> </a:t>
            </a:r>
          </a:p>
          <a:p>
            <a:pPr marL="742950" lvl="1" indent="-285750">
              <a:buFont typeface="Arial"/>
              <a:buChar char="•"/>
            </a:pPr>
            <a:r>
              <a:rPr lang="en-US" sz="2400" dirty="0" err="1">
                <a:ea typeface="+mn-lt"/>
                <a:cs typeface="+mn-lt"/>
              </a:rPr>
              <a:t>Qualité</a:t>
            </a:r>
            <a:r>
              <a:rPr lang="en-US" sz="2400" dirty="0">
                <a:ea typeface="+mn-lt"/>
                <a:cs typeface="+mn-lt"/>
              </a:rPr>
              <a:t> des quiz </a:t>
            </a:r>
            <a:r>
              <a:rPr lang="en-US" sz="2400" dirty="0" err="1">
                <a:ea typeface="+mn-lt"/>
                <a:cs typeface="+mn-lt"/>
              </a:rPr>
              <a:t>générés</a:t>
            </a:r>
            <a:r>
              <a:rPr lang="en-US" sz="2400" dirty="0">
                <a:ea typeface="+mn-lt"/>
                <a:cs typeface="+mn-lt"/>
              </a:rPr>
              <a:t> </a:t>
            </a:r>
            <a:endParaRPr lang="en-US" dirty="0">
              <a:ea typeface="+mn-lt"/>
              <a:cs typeface="+mn-lt"/>
            </a:endParaRPr>
          </a:p>
          <a:p>
            <a:pPr marL="742950" lvl="1" indent="-285750">
              <a:buFont typeface="Arial"/>
              <a:buChar char="•"/>
            </a:pPr>
            <a:r>
              <a:rPr lang="en-US" sz="2400" dirty="0" err="1">
                <a:ea typeface="+mn-lt"/>
                <a:cs typeface="+mn-lt"/>
              </a:rPr>
              <a:t>Consommation</a:t>
            </a:r>
            <a:r>
              <a:rPr lang="en-US" sz="2400" dirty="0">
                <a:ea typeface="+mn-lt"/>
                <a:cs typeface="+mn-lt"/>
              </a:rPr>
              <a:t> des </a:t>
            </a:r>
            <a:r>
              <a:rPr lang="en-US" sz="2400" dirty="0" err="1">
                <a:ea typeface="+mn-lt"/>
                <a:cs typeface="+mn-lt"/>
              </a:rPr>
              <a:t>ressources</a:t>
            </a:r>
            <a:r>
              <a:rPr lang="en-US" sz="2400" dirty="0">
                <a:ea typeface="+mn-lt"/>
                <a:cs typeface="+mn-lt"/>
              </a:rPr>
              <a:t> </a:t>
            </a:r>
            <a:endParaRPr lang="en-US" dirty="0">
              <a:ea typeface="+mn-lt"/>
              <a:cs typeface="+mn-lt"/>
            </a:endParaRPr>
          </a:p>
          <a:p>
            <a:pPr marL="742950" lvl="1" indent="-285750">
              <a:buFont typeface="Arial"/>
              <a:buChar char="•"/>
            </a:pPr>
            <a:r>
              <a:rPr lang="en-US" sz="2400" dirty="0" err="1">
                <a:ea typeface="+mn-lt"/>
                <a:cs typeface="+mn-lt"/>
              </a:rPr>
              <a:t>Coût</a:t>
            </a:r>
            <a:r>
              <a:rPr lang="en-US" sz="2400" dirty="0">
                <a:ea typeface="+mn-lt"/>
                <a:cs typeface="+mn-lt"/>
              </a:rPr>
              <a:t> </a:t>
            </a:r>
            <a:r>
              <a:rPr lang="en-US" sz="2400" dirty="0" err="1">
                <a:ea typeface="+mn-lt"/>
                <a:cs typeface="+mn-lt"/>
              </a:rPr>
              <a:t>d'utilisation</a:t>
            </a:r>
            <a:endParaRPr lang="en-US" dirty="0">
              <a:ea typeface="+mn-lt"/>
              <a:cs typeface="+mn-lt"/>
            </a:endParaRPr>
          </a:p>
          <a:p>
            <a:endParaRPr lang="en-US" dirty="0"/>
          </a:p>
        </p:txBody>
      </p:sp>
      <p:cxnSp>
        <p:nvCxnSpPr>
          <p:cNvPr id="31" name="Straight Connector 30">
            <a:extLst>
              <a:ext uri="{FF2B5EF4-FFF2-40B4-BE49-F238E27FC236}">
                <a16:creationId xmlns:a16="http://schemas.microsoft.com/office/drawing/2014/main" id="{23A19FCA-A1BD-8A6D-A593-954315D7F0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6099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906767-39C0-7395-DBC0-1092E1DA2493}"/>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035AF0E-EC64-7DEA-86F0-3EDA98788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F18CFB4E-363E-8366-C6B0-5BC7658D09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14317CE2-0A2D-6972-0BB8-C176F6BB66C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err="1">
                <a:solidFill>
                  <a:srgbClr val="FFFFFF"/>
                </a:solidFill>
              </a:rPr>
              <a:t>Résultats</a:t>
            </a:r>
            <a:r>
              <a:rPr lang="en-US" sz="5600" b="1" dirty="0">
                <a:solidFill>
                  <a:srgbClr val="FFFFFF"/>
                </a:solidFill>
              </a:rPr>
              <a:t> du benchmark</a:t>
            </a:r>
          </a:p>
        </p:txBody>
      </p:sp>
      <p:grpSp>
        <p:nvGrpSpPr>
          <p:cNvPr id="26" name="Group 25">
            <a:extLst>
              <a:ext uri="{FF2B5EF4-FFF2-40B4-BE49-F238E27FC236}">
                <a16:creationId xmlns:a16="http://schemas.microsoft.com/office/drawing/2014/main" id="{EBE18D94-E999-B63F-7E62-ED51A47764A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2808B17D-B66F-F8EC-A135-5A7D2CEFF1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0392A521-274D-AA97-1DDA-399C53FBDD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B89769DC-6CB5-FF3C-9381-39424A0408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58D12D0E-66B4-1EE7-FEB5-346F9C2A3EB8}"/>
              </a:ext>
            </a:extLst>
          </p:cNvPr>
          <p:cNvSpPr>
            <a:spLocks noGrp="1"/>
          </p:cNvSpPr>
          <p:nvPr>
            <p:ph type="subTitle" idx="1"/>
          </p:nvPr>
        </p:nvSpPr>
        <p:spPr>
          <a:xfrm>
            <a:off x="6297233" y="518400"/>
            <a:ext cx="4771607" cy="5837949"/>
          </a:xfrm>
        </p:spPr>
        <p:txBody>
          <a:bodyPr vert="horz" lIns="91440" tIns="45720" rIns="91440" bIns="45720" rtlCol="0" anchor="ctr">
            <a:normAutofit fontScale="85000" lnSpcReduction="20000"/>
          </a:bodyPr>
          <a:lstStyle/>
          <a:p>
            <a:r>
              <a:rPr lang="en-US" b="1" dirty="0">
                <a:ea typeface="+mn-lt"/>
                <a:cs typeface="+mn-lt"/>
              </a:rPr>
              <a:t>Après </a:t>
            </a:r>
            <a:r>
              <a:rPr lang="en-US" b="1" dirty="0" err="1">
                <a:ea typeface="+mn-lt"/>
                <a:cs typeface="+mn-lt"/>
              </a:rPr>
              <a:t>comparaison</a:t>
            </a:r>
            <a:r>
              <a:rPr lang="en-US" b="1" dirty="0">
                <a:ea typeface="+mn-lt"/>
                <a:cs typeface="+mn-lt"/>
              </a:rPr>
              <a:t> des </a:t>
            </a:r>
            <a:r>
              <a:rPr lang="en-US" b="1" dirty="0" err="1">
                <a:ea typeface="+mn-lt"/>
                <a:cs typeface="+mn-lt"/>
              </a:rPr>
              <a:t>différents</a:t>
            </a:r>
            <a:r>
              <a:rPr lang="en-US" b="1" dirty="0">
                <a:ea typeface="+mn-lt"/>
                <a:cs typeface="+mn-lt"/>
              </a:rPr>
              <a:t> </a:t>
            </a:r>
            <a:r>
              <a:rPr lang="en-US" b="1" dirty="0" err="1">
                <a:ea typeface="+mn-lt"/>
                <a:cs typeface="+mn-lt"/>
              </a:rPr>
              <a:t>modèles</a:t>
            </a:r>
            <a:r>
              <a:rPr lang="en-US" b="1" dirty="0">
                <a:ea typeface="+mn-lt"/>
                <a:cs typeface="+mn-lt"/>
              </a:rPr>
              <a:t> :</a:t>
            </a:r>
            <a:endParaRPr lang="en-US" b="1" dirty="0"/>
          </a:p>
          <a:p>
            <a:pPr marL="285750" indent="-285750">
              <a:buFont typeface="Arial"/>
              <a:buChar char="•"/>
            </a:pPr>
            <a:r>
              <a:rPr lang="en-US" dirty="0" err="1">
                <a:ea typeface="+mn-lt"/>
                <a:cs typeface="+mn-lt"/>
              </a:rPr>
              <a:t>Réduction</a:t>
            </a:r>
            <a:r>
              <a:rPr lang="en-US" dirty="0">
                <a:ea typeface="+mn-lt"/>
                <a:cs typeface="+mn-lt"/>
              </a:rPr>
              <a:t> significative du temps de </a:t>
            </a:r>
            <a:r>
              <a:rPr lang="en-US" dirty="0" err="1">
                <a:ea typeface="+mn-lt"/>
                <a:cs typeface="+mn-lt"/>
              </a:rPr>
              <a:t>génération</a:t>
            </a:r>
            <a:r>
              <a:rPr lang="en-US" dirty="0">
                <a:ea typeface="+mn-lt"/>
                <a:cs typeface="+mn-lt"/>
              </a:rPr>
              <a:t> </a:t>
            </a:r>
          </a:p>
          <a:p>
            <a:pPr marL="285750" indent="-285750">
              <a:buFont typeface="Arial"/>
              <a:buChar char="•"/>
            </a:pPr>
            <a:r>
              <a:rPr lang="en-US" dirty="0" err="1">
                <a:ea typeface="+mn-lt"/>
                <a:cs typeface="+mn-lt"/>
              </a:rPr>
              <a:t>Qualité</a:t>
            </a:r>
            <a:r>
              <a:rPr lang="en-US" dirty="0">
                <a:ea typeface="+mn-lt"/>
                <a:cs typeface="+mn-lt"/>
              </a:rPr>
              <a:t> des quiz </a:t>
            </a:r>
            <a:r>
              <a:rPr lang="en-US" dirty="0" err="1">
                <a:ea typeface="+mn-lt"/>
                <a:cs typeface="+mn-lt"/>
              </a:rPr>
              <a:t>maintenue</a:t>
            </a:r>
            <a:r>
              <a:rPr lang="en-US" dirty="0">
                <a:ea typeface="+mn-lt"/>
                <a:cs typeface="+mn-lt"/>
              </a:rPr>
              <a:t> </a:t>
            </a:r>
            <a:endParaRPr lang="en-US" dirty="0"/>
          </a:p>
          <a:p>
            <a:pPr marL="285750" indent="-285750">
              <a:buFont typeface="Arial"/>
              <a:buChar char="•"/>
            </a:pPr>
            <a:r>
              <a:rPr lang="en-US" dirty="0" err="1">
                <a:ea typeface="+mn-lt"/>
                <a:cs typeface="+mn-lt"/>
              </a:rPr>
              <a:t>Ressources</a:t>
            </a:r>
            <a:r>
              <a:rPr lang="en-US" dirty="0">
                <a:ea typeface="+mn-lt"/>
                <a:cs typeface="+mn-lt"/>
              </a:rPr>
              <a:t> </a:t>
            </a:r>
            <a:r>
              <a:rPr lang="en-US" dirty="0" err="1">
                <a:ea typeface="+mn-lt"/>
                <a:cs typeface="+mn-lt"/>
              </a:rPr>
              <a:t>mieux</a:t>
            </a:r>
            <a:r>
              <a:rPr lang="en-US" dirty="0">
                <a:ea typeface="+mn-lt"/>
                <a:cs typeface="+mn-lt"/>
              </a:rPr>
              <a:t> </a:t>
            </a:r>
            <a:r>
              <a:rPr lang="en-US" dirty="0" err="1">
                <a:ea typeface="+mn-lt"/>
                <a:cs typeface="+mn-lt"/>
              </a:rPr>
              <a:t>maîtrisées</a:t>
            </a:r>
            <a:r>
              <a:rPr lang="en-US" dirty="0">
                <a:ea typeface="+mn-lt"/>
                <a:cs typeface="+mn-lt"/>
              </a:rPr>
              <a:t> </a:t>
            </a:r>
            <a:endParaRPr lang="en-US" dirty="0"/>
          </a:p>
          <a:p>
            <a:pPr marL="285750" indent="-285750">
              <a:buFont typeface="Arial"/>
              <a:buChar char="•"/>
            </a:pPr>
            <a:r>
              <a:rPr lang="en-US" dirty="0" err="1">
                <a:ea typeface="+mn-lt"/>
                <a:cs typeface="+mn-lt"/>
              </a:rPr>
              <a:t>Coût</a:t>
            </a:r>
            <a:r>
              <a:rPr lang="en-US" dirty="0">
                <a:ea typeface="+mn-lt"/>
                <a:cs typeface="+mn-lt"/>
              </a:rPr>
              <a:t> compatible avec les </a:t>
            </a:r>
            <a:r>
              <a:rPr lang="en-US" dirty="0" err="1">
                <a:ea typeface="+mn-lt"/>
                <a:cs typeface="+mn-lt"/>
              </a:rPr>
              <a:t>contraintes</a:t>
            </a:r>
            <a:r>
              <a:rPr lang="en-US" dirty="0">
                <a:ea typeface="+mn-lt"/>
                <a:cs typeface="+mn-lt"/>
              </a:rPr>
              <a:t> du </a:t>
            </a:r>
            <a:r>
              <a:rPr lang="en-US" dirty="0" err="1">
                <a:ea typeface="+mn-lt"/>
                <a:cs typeface="+mn-lt"/>
              </a:rPr>
              <a:t>projet</a:t>
            </a:r>
            <a:r>
              <a:rPr lang="en-US" dirty="0">
                <a:ea typeface="+mn-lt"/>
                <a:cs typeface="+mn-lt"/>
              </a:rPr>
              <a:t> </a:t>
            </a:r>
            <a:endParaRPr lang="en-US" dirty="0"/>
          </a:p>
          <a:p>
            <a:r>
              <a:rPr lang="en-US" dirty="0" err="1"/>
              <a:t>Décision</a:t>
            </a:r>
            <a:r>
              <a:rPr lang="en-US" dirty="0"/>
              <a:t> </a:t>
            </a:r>
            <a:r>
              <a:rPr lang="en-US" dirty="0" err="1"/>
              <a:t>retenue</a:t>
            </a:r>
            <a:endParaRPr lang="en-US" dirty="0"/>
          </a:p>
          <a:p>
            <a:r>
              <a:rPr lang="en-US" dirty="0">
                <a:ea typeface="+mn-lt"/>
                <a:cs typeface="+mn-lt"/>
              </a:rPr>
              <a:t>Nous </a:t>
            </a:r>
            <a:r>
              <a:rPr lang="en-US" dirty="0" err="1">
                <a:ea typeface="+mn-lt"/>
                <a:cs typeface="+mn-lt"/>
              </a:rPr>
              <a:t>avons</a:t>
            </a:r>
            <a:r>
              <a:rPr lang="en-US" dirty="0">
                <a:ea typeface="+mn-lt"/>
                <a:cs typeface="+mn-lt"/>
              </a:rPr>
              <a:t> </a:t>
            </a:r>
            <a:r>
              <a:rPr lang="en-US" dirty="0" err="1">
                <a:ea typeface="+mn-lt"/>
                <a:cs typeface="+mn-lt"/>
              </a:rPr>
              <a:t>retenu</a:t>
            </a:r>
            <a:r>
              <a:rPr lang="en-US" dirty="0">
                <a:ea typeface="+mn-lt"/>
                <a:cs typeface="+mn-lt"/>
              </a:rPr>
              <a:t> le </a:t>
            </a:r>
            <a:r>
              <a:rPr lang="en-US" dirty="0" err="1">
                <a:ea typeface="+mn-lt"/>
                <a:cs typeface="+mn-lt"/>
              </a:rPr>
              <a:t>modèle</a:t>
            </a:r>
            <a:r>
              <a:rPr lang="en-US" dirty="0">
                <a:ea typeface="+mn-lt"/>
                <a:cs typeface="+mn-lt"/>
              </a:rPr>
              <a:t> </a:t>
            </a:r>
            <a:r>
              <a:rPr lang="en-US" dirty="0" err="1">
                <a:ea typeface="+mn-lt"/>
                <a:cs typeface="+mn-lt"/>
              </a:rPr>
              <a:t>offrant</a:t>
            </a:r>
            <a:r>
              <a:rPr lang="en-US" dirty="0">
                <a:ea typeface="+mn-lt"/>
                <a:cs typeface="+mn-lt"/>
              </a:rPr>
              <a:t> le </a:t>
            </a:r>
            <a:r>
              <a:rPr lang="en-US" b="1" dirty="0" err="1">
                <a:ea typeface="+mn-lt"/>
                <a:cs typeface="+mn-lt"/>
              </a:rPr>
              <a:t>meilleur</a:t>
            </a:r>
            <a:r>
              <a:rPr lang="en-US" b="1" dirty="0">
                <a:ea typeface="+mn-lt"/>
                <a:cs typeface="+mn-lt"/>
              </a:rPr>
              <a:t> </a:t>
            </a:r>
            <a:r>
              <a:rPr lang="en-US" b="1" dirty="0" err="1">
                <a:ea typeface="+mn-lt"/>
                <a:cs typeface="+mn-lt"/>
              </a:rPr>
              <a:t>compromis</a:t>
            </a:r>
            <a:r>
              <a:rPr lang="en-US" dirty="0">
                <a:ea typeface="+mn-lt"/>
                <a:cs typeface="+mn-lt"/>
              </a:rPr>
              <a:t> entre :</a:t>
            </a:r>
          </a:p>
          <a:p>
            <a:pPr marL="285750" indent="-285750">
              <a:buFont typeface="Arial"/>
              <a:buChar char="•"/>
            </a:pPr>
            <a:r>
              <a:rPr lang="en-US" dirty="0">
                <a:ea typeface="+mn-lt"/>
                <a:cs typeface="+mn-lt"/>
              </a:rPr>
              <a:t>Performance </a:t>
            </a:r>
            <a:endParaRPr lang="en-US" dirty="0"/>
          </a:p>
          <a:p>
            <a:pPr marL="285750" indent="-285750">
              <a:buFont typeface="Arial"/>
              <a:buChar char="•"/>
            </a:pPr>
            <a:r>
              <a:rPr lang="en-US" dirty="0" err="1">
                <a:ea typeface="+mn-lt"/>
                <a:cs typeface="+mn-lt"/>
              </a:rPr>
              <a:t>Qualité</a:t>
            </a:r>
            <a:r>
              <a:rPr lang="en-US" dirty="0">
                <a:ea typeface="+mn-lt"/>
                <a:cs typeface="+mn-lt"/>
              </a:rPr>
              <a:t> des </a:t>
            </a:r>
            <a:r>
              <a:rPr lang="en-US" dirty="0" err="1">
                <a:ea typeface="+mn-lt"/>
                <a:cs typeface="+mn-lt"/>
              </a:rPr>
              <a:t>réponses</a:t>
            </a:r>
            <a:r>
              <a:rPr lang="en-US" dirty="0">
                <a:ea typeface="+mn-lt"/>
                <a:cs typeface="+mn-lt"/>
              </a:rPr>
              <a:t> </a:t>
            </a:r>
            <a:endParaRPr lang="en-US" dirty="0"/>
          </a:p>
          <a:p>
            <a:pPr marL="285750" indent="-285750">
              <a:buFont typeface="Arial"/>
              <a:buChar char="•"/>
            </a:pPr>
            <a:r>
              <a:rPr lang="en-US" dirty="0" err="1">
                <a:ea typeface="+mn-lt"/>
                <a:cs typeface="+mn-lt"/>
              </a:rPr>
              <a:t>Consommation</a:t>
            </a:r>
            <a:r>
              <a:rPr lang="en-US" dirty="0">
                <a:ea typeface="+mn-lt"/>
                <a:cs typeface="+mn-lt"/>
              </a:rPr>
              <a:t> des </a:t>
            </a:r>
            <a:r>
              <a:rPr lang="en-US" dirty="0" err="1">
                <a:ea typeface="+mn-lt"/>
                <a:cs typeface="+mn-lt"/>
              </a:rPr>
              <a:t>ressources</a:t>
            </a:r>
            <a:r>
              <a:rPr lang="en-US" dirty="0">
                <a:ea typeface="+mn-lt"/>
                <a:cs typeface="+mn-lt"/>
              </a:rPr>
              <a:t> </a:t>
            </a:r>
          </a:p>
          <a:p>
            <a:pPr marL="285750" indent="-285750">
              <a:buFont typeface="Arial"/>
              <a:buChar char="•"/>
            </a:pPr>
            <a:r>
              <a:rPr lang="en-US" dirty="0" err="1">
                <a:ea typeface="+mn-lt"/>
                <a:cs typeface="+mn-lt"/>
              </a:rPr>
              <a:t>Coût</a:t>
            </a:r>
            <a:r>
              <a:rPr lang="en-US" dirty="0">
                <a:ea typeface="+mn-lt"/>
                <a:cs typeface="+mn-lt"/>
              </a:rPr>
              <a:t> </a:t>
            </a:r>
          </a:p>
          <a:p>
            <a:r>
              <a:rPr lang="en-US" dirty="0">
                <a:ea typeface="+mn-lt"/>
                <a:cs typeface="+mn-lt"/>
              </a:rPr>
              <a:t>Cette </a:t>
            </a:r>
            <a:r>
              <a:rPr lang="en-US" dirty="0" err="1">
                <a:ea typeface="+mn-lt"/>
                <a:cs typeface="+mn-lt"/>
              </a:rPr>
              <a:t>décision</a:t>
            </a:r>
            <a:r>
              <a:rPr lang="en-US" dirty="0">
                <a:ea typeface="+mn-lt"/>
                <a:cs typeface="+mn-lt"/>
              </a:rPr>
              <a:t> a ensuite </a:t>
            </a:r>
            <a:r>
              <a:rPr lang="en-US" dirty="0" err="1">
                <a:ea typeface="+mn-lt"/>
                <a:cs typeface="+mn-lt"/>
              </a:rPr>
              <a:t>été</a:t>
            </a:r>
            <a:r>
              <a:rPr lang="en-US" dirty="0">
                <a:ea typeface="+mn-lt"/>
                <a:cs typeface="+mn-lt"/>
              </a:rPr>
              <a:t> </a:t>
            </a:r>
            <a:r>
              <a:rPr lang="en-US" b="1" dirty="0" err="1">
                <a:ea typeface="+mn-lt"/>
                <a:cs typeface="+mn-lt"/>
              </a:rPr>
              <a:t>formalisée</a:t>
            </a:r>
            <a:r>
              <a:rPr lang="en-US" b="1" dirty="0">
                <a:ea typeface="+mn-lt"/>
                <a:cs typeface="+mn-lt"/>
              </a:rPr>
              <a:t> dans un ADR</a:t>
            </a:r>
            <a:r>
              <a:rPr lang="en-US" dirty="0">
                <a:ea typeface="+mn-lt"/>
                <a:cs typeface="+mn-lt"/>
              </a:rPr>
              <a:t> </a:t>
            </a:r>
            <a:r>
              <a:rPr lang="en-US" dirty="0" err="1">
                <a:ea typeface="+mn-lt"/>
                <a:cs typeface="+mn-lt"/>
              </a:rPr>
              <a:t>afin</a:t>
            </a:r>
            <a:r>
              <a:rPr lang="en-US" dirty="0">
                <a:ea typeface="+mn-lt"/>
                <a:cs typeface="+mn-lt"/>
              </a:rPr>
              <a:t> </a:t>
            </a:r>
            <a:r>
              <a:rPr lang="en-US" dirty="0" err="1">
                <a:ea typeface="+mn-lt"/>
                <a:cs typeface="+mn-lt"/>
              </a:rPr>
              <a:t>d'assurer</a:t>
            </a:r>
            <a:r>
              <a:rPr lang="en-US" dirty="0">
                <a:ea typeface="+mn-lt"/>
                <a:cs typeface="+mn-lt"/>
              </a:rPr>
              <a:t> </a:t>
            </a:r>
            <a:r>
              <a:rPr lang="en-US" dirty="0" err="1">
                <a:ea typeface="+mn-lt"/>
                <a:cs typeface="+mn-lt"/>
              </a:rPr>
              <a:t>sa</a:t>
            </a:r>
            <a:r>
              <a:rPr lang="en-US" dirty="0">
                <a:ea typeface="+mn-lt"/>
                <a:cs typeface="+mn-lt"/>
              </a:rPr>
              <a:t> justification et </a:t>
            </a:r>
            <a:r>
              <a:rPr lang="en-US" dirty="0" err="1">
                <a:ea typeface="+mn-lt"/>
                <a:cs typeface="+mn-lt"/>
              </a:rPr>
              <a:t>sa</a:t>
            </a:r>
            <a:r>
              <a:rPr lang="en-US" dirty="0">
                <a:ea typeface="+mn-lt"/>
                <a:cs typeface="+mn-lt"/>
              </a:rPr>
              <a:t> </a:t>
            </a:r>
            <a:r>
              <a:rPr lang="en-US" dirty="0" err="1">
                <a:ea typeface="+mn-lt"/>
                <a:cs typeface="+mn-lt"/>
              </a:rPr>
              <a:t>traçabilité</a:t>
            </a:r>
            <a:r>
              <a:rPr lang="en-US" dirty="0">
                <a:ea typeface="+mn-lt"/>
                <a:cs typeface="+mn-lt"/>
              </a:rPr>
              <a:t>.</a:t>
            </a:r>
            <a:endParaRPr lang="en-US" dirty="0"/>
          </a:p>
          <a:p>
            <a:endParaRPr lang="en-US" b="1" dirty="0"/>
          </a:p>
        </p:txBody>
      </p:sp>
      <p:cxnSp>
        <p:nvCxnSpPr>
          <p:cNvPr id="31" name="Straight Connector 30">
            <a:extLst>
              <a:ext uri="{FF2B5EF4-FFF2-40B4-BE49-F238E27FC236}">
                <a16:creationId xmlns:a16="http://schemas.microsoft.com/office/drawing/2014/main" id="{AF8CA68F-CE46-BBF6-9F38-32CD388690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176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009D7-621D-0D71-ECDF-A53494ED423A}"/>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DAA9FFBE-918C-4B78-B056-F3B2B6CBF353}"/>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b="1" dirty="0">
                <a:solidFill>
                  <a:srgbClr val="FFFFFF"/>
                </a:solidFill>
              </a:rPr>
              <a:t>Structure de </a:t>
            </a:r>
            <a:r>
              <a:rPr lang="en-US" sz="5600" b="1" dirty="0" err="1">
                <a:solidFill>
                  <a:srgbClr val="FFFFFF"/>
                </a:solidFill>
              </a:rPr>
              <a:t>l'ADR</a:t>
            </a:r>
            <a:endParaRPr lang="en-US" sz="5600" b="1" dirty="0">
              <a:solidFill>
                <a:srgbClr val="FFFFFF"/>
              </a:solidFill>
            </a:endParaRPr>
          </a:p>
        </p:txBody>
      </p:sp>
      <p:grpSp>
        <p:nvGrpSpPr>
          <p:cNvPr id="26" name="Group 25">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C364C713-5D71-EF89-706C-5E01A5912552}"/>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US" sz="1400" b="1" u="sng" err="1">
                <a:solidFill>
                  <a:schemeClr val="tx1">
                    <a:alpha val="80000"/>
                  </a:schemeClr>
                </a:solidFill>
              </a:rPr>
              <a:t>Contexte</a:t>
            </a:r>
            <a:r>
              <a:rPr lang="en-US" sz="1400">
                <a:solidFill>
                  <a:schemeClr val="tx1">
                    <a:alpha val="80000"/>
                  </a:schemeClr>
                </a:solidFill>
              </a:rPr>
              <a:t> </a:t>
            </a:r>
          </a:p>
          <a:p>
            <a:pPr lvl="1" indent="-228600" algn="l">
              <a:buFont typeface="Arial" panose="020B0604020202020204" pitchFamily="34" charset="0"/>
              <a:buChar char="•"/>
            </a:pPr>
            <a:r>
              <a:rPr lang="en-US" sz="1400" err="1">
                <a:solidFill>
                  <a:schemeClr val="tx1">
                    <a:alpha val="80000"/>
                  </a:schemeClr>
                </a:solidFill>
              </a:rPr>
              <a:t>Problème</a:t>
            </a:r>
            <a:r>
              <a:rPr lang="en-US" sz="1400">
                <a:solidFill>
                  <a:schemeClr val="tx1">
                    <a:alpha val="80000"/>
                  </a:schemeClr>
                </a:solidFill>
              </a:rPr>
              <a:t> </a:t>
            </a:r>
            <a:r>
              <a:rPr lang="en-US" sz="1400" err="1">
                <a:solidFill>
                  <a:schemeClr val="tx1">
                    <a:alpha val="80000"/>
                  </a:schemeClr>
                </a:solidFill>
              </a:rPr>
              <a:t>identifié</a:t>
            </a:r>
            <a:r>
              <a:rPr lang="en-US" sz="1400">
                <a:solidFill>
                  <a:schemeClr val="tx1">
                    <a:alpha val="80000"/>
                  </a:schemeClr>
                </a:solidFill>
              </a:rPr>
              <a:t> </a:t>
            </a:r>
          </a:p>
          <a:p>
            <a:pPr lvl="1" indent="-228600" algn="l">
              <a:buFont typeface="Arial" panose="020B0604020202020204" pitchFamily="34" charset="0"/>
              <a:buChar char="•"/>
            </a:pPr>
            <a:r>
              <a:rPr lang="en-US" sz="1400" err="1">
                <a:solidFill>
                  <a:schemeClr val="tx1">
                    <a:alpha val="80000"/>
                  </a:schemeClr>
                </a:solidFill>
              </a:rPr>
              <a:t>Contraintes</a:t>
            </a:r>
            <a:r>
              <a:rPr lang="en-US" sz="1400">
                <a:solidFill>
                  <a:schemeClr val="tx1">
                    <a:alpha val="80000"/>
                  </a:schemeClr>
                </a:solidFill>
              </a:rPr>
              <a:t> du </a:t>
            </a:r>
            <a:r>
              <a:rPr lang="en-US" sz="1400" err="1">
                <a:solidFill>
                  <a:schemeClr val="tx1">
                    <a:alpha val="80000"/>
                  </a:schemeClr>
                </a:solidFill>
              </a:rPr>
              <a:t>projet</a:t>
            </a:r>
            <a:r>
              <a:rPr lang="en-US" sz="1400">
                <a:solidFill>
                  <a:schemeClr val="tx1">
                    <a:alpha val="80000"/>
                  </a:schemeClr>
                </a:solidFill>
              </a:rPr>
              <a:t> </a:t>
            </a:r>
          </a:p>
          <a:p>
            <a:r>
              <a:rPr lang="en-US" sz="1400" b="1" u="sng" err="1">
                <a:solidFill>
                  <a:schemeClr val="tx1">
                    <a:alpha val="80000"/>
                  </a:schemeClr>
                </a:solidFill>
              </a:rPr>
              <a:t>Décision</a:t>
            </a:r>
            <a:r>
              <a:rPr lang="en-US" sz="1400">
                <a:solidFill>
                  <a:schemeClr val="tx1">
                    <a:alpha val="80000"/>
                  </a:schemeClr>
                </a:solidFill>
              </a:rPr>
              <a:t> </a:t>
            </a:r>
          </a:p>
          <a:p>
            <a:pPr lvl="1" indent="-228600" algn="l">
              <a:buFont typeface="Arial" panose="020B0604020202020204" pitchFamily="34" charset="0"/>
              <a:buChar char="•"/>
            </a:pPr>
            <a:r>
              <a:rPr lang="en-US" sz="1400">
                <a:solidFill>
                  <a:schemeClr val="tx1">
                    <a:alpha val="80000"/>
                  </a:schemeClr>
                </a:solidFill>
              </a:rPr>
              <a:t>Solution </a:t>
            </a:r>
            <a:r>
              <a:rPr lang="en-US" sz="1400" err="1">
                <a:solidFill>
                  <a:schemeClr val="tx1">
                    <a:alpha val="80000"/>
                  </a:schemeClr>
                </a:solidFill>
              </a:rPr>
              <a:t>retenue</a:t>
            </a:r>
            <a:r>
              <a:rPr lang="en-US" sz="1400">
                <a:solidFill>
                  <a:schemeClr val="tx1">
                    <a:alpha val="80000"/>
                  </a:schemeClr>
                </a:solidFill>
              </a:rPr>
              <a:t> </a:t>
            </a:r>
          </a:p>
          <a:p>
            <a:pPr lvl="1" indent="-228600" algn="l">
              <a:buFont typeface="Arial" panose="020B0604020202020204" pitchFamily="34" charset="0"/>
              <a:buChar char="•"/>
            </a:pPr>
            <a:r>
              <a:rPr lang="en-US" sz="1400">
                <a:solidFill>
                  <a:schemeClr val="tx1">
                    <a:alpha val="80000"/>
                  </a:schemeClr>
                </a:solidFill>
              </a:rPr>
              <a:t>Justification </a:t>
            </a:r>
          </a:p>
          <a:p>
            <a:r>
              <a:rPr lang="en-US" sz="1400" b="1" u="sng" err="1">
                <a:solidFill>
                  <a:schemeClr val="tx1">
                    <a:alpha val="80000"/>
                  </a:schemeClr>
                </a:solidFill>
              </a:rPr>
              <a:t>Conséquences</a:t>
            </a:r>
            <a:r>
              <a:rPr lang="en-US" sz="1400">
                <a:solidFill>
                  <a:schemeClr val="tx1">
                    <a:alpha val="80000"/>
                  </a:schemeClr>
                </a:solidFill>
              </a:rPr>
              <a:t> </a:t>
            </a:r>
          </a:p>
          <a:p>
            <a:pPr lvl="1" indent="-228600" algn="l">
              <a:buFont typeface="Arial" panose="020B0604020202020204" pitchFamily="34" charset="0"/>
              <a:buChar char="•"/>
            </a:pPr>
            <a:r>
              <a:rPr lang="en-US" sz="1400" err="1">
                <a:solidFill>
                  <a:schemeClr val="tx1">
                    <a:alpha val="80000"/>
                  </a:schemeClr>
                </a:solidFill>
              </a:rPr>
              <a:t>Avantages</a:t>
            </a:r>
            <a:r>
              <a:rPr lang="en-US" sz="1400">
                <a:solidFill>
                  <a:schemeClr val="tx1">
                    <a:alpha val="80000"/>
                  </a:schemeClr>
                </a:solidFill>
              </a:rPr>
              <a:t> </a:t>
            </a:r>
          </a:p>
          <a:p>
            <a:pPr lvl="1" indent="-228600" algn="l">
              <a:buFont typeface="Arial" panose="020B0604020202020204" pitchFamily="34" charset="0"/>
              <a:buChar char="•"/>
            </a:pPr>
            <a:r>
              <a:rPr lang="en-US" sz="1400" err="1">
                <a:solidFill>
                  <a:schemeClr val="tx1">
                    <a:alpha val="80000"/>
                  </a:schemeClr>
                </a:solidFill>
              </a:rPr>
              <a:t>Limites</a:t>
            </a:r>
            <a:r>
              <a:rPr lang="en-US" sz="1400">
                <a:solidFill>
                  <a:schemeClr val="tx1">
                    <a:alpha val="80000"/>
                  </a:schemeClr>
                </a:solidFill>
              </a:rPr>
              <a:t> </a:t>
            </a:r>
          </a:p>
          <a:p>
            <a:r>
              <a:rPr lang="en-US" sz="1400" b="1" u="sng">
                <a:solidFill>
                  <a:schemeClr val="tx1">
                    <a:alpha val="80000"/>
                  </a:schemeClr>
                </a:solidFill>
              </a:rPr>
              <a:t>Alternatives </a:t>
            </a:r>
            <a:r>
              <a:rPr lang="en-US" sz="1400" b="1" u="sng" err="1">
                <a:solidFill>
                  <a:schemeClr val="tx1">
                    <a:alpha val="80000"/>
                  </a:schemeClr>
                </a:solidFill>
              </a:rPr>
              <a:t>étudiées</a:t>
            </a:r>
            <a:r>
              <a:rPr lang="en-US" sz="1400">
                <a:solidFill>
                  <a:schemeClr val="tx1">
                    <a:alpha val="80000"/>
                  </a:schemeClr>
                </a:solidFill>
              </a:rPr>
              <a:t> </a:t>
            </a:r>
          </a:p>
          <a:p>
            <a:pPr lvl="1" indent="-228600" algn="l">
              <a:buFont typeface="Arial" panose="020B0604020202020204" pitchFamily="34" charset="0"/>
              <a:buChar char="•"/>
            </a:pPr>
            <a:r>
              <a:rPr lang="en-US" sz="1400">
                <a:solidFill>
                  <a:schemeClr val="tx1">
                    <a:alpha val="80000"/>
                  </a:schemeClr>
                </a:solidFill>
              </a:rPr>
              <a:t>Solutions </a:t>
            </a:r>
            <a:r>
              <a:rPr lang="en-US" sz="1400" err="1">
                <a:solidFill>
                  <a:schemeClr val="tx1">
                    <a:alpha val="80000"/>
                  </a:schemeClr>
                </a:solidFill>
              </a:rPr>
              <a:t>écartées</a:t>
            </a:r>
            <a:r>
              <a:rPr lang="en-US" sz="1400">
                <a:solidFill>
                  <a:schemeClr val="tx1">
                    <a:alpha val="80000"/>
                  </a:schemeClr>
                </a:solidFill>
              </a:rPr>
              <a:t> </a:t>
            </a:r>
          </a:p>
          <a:p>
            <a:pPr lvl="1" indent="-228600" algn="l">
              <a:buFont typeface="Arial" panose="020B0604020202020204" pitchFamily="34" charset="0"/>
              <a:buChar char="•"/>
            </a:pPr>
            <a:r>
              <a:rPr lang="en-US" sz="1400">
                <a:solidFill>
                  <a:schemeClr val="tx1">
                    <a:alpha val="80000"/>
                  </a:schemeClr>
                </a:solidFill>
              </a:rPr>
              <a:t>Raisons du </a:t>
            </a:r>
            <a:r>
              <a:rPr lang="en-US" sz="1400" err="1">
                <a:solidFill>
                  <a:schemeClr val="tx1">
                    <a:alpha val="80000"/>
                  </a:schemeClr>
                </a:solidFill>
              </a:rPr>
              <a:t>rejet</a:t>
            </a:r>
            <a:r>
              <a:rPr lang="en-US" sz="1400">
                <a:solidFill>
                  <a:schemeClr val="tx1">
                    <a:alpha val="80000"/>
                  </a:schemeClr>
                </a:solidFill>
              </a:rPr>
              <a:t> </a:t>
            </a:r>
          </a:p>
          <a:p>
            <a:pPr indent="-228600" algn="l">
              <a:buFont typeface="Arial" panose="020B0604020202020204" pitchFamily="34" charset="0"/>
              <a:buChar char="•"/>
            </a:pPr>
            <a:br>
              <a:rPr lang="en-US" sz="1400">
                <a:solidFill>
                  <a:schemeClr val="tx1">
                    <a:alpha val="80000"/>
                  </a:schemeClr>
                </a:solidFill>
              </a:rPr>
            </a:br>
            <a:endParaRPr lang="en-US" sz="1400">
              <a:solidFill>
                <a:schemeClr val="tx1">
                  <a:alpha val="80000"/>
                </a:schemeClr>
              </a:solidFill>
            </a:endParaRPr>
          </a:p>
          <a:p>
            <a:r>
              <a:rPr lang="en-US" sz="1400" b="1" u="sng" err="1">
                <a:solidFill>
                  <a:schemeClr val="tx1">
                    <a:alpha val="80000"/>
                  </a:schemeClr>
                </a:solidFill>
              </a:rPr>
              <a:t>Bénéfices</a:t>
            </a:r>
            <a:endParaRPr lang="en-US" sz="1400" b="1" u="sng">
              <a:solidFill>
                <a:schemeClr val="tx1">
                  <a:alpha val="80000"/>
                </a:schemeClr>
              </a:solidFill>
            </a:endParaRPr>
          </a:p>
          <a:p>
            <a:pPr indent="-228600" algn="l">
              <a:buFont typeface="Arial" panose="020B0604020202020204" pitchFamily="34" charset="0"/>
              <a:buChar char="•"/>
            </a:pPr>
            <a:r>
              <a:rPr lang="en-US" sz="1400">
                <a:solidFill>
                  <a:schemeClr val="tx1">
                    <a:alpha val="80000"/>
                  </a:schemeClr>
                </a:solidFill>
              </a:rPr>
              <a:t>✔️ </a:t>
            </a:r>
            <a:r>
              <a:rPr lang="en-US" sz="1400" err="1">
                <a:solidFill>
                  <a:schemeClr val="tx1">
                    <a:alpha val="80000"/>
                  </a:schemeClr>
                </a:solidFill>
              </a:rPr>
              <a:t>Décision</a:t>
            </a:r>
            <a:r>
              <a:rPr lang="en-US" sz="1400">
                <a:solidFill>
                  <a:schemeClr val="tx1">
                    <a:alpha val="80000"/>
                  </a:schemeClr>
                </a:solidFill>
              </a:rPr>
              <a:t> </a:t>
            </a:r>
            <a:r>
              <a:rPr lang="en-US" sz="1400" err="1">
                <a:solidFill>
                  <a:schemeClr val="tx1">
                    <a:alpha val="80000"/>
                  </a:schemeClr>
                </a:solidFill>
              </a:rPr>
              <a:t>argumentée</a:t>
            </a:r>
            <a:r>
              <a:rPr lang="en-US" sz="1400">
                <a:solidFill>
                  <a:schemeClr val="tx1">
                    <a:alpha val="80000"/>
                  </a:schemeClr>
                </a:solidFill>
              </a:rPr>
              <a:t> </a:t>
            </a:r>
          </a:p>
          <a:p>
            <a:pPr indent="-228600" algn="l">
              <a:buFont typeface="Arial" panose="020B0604020202020204" pitchFamily="34" charset="0"/>
              <a:buChar char="•"/>
            </a:pPr>
            <a:r>
              <a:rPr lang="en-US" sz="1400">
                <a:solidFill>
                  <a:schemeClr val="tx1">
                    <a:alpha val="80000"/>
                  </a:schemeClr>
                </a:solidFill>
              </a:rPr>
              <a:t>✔️ </a:t>
            </a:r>
            <a:r>
              <a:rPr lang="en-US" sz="1400" err="1">
                <a:solidFill>
                  <a:schemeClr val="tx1">
                    <a:alpha val="80000"/>
                  </a:schemeClr>
                </a:solidFill>
              </a:rPr>
              <a:t>Traçabilité</a:t>
            </a:r>
            <a:r>
              <a:rPr lang="en-US" sz="1400">
                <a:solidFill>
                  <a:schemeClr val="tx1">
                    <a:alpha val="80000"/>
                  </a:schemeClr>
                </a:solidFill>
              </a:rPr>
              <a:t> des choix techniques </a:t>
            </a:r>
          </a:p>
          <a:p>
            <a:pPr indent="-228600" algn="l">
              <a:buFont typeface="Arial" panose="020B0604020202020204" pitchFamily="34" charset="0"/>
              <a:buChar char="•"/>
            </a:pPr>
            <a:r>
              <a:rPr lang="en-US" sz="1400">
                <a:solidFill>
                  <a:schemeClr val="tx1">
                    <a:alpha val="80000"/>
                  </a:schemeClr>
                </a:solidFill>
              </a:rPr>
              <a:t>✔️ Documentation </a:t>
            </a:r>
            <a:r>
              <a:rPr lang="en-US" sz="1400" err="1">
                <a:solidFill>
                  <a:schemeClr val="tx1">
                    <a:alpha val="80000"/>
                  </a:schemeClr>
                </a:solidFill>
              </a:rPr>
              <a:t>réutilisable</a:t>
            </a:r>
            <a:r>
              <a:rPr lang="en-US" sz="1400">
                <a:solidFill>
                  <a:schemeClr val="tx1">
                    <a:alpha val="80000"/>
                  </a:schemeClr>
                </a:solidFill>
              </a:rPr>
              <a:t> </a:t>
            </a:r>
          </a:p>
          <a:p>
            <a:pPr indent="-228600" algn="l">
              <a:buFont typeface="Arial" panose="020B0604020202020204" pitchFamily="34" charset="0"/>
              <a:buChar char="•"/>
            </a:pPr>
            <a:r>
              <a:rPr lang="en-US" sz="1400">
                <a:solidFill>
                  <a:schemeClr val="tx1">
                    <a:alpha val="80000"/>
                  </a:schemeClr>
                </a:solidFill>
              </a:rPr>
              <a:t>✔️ </a:t>
            </a:r>
            <a:r>
              <a:rPr lang="en-US" sz="1400" err="1">
                <a:solidFill>
                  <a:schemeClr val="tx1">
                    <a:alpha val="80000"/>
                  </a:schemeClr>
                </a:solidFill>
              </a:rPr>
              <a:t>Facilite</a:t>
            </a:r>
            <a:r>
              <a:rPr lang="en-US" sz="1400">
                <a:solidFill>
                  <a:schemeClr val="tx1">
                    <a:alpha val="80000"/>
                  </a:schemeClr>
                </a:solidFill>
              </a:rPr>
              <a:t> la maintenance et les </a:t>
            </a:r>
            <a:r>
              <a:rPr lang="en-US" sz="1400" err="1">
                <a:solidFill>
                  <a:schemeClr val="tx1">
                    <a:alpha val="80000"/>
                  </a:schemeClr>
                </a:solidFill>
              </a:rPr>
              <a:t>évolutions</a:t>
            </a:r>
            <a:r>
              <a:rPr lang="en-US" sz="1400">
                <a:solidFill>
                  <a:schemeClr val="tx1">
                    <a:alpha val="80000"/>
                  </a:schemeClr>
                </a:solidFill>
              </a:rPr>
              <a:t> futures</a:t>
            </a:r>
          </a:p>
        </p:txBody>
      </p:sp>
      <p:cxnSp>
        <p:nvCxnSpPr>
          <p:cNvPr id="31" name="Straight Connector 3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54182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870D9-B9CB-4076-8960-58FFF1BF984E}"/>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A57B3E7-6A24-0245-2435-9C0110CA7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5EA1B81F-5505-07C9-5FDE-F4CA5CBCA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DF3B5338-C394-4AAC-9A15-63B67DC83F2B}"/>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5600" b="1" dirty="0">
                <a:solidFill>
                  <a:srgbClr val="FFFFFF"/>
                </a:solidFill>
              </a:rPr>
              <a:t>Perturbation J3- RGPD</a:t>
            </a:r>
            <a:endParaRPr lang="en-US" sz="5600" b="1" dirty="0">
              <a:solidFill>
                <a:srgbClr val="FFFFFF"/>
              </a:solidFill>
            </a:endParaRPr>
          </a:p>
        </p:txBody>
      </p:sp>
      <p:grpSp>
        <p:nvGrpSpPr>
          <p:cNvPr id="26" name="Group 25">
            <a:extLst>
              <a:ext uri="{FF2B5EF4-FFF2-40B4-BE49-F238E27FC236}">
                <a16:creationId xmlns:a16="http://schemas.microsoft.com/office/drawing/2014/main" id="{6BFD6FB7-3B78-D525-3E6C-3BD9E7101D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3A0A54D5-2DFC-A83C-B6B8-C1BE7DE86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D0EDD82C-CF1E-193B-051A-5960C5F7A0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B6E6D7C8-2D74-2059-2146-B76F8C1629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FB8F42A0-0366-CA25-01CB-81A8A106201C}"/>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400" b="1" dirty="0">
                <a:solidFill>
                  <a:schemeClr val="tx1">
                    <a:alpha val="80000"/>
                  </a:schemeClr>
                </a:solidFill>
              </a:rPr>
              <a:t>La perturbation : </a:t>
            </a:r>
            <a:r>
              <a:rPr lang="fr-FR" sz="1400" dirty="0">
                <a:solidFill>
                  <a:schemeClr val="tx1">
                    <a:alpha val="80000"/>
                  </a:schemeClr>
                </a:solidFill>
              </a:rPr>
              <a:t>en pleine finalisation du MVP (mercredi 01/07 à 14h), un utilisateur a exercé ses droits RGPD et demandé l'accès à toutes ses données, une SAR. Il fallait répondre sans bloquer le sprint.</a:t>
            </a:r>
          </a:p>
          <a:p>
            <a:pPr indent="-228600" algn="l">
              <a:buFont typeface="Arial" panose="020B0604020202020204" pitchFamily="34" charset="0"/>
              <a:buChar char="•"/>
            </a:pPr>
            <a:r>
              <a:rPr lang="fr-FR" sz="1400" b="1" dirty="0">
                <a:solidFill>
                  <a:schemeClr val="tx1">
                    <a:alpha val="80000"/>
                  </a:schemeClr>
                </a:solidFill>
              </a:rPr>
              <a:t>Notre analyse : </a:t>
            </a:r>
            <a:r>
              <a:rPr lang="fr-FR" sz="1400" dirty="0">
                <a:solidFill>
                  <a:schemeClr val="tx1">
                    <a:alpha val="80000"/>
                  </a:schemeClr>
                </a:solidFill>
              </a:rPr>
              <a:t>nous avons qualifié la demande comme une Subject Access </a:t>
            </a:r>
            <a:r>
              <a:rPr lang="fr-FR" sz="1400" dirty="0" err="1">
                <a:solidFill>
                  <a:schemeClr val="tx1">
                    <a:alpha val="80000"/>
                  </a:schemeClr>
                </a:solidFill>
              </a:rPr>
              <a:t>Request</a:t>
            </a:r>
            <a:r>
              <a:rPr lang="fr-FR" sz="1400" dirty="0">
                <a:solidFill>
                  <a:schemeClr val="tx1">
                    <a:alpha val="80000"/>
                  </a:schemeClr>
                </a:solidFill>
              </a:rPr>
              <a:t> (Art. 15), puis identifié les trois droits à couvrir : accès, effacement et portabilité, dans le délai légal d'un mois.</a:t>
            </a:r>
          </a:p>
          <a:p>
            <a:pPr indent="-228600" algn="l">
              <a:buFont typeface="Arial" panose="020B0604020202020204" pitchFamily="34" charset="0"/>
              <a:buChar char="•"/>
            </a:pPr>
            <a:r>
              <a:rPr lang="fr-FR" sz="1400" b="1" dirty="0">
                <a:solidFill>
                  <a:schemeClr val="tx1">
                    <a:alpha val="80000"/>
                  </a:schemeClr>
                </a:solidFill>
              </a:rPr>
              <a:t>Notre organisation : </a:t>
            </a:r>
            <a:r>
              <a:rPr lang="fr-FR" sz="1400" dirty="0">
                <a:solidFill>
                  <a:schemeClr val="tx1">
                    <a:alpha val="80000"/>
                  </a:schemeClr>
                </a:solidFill>
              </a:rPr>
              <a:t>plutôt que d'arrêter le développement, nous avons ajouté la demande au </a:t>
            </a:r>
            <a:r>
              <a:rPr lang="fr-FR" sz="1400" dirty="0" err="1">
                <a:solidFill>
                  <a:schemeClr val="tx1">
                    <a:alpha val="80000"/>
                  </a:schemeClr>
                </a:solidFill>
              </a:rPr>
              <a:t>backlog</a:t>
            </a:r>
            <a:r>
              <a:rPr lang="fr-FR" sz="1400" dirty="0">
                <a:solidFill>
                  <a:schemeClr val="tx1">
                    <a:alpha val="80000"/>
                  </a:schemeClr>
                </a:solidFill>
              </a:rPr>
              <a:t> et traité la conformité en parallèle du MVP.</a:t>
            </a:r>
          </a:p>
        </p:txBody>
      </p:sp>
      <p:cxnSp>
        <p:nvCxnSpPr>
          <p:cNvPr id="31" name="Straight Connector 30">
            <a:extLst>
              <a:ext uri="{FF2B5EF4-FFF2-40B4-BE49-F238E27FC236}">
                <a16:creationId xmlns:a16="http://schemas.microsoft.com/office/drawing/2014/main" id="{3EBE1E1E-3889-31EF-04A5-876CC0F70C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1744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30D87-82D1-3F17-14E5-AB558B7BBF0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F7C0FF17-59E1-F860-733C-92C0EF7AD8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64DA38A2-EBB7-FB6E-52ED-449C0ABF1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9B867530-26C4-FE6F-F9EB-D4ED61E4EE2F}"/>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fr-FR" sz="5600" b="1" dirty="0">
                <a:solidFill>
                  <a:srgbClr val="FFFFFF"/>
                </a:solidFill>
              </a:rPr>
              <a:t>Mentions légales &amp; conformité</a:t>
            </a:r>
            <a:endParaRPr lang="en-US" sz="5600" b="1" dirty="0">
              <a:solidFill>
                <a:srgbClr val="FFFFFF"/>
              </a:solidFill>
            </a:endParaRPr>
          </a:p>
        </p:txBody>
      </p:sp>
      <p:grpSp>
        <p:nvGrpSpPr>
          <p:cNvPr id="26" name="Group 25">
            <a:extLst>
              <a:ext uri="{FF2B5EF4-FFF2-40B4-BE49-F238E27FC236}">
                <a16:creationId xmlns:a16="http://schemas.microsoft.com/office/drawing/2014/main" id="{50DBB9C0-1220-5815-B4FC-534D53590CD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D665198E-776C-DAF6-80CB-DCE7084BD7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5A2B6C3C-54A0-9E92-4344-1729E1A0D2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A929DD5C-7A2F-4EE8-5617-DC077CBCBC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898C3E6B-52B8-6E08-ED0A-99B36F6B0230}"/>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pPr indent="-228600" algn="l">
              <a:buFont typeface="Arial" panose="020B0604020202020204" pitchFamily="34" charset="0"/>
              <a:buChar char="•"/>
            </a:pPr>
            <a:r>
              <a:rPr lang="fr-FR" sz="1400" b="1" dirty="0">
                <a:solidFill>
                  <a:schemeClr val="tx1">
                    <a:alpha val="80000"/>
                  </a:schemeClr>
                </a:solidFill>
              </a:rPr>
              <a:t>Mentions légales (v1.2) : </a:t>
            </a:r>
            <a:r>
              <a:rPr lang="fr-FR" sz="1400" dirty="0">
                <a:solidFill>
                  <a:schemeClr val="tx1">
                    <a:alpha val="80000"/>
                  </a:schemeClr>
                </a:solidFill>
              </a:rPr>
              <a:t>j'ai rédigé un document complet : éditeur, hébergement local-first, données collectées, finalités, durées de conservation et base légale de chaque traitement.</a:t>
            </a:r>
          </a:p>
          <a:p>
            <a:pPr indent="-228600" algn="l">
              <a:buFont typeface="Arial" panose="020B0604020202020204" pitchFamily="34" charset="0"/>
              <a:buChar char="•"/>
            </a:pPr>
            <a:r>
              <a:rPr lang="fr-FR" sz="1400" b="1" dirty="0">
                <a:solidFill>
                  <a:schemeClr val="tx1">
                    <a:alpha val="80000"/>
                  </a:schemeClr>
                </a:solidFill>
              </a:rPr>
              <a:t>Accès &amp; portabilité : </a:t>
            </a:r>
            <a:r>
              <a:rPr lang="fr-FR" sz="1400" dirty="0">
                <a:solidFill>
                  <a:schemeClr val="tx1">
                    <a:alpha val="80000"/>
                  </a:schemeClr>
                </a:solidFill>
              </a:rPr>
              <a:t>nous avons créé </a:t>
            </a:r>
            <a:r>
              <a:rPr lang="fr-FR" sz="1400" dirty="0" err="1">
                <a:solidFill>
                  <a:schemeClr val="tx1">
                    <a:alpha val="80000"/>
                  </a:schemeClr>
                </a:solidFill>
              </a:rPr>
              <a:t>l'endpoint</a:t>
            </a:r>
            <a:r>
              <a:rPr lang="fr-FR" sz="1400" dirty="0">
                <a:solidFill>
                  <a:schemeClr val="tx1">
                    <a:alpha val="80000"/>
                  </a:schemeClr>
                </a:solidFill>
              </a:rPr>
              <a:t> GET /api/</a:t>
            </a:r>
            <a:r>
              <a:rPr lang="fr-FR" sz="1400" dirty="0" err="1">
                <a:solidFill>
                  <a:schemeClr val="tx1">
                    <a:alpha val="80000"/>
                  </a:schemeClr>
                </a:solidFill>
              </a:rPr>
              <a:t>users</a:t>
            </a:r>
            <a:r>
              <a:rPr lang="fr-FR" sz="1400" dirty="0">
                <a:solidFill>
                  <a:schemeClr val="tx1">
                    <a:alpha val="80000"/>
                  </a:schemeClr>
                </a:solidFill>
              </a:rPr>
              <a:t>/me/export/ qui restitue à l'utilisateur toutes ses données en JSON ou CSV (Art. 15 et 20).</a:t>
            </a:r>
          </a:p>
          <a:p>
            <a:pPr indent="-228600" algn="l">
              <a:buFont typeface="Arial" panose="020B0604020202020204" pitchFamily="34" charset="0"/>
              <a:buChar char="•"/>
            </a:pPr>
            <a:r>
              <a:rPr lang="fr-FR" sz="1400" b="1" dirty="0">
                <a:solidFill>
                  <a:schemeClr val="tx1">
                    <a:alpha val="80000"/>
                  </a:schemeClr>
                </a:solidFill>
              </a:rPr>
              <a:t>Effacement : </a:t>
            </a:r>
            <a:r>
              <a:rPr lang="fr-FR" sz="1400" dirty="0">
                <a:solidFill>
                  <a:schemeClr val="tx1">
                    <a:alpha val="80000"/>
                  </a:schemeClr>
                </a:solidFill>
              </a:rPr>
              <a:t>une fonction supprime le compte, les logs et les sauvegardes sur demande (Art. 17).</a:t>
            </a:r>
          </a:p>
          <a:p>
            <a:pPr indent="-228600" algn="l">
              <a:buFont typeface="Arial" panose="020B0604020202020204" pitchFamily="34" charset="0"/>
              <a:buChar char="•"/>
            </a:pPr>
            <a:r>
              <a:rPr lang="fr-FR" sz="1400" b="1" dirty="0">
                <a:solidFill>
                  <a:schemeClr val="tx1">
                    <a:alpha val="80000"/>
                  </a:schemeClr>
                </a:solidFill>
              </a:rPr>
              <a:t>Sécurité &amp; cookies : </a:t>
            </a:r>
            <a:r>
              <a:rPr lang="fr-FR" sz="1400" dirty="0">
                <a:solidFill>
                  <a:schemeClr val="tx1">
                    <a:alpha val="80000"/>
                  </a:schemeClr>
                </a:solidFill>
              </a:rPr>
              <a:t>logs conservés 1 an (L.34-1 CPCE) et un seul cookie de session </a:t>
            </a:r>
            <a:r>
              <a:rPr lang="fr-FR" sz="1400" dirty="0" err="1">
                <a:solidFill>
                  <a:schemeClr val="tx1">
                    <a:alpha val="80000"/>
                  </a:schemeClr>
                </a:solidFill>
              </a:rPr>
              <a:t>httpOnly</a:t>
            </a:r>
            <a:r>
              <a:rPr lang="fr-FR" sz="1400" dirty="0">
                <a:solidFill>
                  <a:schemeClr val="tx1">
                    <a:alpha val="80000"/>
                  </a:schemeClr>
                </a:solidFill>
              </a:rPr>
              <a:t>, sans traceur : donc sans bandeau de consentement (CNIL).</a:t>
            </a:r>
          </a:p>
          <a:p>
            <a:pPr indent="-228600" algn="l">
              <a:buFont typeface="Arial" panose="020B0604020202020204" pitchFamily="34" charset="0"/>
              <a:buChar char="•"/>
            </a:pPr>
            <a:r>
              <a:rPr lang="fr-FR" sz="1400" b="1" dirty="0">
                <a:solidFill>
                  <a:schemeClr val="tx1">
                    <a:alpha val="80000"/>
                  </a:schemeClr>
                </a:solidFill>
              </a:rPr>
              <a:t>Ce qu’on retient de cette </a:t>
            </a:r>
            <a:r>
              <a:rPr lang="fr-FR" sz="1400" b="1" dirty="0" err="1">
                <a:solidFill>
                  <a:schemeClr val="tx1">
                    <a:alpha val="80000"/>
                  </a:schemeClr>
                </a:solidFill>
              </a:rPr>
              <a:t>pertubation</a:t>
            </a:r>
            <a:r>
              <a:rPr lang="fr-FR" sz="1400" b="1" dirty="0">
                <a:solidFill>
                  <a:schemeClr val="tx1">
                    <a:alpha val="80000"/>
                  </a:schemeClr>
                </a:solidFill>
              </a:rPr>
              <a:t> : </a:t>
            </a:r>
            <a:r>
              <a:rPr lang="fr-FR" sz="1400" dirty="0">
                <a:solidFill>
                  <a:schemeClr val="tx1">
                    <a:alpha val="80000"/>
                  </a:schemeClr>
                </a:solidFill>
              </a:rPr>
              <a:t>la conformité se construit au fur et a mesure de la création du projet et la documentation constitue la preuve de nos engagements.</a:t>
            </a:r>
          </a:p>
        </p:txBody>
      </p:sp>
      <p:cxnSp>
        <p:nvCxnSpPr>
          <p:cNvPr id="31" name="Straight Connector 30">
            <a:extLst>
              <a:ext uri="{FF2B5EF4-FFF2-40B4-BE49-F238E27FC236}">
                <a16:creationId xmlns:a16="http://schemas.microsoft.com/office/drawing/2014/main" id="{12F334D5-41C0-AE82-C47F-1E83DC3B4C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5891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085F-BECE-B88A-13A3-3EEFA46450C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330F42B-CD19-A682-0B52-B119327591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EE9DFED4-A10E-94E0-E0BC-ACFF25B059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221739D9-7603-6D14-DBFB-3A1CDE5E40D8}"/>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b="1" dirty="0" err="1">
                <a:solidFill>
                  <a:srgbClr val="FFFFFF"/>
                </a:solidFill>
              </a:rPr>
              <a:t>Veille</a:t>
            </a:r>
            <a:r>
              <a:rPr lang="en-GB" sz="5600" b="1" dirty="0">
                <a:solidFill>
                  <a:srgbClr val="FFFFFF"/>
                </a:solidFill>
              </a:rPr>
              <a:t> </a:t>
            </a:r>
            <a:r>
              <a:rPr lang="en-GB" sz="5600" b="1" dirty="0" err="1">
                <a:solidFill>
                  <a:srgbClr val="FFFFFF"/>
                </a:solidFill>
              </a:rPr>
              <a:t>technologique</a:t>
            </a:r>
            <a:r>
              <a:rPr lang="en-GB" sz="5600" b="1" dirty="0">
                <a:solidFill>
                  <a:srgbClr val="FFFFFF"/>
                </a:solidFill>
              </a:rPr>
              <a:t> de sécurité</a:t>
            </a:r>
            <a:endParaRPr lang="en-US" sz="5600" b="1" dirty="0">
              <a:solidFill>
                <a:srgbClr val="FFFFFF"/>
              </a:solidFill>
            </a:endParaRPr>
          </a:p>
        </p:txBody>
      </p:sp>
      <p:grpSp>
        <p:nvGrpSpPr>
          <p:cNvPr id="26" name="Group 25">
            <a:extLst>
              <a:ext uri="{FF2B5EF4-FFF2-40B4-BE49-F238E27FC236}">
                <a16:creationId xmlns:a16="http://schemas.microsoft.com/office/drawing/2014/main" id="{A5C84EAF-7A62-5685-D3DF-B74D51D2BFA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CEF541CC-7431-BF08-6DAA-562076210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B08D1A8E-7F6C-3773-E41D-BDCEB94B7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78D85058-48BE-490C-134A-737C0C7CB6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906B51D4-91D6-AEC3-B6F1-18F1A49AA35D}"/>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400" b="1" dirty="0" err="1"/>
              <a:t>Pourquoi</a:t>
            </a:r>
            <a:r>
              <a:rPr lang="en-GB" sz="1400" b="1" dirty="0"/>
              <a:t> </a:t>
            </a:r>
            <a:r>
              <a:rPr lang="en-GB" sz="1400" b="1" dirty="0" err="1"/>
              <a:t>cette</a:t>
            </a:r>
            <a:r>
              <a:rPr lang="en-GB" sz="1400" b="1" dirty="0"/>
              <a:t> </a:t>
            </a:r>
            <a:r>
              <a:rPr lang="en-GB" sz="1400" b="1" dirty="0" err="1"/>
              <a:t>veille</a:t>
            </a:r>
            <a:r>
              <a:rPr lang="en-GB" sz="1400" b="1" dirty="0"/>
              <a:t> ?</a:t>
            </a:r>
          </a:p>
          <a:p>
            <a:r>
              <a:rPr lang="en-GB" sz="1400" dirty="0"/>
              <a:t>Lors de la perturbation J3, </a:t>
            </a:r>
            <a:r>
              <a:rPr lang="en-GB" sz="1400" dirty="0" err="1"/>
              <a:t>une</a:t>
            </a:r>
            <a:r>
              <a:rPr lang="en-GB" sz="1400" dirty="0"/>
              <a:t> </a:t>
            </a:r>
            <a:r>
              <a:rPr lang="en-GB" sz="1400" dirty="0" err="1"/>
              <a:t>vulnérabilité</a:t>
            </a:r>
            <a:r>
              <a:rPr lang="en-GB" sz="1400" dirty="0"/>
              <a:t> de </a:t>
            </a:r>
            <a:r>
              <a:rPr lang="en-GB" sz="1400" b="1" dirty="0"/>
              <a:t>Prompt Injection (OWASP LLM-01)</a:t>
            </a:r>
            <a:r>
              <a:rPr lang="en-GB" sz="1400" dirty="0"/>
              <a:t> a </a:t>
            </a:r>
            <a:r>
              <a:rPr lang="en-GB" sz="1400" dirty="0" err="1"/>
              <a:t>été</a:t>
            </a:r>
            <a:r>
              <a:rPr lang="en-GB" sz="1400" dirty="0"/>
              <a:t> </a:t>
            </a:r>
            <a:r>
              <a:rPr lang="en-GB" sz="1400" dirty="0" err="1"/>
              <a:t>identifiée</a:t>
            </a:r>
            <a:r>
              <a:rPr lang="en-GB" sz="1400" dirty="0"/>
              <a:t> sur </a:t>
            </a:r>
            <a:r>
              <a:rPr lang="en-GB" sz="1400" dirty="0" err="1"/>
              <a:t>notre</a:t>
            </a:r>
            <a:r>
              <a:rPr lang="en-GB" sz="1400" dirty="0"/>
              <a:t> application.</a:t>
            </a:r>
          </a:p>
          <a:p>
            <a:r>
              <a:rPr lang="en-GB" sz="1400" dirty="0"/>
              <a:t>Le sponsor </a:t>
            </a:r>
            <a:r>
              <a:rPr lang="en-GB" sz="1400" dirty="0" err="1"/>
              <a:t>demandait</a:t>
            </a:r>
            <a:r>
              <a:rPr lang="en-GB" sz="1400" dirty="0"/>
              <a:t> </a:t>
            </a:r>
            <a:r>
              <a:rPr lang="en-GB" sz="1400" dirty="0" err="1"/>
              <a:t>donc</a:t>
            </a:r>
            <a:r>
              <a:rPr lang="en-GB" sz="1400" dirty="0"/>
              <a:t> de :</a:t>
            </a:r>
          </a:p>
          <a:p>
            <a:r>
              <a:rPr lang="en-GB" sz="1400" dirty="0" err="1"/>
              <a:t>comprendre</a:t>
            </a:r>
            <a:r>
              <a:rPr lang="en-GB" sz="1400" dirty="0"/>
              <a:t> </a:t>
            </a:r>
            <a:r>
              <a:rPr lang="en-GB" sz="1400" dirty="0" err="1"/>
              <a:t>rapidement</a:t>
            </a:r>
            <a:r>
              <a:rPr lang="en-GB" sz="1400" dirty="0"/>
              <a:t> </a:t>
            </a:r>
            <a:r>
              <a:rPr lang="en-GB" sz="1400" dirty="0" err="1"/>
              <a:t>cette</a:t>
            </a:r>
            <a:r>
              <a:rPr lang="en-GB" sz="1400" dirty="0"/>
              <a:t> </a:t>
            </a:r>
            <a:r>
              <a:rPr lang="en-GB" sz="1400" dirty="0" err="1"/>
              <a:t>vulnérabilité</a:t>
            </a:r>
            <a:r>
              <a:rPr lang="en-GB" sz="1400" dirty="0"/>
              <a:t> ; </a:t>
            </a:r>
          </a:p>
          <a:p>
            <a:r>
              <a:rPr lang="en-GB" sz="1400" dirty="0"/>
              <a:t>identifier les </a:t>
            </a:r>
            <a:r>
              <a:rPr lang="en-GB" sz="1400" dirty="0" err="1"/>
              <a:t>bonnes</a:t>
            </a:r>
            <a:r>
              <a:rPr lang="en-GB" sz="1400" dirty="0"/>
              <a:t> pratiques de protection ; </a:t>
            </a:r>
          </a:p>
          <a:p>
            <a:r>
              <a:rPr lang="en-GB" sz="1400" dirty="0"/>
              <a:t>proposer </a:t>
            </a:r>
            <a:r>
              <a:rPr lang="en-GB" sz="1400" dirty="0" err="1"/>
              <a:t>une</a:t>
            </a:r>
            <a:r>
              <a:rPr lang="en-GB" sz="1400" dirty="0"/>
              <a:t> solution avant la livraison. </a:t>
            </a:r>
          </a:p>
          <a:p>
            <a:r>
              <a:rPr lang="en-GB" sz="1400" b="1" dirty="0"/>
              <a:t>Notre démarche</a:t>
            </a:r>
          </a:p>
          <a:p>
            <a:r>
              <a:rPr lang="en-GB" sz="1400" dirty="0"/>
              <a:t>Étude de la documentation OWASP LLM Top 10 </a:t>
            </a:r>
          </a:p>
          <a:p>
            <a:r>
              <a:rPr lang="en-GB" sz="1400" dirty="0"/>
              <a:t>Analyse du podcast </a:t>
            </a:r>
            <a:r>
              <a:rPr lang="en-GB" sz="1400" dirty="0" err="1"/>
              <a:t>fourni</a:t>
            </a:r>
            <a:r>
              <a:rPr lang="en-GB" sz="1400" dirty="0"/>
              <a:t> </a:t>
            </a:r>
          </a:p>
          <a:p>
            <a:r>
              <a:rPr lang="en-GB" sz="1400" dirty="0"/>
              <a:t>Recherche sur les </a:t>
            </a:r>
            <a:r>
              <a:rPr lang="en-GB" sz="1400" dirty="0" err="1"/>
              <a:t>attaques</a:t>
            </a:r>
            <a:r>
              <a:rPr lang="en-GB" sz="1400" dirty="0"/>
              <a:t> </a:t>
            </a:r>
            <a:r>
              <a:rPr lang="en-GB" sz="1400" dirty="0" err="1"/>
              <a:t>réelles</a:t>
            </a:r>
            <a:r>
              <a:rPr lang="en-GB" sz="1400" dirty="0"/>
              <a:t> </a:t>
            </a:r>
          </a:p>
          <a:p>
            <a:r>
              <a:rPr lang="en-GB" sz="1400" dirty="0"/>
              <a:t>Identification des </a:t>
            </a:r>
            <a:r>
              <a:rPr lang="en-GB" sz="1400" dirty="0" err="1"/>
              <a:t>contre-mesures</a:t>
            </a:r>
            <a:r>
              <a:rPr lang="en-GB" sz="1400" dirty="0"/>
              <a:t> </a:t>
            </a:r>
          </a:p>
        </p:txBody>
      </p:sp>
      <p:cxnSp>
        <p:nvCxnSpPr>
          <p:cNvPr id="31" name="Straight Connector 30">
            <a:extLst>
              <a:ext uri="{FF2B5EF4-FFF2-40B4-BE49-F238E27FC236}">
                <a16:creationId xmlns:a16="http://schemas.microsoft.com/office/drawing/2014/main" id="{5C96862F-8034-EFA9-CEC5-E19A72238F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58531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7F757-C2CB-5918-3E60-0C7AAC4D10A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33508A-3E6B-CF83-988B-479AD38FAF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22E69BFB-6E28-A118-83E5-7D598AEBED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BC0D4E98-FB8A-7F76-C8AB-29656777F8BD}"/>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b="1" dirty="0" err="1">
                <a:solidFill>
                  <a:srgbClr val="FFFFFF"/>
                </a:solidFill>
              </a:rPr>
              <a:t>Résultats</a:t>
            </a:r>
            <a:r>
              <a:rPr lang="en-GB" sz="5600" b="1" dirty="0">
                <a:solidFill>
                  <a:srgbClr val="FFFFFF"/>
                </a:solidFill>
              </a:rPr>
              <a:t> de la </a:t>
            </a:r>
            <a:r>
              <a:rPr lang="en-GB" sz="5600" b="1" dirty="0" err="1">
                <a:solidFill>
                  <a:srgbClr val="FFFFFF"/>
                </a:solidFill>
              </a:rPr>
              <a:t>veille</a:t>
            </a:r>
            <a:r>
              <a:rPr lang="en-GB" sz="5600" b="1" dirty="0">
                <a:solidFill>
                  <a:srgbClr val="FFFFFF"/>
                </a:solidFill>
              </a:rPr>
              <a:t> </a:t>
            </a:r>
            <a:r>
              <a:rPr lang="en-GB" sz="5600" b="1" dirty="0" err="1">
                <a:solidFill>
                  <a:srgbClr val="FFFFFF"/>
                </a:solidFill>
              </a:rPr>
              <a:t>technologique</a:t>
            </a:r>
            <a:endParaRPr lang="en-US" sz="5600" b="1" dirty="0">
              <a:solidFill>
                <a:srgbClr val="FFFFFF"/>
              </a:solidFill>
            </a:endParaRPr>
          </a:p>
        </p:txBody>
      </p:sp>
      <p:grpSp>
        <p:nvGrpSpPr>
          <p:cNvPr id="26" name="Group 25">
            <a:extLst>
              <a:ext uri="{FF2B5EF4-FFF2-40B4-BE49-F238E27FC236}">
                <a16:creationId xmlns:a16="http://schemas.microsoft.com/office/drawing/2014/main" id="{2178A930-4E11-377A-C73B-912D871719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F3FB4A72-055A-493F-4B37-64CD87146A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3404AA1A-AD8F-0EBE-A1AB-E4E0942020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541AF9EA-A035-062D-0CA9-F28F276EB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2EB54F96-179A-8EBD-5CD1-9E6293443A55}"/>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a:t>Après analyse</a:t>
            </a:r>
          </a:p>
          <a:p>
            <a:r>
              <a:rPr lang="en-GB" sz="1800" dirty="0" err="1"/>
              <a:t>Compréhension</a:t>
            </a:r>
            <a:r>
              <a:rPr lang="en-GB" sz="1800" dirty="0"/>
              <a:t> du </a:t>
            </a:r>
            <a:r>
              <a:rPr lang="en-GB" sz="1800" dirty="0" err="1"/>
              <a:t>fonctionnement</a:t>
            </a:r>
            <a:r>
              <a:rPr lang="en-GB" sz="1800" dirty="0"/>
              <a:t> </a:t>
            </a:r>
            <a:r>
              <a:rPr lang="en-GB" sz="1800" dirty="0" err="1"/>
              <a:t>d'une</a:t>
            </a:r>
            <a:r>
              <a:rPr lang="en-GB" sz="1800" dirty="0"/>
              <a:t> Prompt Injection </a:t>
            </a:r>
          </a:p>
          <a:p>
            <a:r>
              <a:rPr lang="en-GB" sz="1800" dirty="0"/>
              <a:t>Identification des </a:t>
            </a:r>
            <a:r>
              <a:rPr lang="en-GB" sz="1800" dirty="0" err="1"/>
              <a:t>risques</a:t>
            </a:r>
            <a:r>
              <a:rPr lang="en-GB" sz="1800" dirty="0"/>
              <a:t> pour les LLM </a:t>
            </a:r>
          </a:p>
          <a:p>
            <a:r>
              <a:rPr lang="en-GB" sz="1800" dirty="0" err="1"/>
              <a:t>Définition</a:t>
            </a:r>
            <a:r>
              <a:rPr lang="en-GB" sz="1800" dirty="0"/>
              <a:t> de </a:t>
            </a:r>
            <a:r>
              <a:rPr lang="en-GB" sz="1800" dirty="0" err="1"/>
              <a:t>plusieurs</a:t>
            </a:r>
            <a:r>
              <a:rPr lang="en-GB" sz="1800" dirty="0"/>
              <a:t> couches de protection </a:t>
            </a:r>
          </a:p>
          <a:p>
            <a:pPr lvl="1"/>
            <a:r>
              <a:rPr lang="en-GB" sz="1800" dirty="0"/>
              <a:t>Prompt </a:t>
            </a:r>
            <a:r>
              <a:rPr lang="en-GB" sz="1800" dirty="0" err="1"/>
              <a:t>système</a:t>
            </a:r>
            <a:r>
              <a:rPr lang="en-GB" sz="1800" dirty="0"/>
              <a:t> </a:t>
            </a:r>
            <a:r>
              <a:rPr lang="en-GB" sz="1800" dirty="0" err="1"/>
              <a:t>défensif</a:t>
            </a:r>
            <a:r>
              <a:rPr lang="en-GB" sz="1800" dirty="0"/>
              <a:t> </a:t>
            </a:r>
          </a:p>
          <a:p>
            <a:pPr lvl="1"/>
            <a:r>
              <a:rPr lang="en-GB" sz="1800" dirty="0"/>
              <a:t>Validation des entrées </a:t>
            </a:r>
            <a:r>
              <a:rPr lang="en-GB" sz="1800" dirty="0" err="1"/>
              <a:t>utilisateur</a:t>
            </a:r>
            <a:r>
              <a:rPr lang="en-GB" sz="1800" dirty="0"/>
              <a:t> </a:t>
            </a:r>
          </a:p>
          <a:p>
            <a:pPr lvl="1"/>
            <a:r>
              <a:rPr lang="en-GB" sz="1800" dirty="0" err="1"/>
              <a:t>Vérification</a:t>
            </a:r>
            <a:r>
              <a:rPr lang="en-GB" sz="1800" dirty="0"/>
              <a:t> des </a:t>
            </a:r>
            <a:r>
              <a:rPr lang="en-GB" sz="1800" dirty="0" err="1"/>
              <a:t>réponses</a:t>
            </a:r>
            <a:r>
              <a:rPr lang="en-GB" sz="1800" dirty="0"/>
              <a:t> </a:t>
            </a:r>
            <a:r>
              <a:rPr lang="en-GB" sz="1800" dirty="0" err="1"/>
              <a:t>générées</a:t>
            </a:r>
            <a:r>
              <a:rPr lang="en-GB" sz="1800" dirty="0"/>
              <a:t> </a:t>
            </a:r>
          </a:p>
          <a:p>
            <a:r>
              <a:rPr lang="en-GB" sz="1800" b="1" dirty="0" err="1"/>
              <a:t>Décision</a:t>
            </a:r>
            <a:r>
              <a:rPr lang="en-GB" sz="1800" b="1" dirty="0"/>
              <a:t> </a:t>
            </a:r>
            <a:r>
              <a:rPr lang="en-GB" sz="1800" b="1" dirty="0" err="1"/>
              <a:t>retenue</a:t>
            </a:r>
            <a:endParaRPr lang="en-GB" sz="1800" b="1" dirty="0"/>
          </a:p>
          <a:p>
            <a:r>
              <a:rPr lang="en-GB" sz="1800" dirty="0"/>
              <a:t>Nous </a:t>
            </a:r>
            <a:r>
              <a:rPr lang="en-GB" sz="1800" dirty="0" err="1"/>
              <a:t>avons</a:t>
            </a:r>
            <a:r>
              <a:rPr lang="en-GB" sz="1800" dirty="0"/>
              <a:t> </a:t>
            </a:r>
            <a:r>
              <a:rPr lang="en-GB" sz="1800" dirty="0" err="1"/>
              <a:t>intégré</a:t>
            </a:r>
            <a:r>
              <a:rPr lang="en-GB" sz="1800" dirty="0"/>
              <a:t> </a:t>
            </a:r>
            <a:r>
              <a:rPr lang="en-GB" sz="1800" dirty="0" err="1"/>
              <a:t>ces</a:t>
            </a:r>
            <a:r>
              <a:rPr lang="en-GB" sz="1800" dirty="0"/>
              <a:t> </a:t>
            </a:r>
            <a:r>
              <a:rPr lang="en-GB" sz="1800" dirty="0" err="1"/>
              <a:t>recommandations</a:t>
            </a:r>
            <a:r>
              <a:rPr lang="en-GB" sz="1800" dirty="0"/>
              <a:t> </a:t>
            </a:r>
            <a:r>
              <a:rPr lang="en-GB" sz="1800" dirty="0" err="1"/>
              <a:t>afin</a:t>
            </a:r>
            <a:r>
              <a:rPr lang="en-GB" sz="1800" dirty="0"/>
              <a:t> de :</a:t>
            </a:r>
          </a:p>
          <a:p>
            <a:r>
              <a:rPr lang="en-GB" sz="1800" dirty="0"/>
              <a:t>limiter les </a:t>
            </a:r>
            <a:r>
              <a:rPr lang="en-GB" sz="1800" dirty="0" err="1"/>
              <a:t>risques</a:t>
            </a:r>
            <a:r>
              <a:rPr lang="en-GB" sz="1800" dirty="0"/>
              <a:t> </a:t>
            </a:r>
            <a:r>
              <a:rPr lang="en-GB" sz="1800" dirty="0" err="1"/>
              <a:t>d'injection</a:t>
            </a:r>
            <a:r>
              <a:rPr lang="en-GB" sz="1800" dirty="0"/>
              <a:t> </a:t>
            </a:r>
          </a:p>
          <a:p>
            <a:r>
              <a:rPr lang="en-GB" sz="1800" dirty="0" err="1"/>
              <a:t>renforcer</a:t>
            </a:r>
            <a:r>
              <a:rPr lang="en-GB" sz="1800" dirty="0"/>
              <a:t> la sécurité de </a:t>
            </a:r>
            <a:r>
              <a:rPr lang="en-GB" sz="1800" dirty="0" err="1"/>
              <a:t>l'application</a:t>
            </a:r>
            <a:r>
              <a:rPr lang="en-GB" sz="1800" dirty="0"/>
              <a:t> </a:t>
            </a:r>
          </a:p>
          <a:p>
            <a:r>
              <a:rPr lang="en-GB" sz="1800" dirty="0"/>
              <a:t>respecter les exigences du sponsor </a:t>
            </a:r>
          </a:p>
        </p:txBody>
      </p:sp>
      <p:cxnSp>
        <p:nvCxnSpPr>
          <p:cNvPr id="31" name="Straight Connector 30">
            <a:extLst>
              <a:ext uri="{FF2B5EF4-FFF2-40B4-BE49-F238E27FC236}">
                <a16:creationId xmlns:a16="http://schemas.microsoft.com/office/drawing/2014/main" id="{9085DFA9-6CF4-1C19-9FCD-45368A4B0B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46488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D0DD-8AD8-05A7-680F-5ACD61084EE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42A5917-5388-D23C-F742-68634ABDF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49B9689-F0C7-07D8-7CDC-0A74134337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A101D087-4CA2-C14F-2350-4D51441A691D}"/>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b="1" dirty="0">
                <a:solidFill>
                  <a:srgbClr val="FFFFFF"/>
                </a:solidFill>
              </a:rPr>
              <a:t>Analyse des </a:t>
            </a:r>
            <a:r>
              <a:rPr lang="en-GB" sz="5600" b="1" dirty="0" err="1">
                <a:solidFill>
                  <a:srgbClr val="FFFFFF"/>
                </a:solidFill>
              </a:rPr>
              <a:t>risques</a:t>
            </a:r>
            <a:endParaRPr lang="en-US" sz="5600" b="1" dirty="0">
              <a:solidFill>
                <a:srgbClr val="FFFFFF"/>
              </a:solidFill>
            </a:endParaRPr>
          </a:p>
        </p:txBody>
      </p:sp>
      <p:grpSp>
        <p:nvGrpSpPr>
          <p:cNvPr id="26" name="Group 25">
            <a:extLst>
              <a:ext uri="{FF2B5EF4-FFF2-40B4-BE49-F238E27FC236}">
                <a16:creationId xmlns:a16="http://schemas.microsoft.com/office/drawing/2014/main" id="{00573B28-C7E4-42E6-6874-6957FF1FAA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255BF3ED-2283-2732-6DF6-B1828E26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860C2F93-EE74-BC07-DEAB-553DC6C4CD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654EEB90-3F20-B77F-0893-9E74469DF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39529D05-37B5-6A70-1C94-C44E8B2B38AF}"/>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err="1"/>
              <a:t>Pourquoi</a:t>
            </a:r>
            <a:r>
              <a:rPr lang="en-GB" sz="1800" b="1" dirty="0"/>
              <a:t> </a:t>
            </a:r>
            <a:r>
              <a:rPr lang="en-GB" sz="1800" b="1" dirty="0" err="1"/>
              <a:t>cette</a:t>
            </a:r>
            <a:r>
              <a:rPr lang="en-GB" sz="1800" b="1" dirty="0"/>
              <a:t> analyse ?</a:t>
            </a:r>
          </a:p>
          <a:p>
            <a:r>
              <a:rPr lang="en-GB" sz="1800" dirty="0"/>
              <a:t>La perturbation J3 impose de prendre </a:t>
            </a:r>
            <a:r>
              <a:rPr lang="en-GB" sz="1800" dirty="0" err="1"/>
              <a:t>en</a:t>
            </a:r>
            <a:r>
              <a:rPr lang="en-GB" sz="1800" dirty="0"/>
              <a:t> compte les </a:t>
            </a:r>
            <a:r>
              <a:rPr lang="en-GB" sz="1800" dirty="0" err="1"/>
              <a:t>risques</a:t>
            </a:r>
            <a:r>
              <a:rPr lang="en-GB" sz="1800" dirty="0"/>
              <a:t> </a:t>
            </a:r>
            <a:r>
              <a:rPr lang="en-GB" sz="1800" dirty="0" err="1"/>
              <a:t>liés</a:t>
            </a:r>
            <a:r>
              <a:rPr lang="en-GB" sz="1800" dirty="0"/>
              <a:t> à </a:t>
            </a:r>
            <a:r>
              <a:rPr lang="en-GB" sz="1800" dirty="0" err="1"/>
              <a:t>l'utilisation</a:t>
            </a:r>
            <a:r>
              <a:rPr lang="en-GB" sz="1800" dirty="0"/>
              <a:t> d'un LLM.</a:t>
            </a:r>
          </a:p>
          <a:p>
            <a:r>
              <a:rPr lang="en-GB" sz="1800" dirty="0"/>
              <a:t>Notre </a:t>
            </a:r>
            <a:r>
              <a:rPr lang="en-GB" sz="1800" dirty="0" err="1"/>
              <a:t>objectif</a:t>
            </a:r>
            <a:r>
              <a:rPr lang="en-GB" sz="1800" dirty="0"/>
              <a:t> </a:t>
            </a:r>
            <a:r>
              <a:rPr lang="en-GB" sz="1800" dirty="0" err="1"/>
              <a:t>était</a:t>
            </a:r>
            <a:r>
              <a:rPr lang="en-GB" sz="1800" dirty="0"/>
              <a:t> de :</a:t>
            </a:r>
          </a:p>
          <a:p>
            <a:r>
              <a:rPr lang="en-GB" sz="1800" dirty="0"/>
              <a:t>identifier les menaces </a:t>
            </a:r>
            <a:r>
              <a:rPr lang="en-GB" sz="1800" dirty="0" err="1"/>
              <a:t>principales</a:t>
            </a:r>
            <a:r>
              <a:rPr lang="en-GB" sz="1800" dirty="0"/>
              <a:t> ; </a:t>
            </a:r>
          </a:p>
          <a:p>
            <a:r>
              <a:rPr lang="en-GB" sz="1800" dirty="0" err="1"/>
              <a:t>évaluer</a:t>
            </a:r>
            <a:r>
              <a:rPr lang="en-GB" sz="1800" dirty="0"/>
              <a:t> </a:t>
            </a:r>
            <a:r>
              <a:rPr lang="en-GB" sz="1800" dirty="0" err="1"/>
              <a:t>leur</a:t>
            </a:r>
            <a:r>
              <a:rPr lang="en-GB" sz="1800" dirty="0"/>
              <a:t> impact ; </a:t>
            </a:r>
          </a:p>
          <a:p>
            <a:r>
              <a:rPr lang="en-GB" sz="1800" dirty="0" err="1"/>
              <a:t>définir</a:t>
            </a:r>
            <a:r>
              <a:rPr lang="en-GB" sz="1800" dirty="0"/>
              <a:t> des </a:t>
            </a:r>
            <a:r>
              <a:rPr lang="en-GB" sz="1800" dirty="0" err="1"/>
              <a:t>mesures</a:t>
            </a:r>
            <a:r>
              <a:rPr lang="en-GB" sz="1800" dirty="0"/>
              <a:t> de </a:t>
            </a:r>
            <a:r>
              <a:rPr lang="en-GB" sz="1800" dirty="0" err="1"/>
              <a:t>réduction</a:t>
            </a:r>
            <a:r>
              <a:rPr lang="en-GB" sz="1800" dirty="0"/>
              <a:t> des </a:t>
            </a:r>
            <a:r>
              <a:rPr lang="en-GB" sz="1800" dirty="0" err="1"/>
              <a:t>risques</a:t>
            </a:r>
            <a:r>
              <a:rPr lang="en-GB" sz="1800" dirty="0"/>
              <a:t>. </a:t>
            </a:r>
          </a:p>
          <a:p>
            <a:r>
              <a:rPr lang="en-GB" sz="1800" b="1" dirty="0"/>
              <a:t>Notre démarche</a:t>
            </a:r>
          </a:p>
          <a:p>
            <a:r>
              <a:rPr lang="en-GB" sz="1800" dirty="0"/>
              <a:t>Identification des </a:t>
            </a:r>
            <a:r>
              <a:rPr lang="en-GB" sz="1800" dirty="0" err="1"/>
              <a:t>risques</a:t>
            </a:r>
            <a:r>
              <a:rPr lang="en-GB" sz="1800" dirty="0"/>
              <a:t> </a:t>
            </a:r>
          </a:p>
          <a:p>
            <a:r>
              <a:rPr lang="en-GB" sz="1800" dirty="0" err="1"/>
              <a:t>Évaluation</a:t>
            </a:r>
            <a:r>
              <a:rPr lang="en-GB" sz="1800" dirty="0"/>
              <a:t> de </a:t>
            </a:r>
            <a:r>
              <a:rPr lang="en-GB" sz="1800" dirty="0" err="1"/>
              <a:t>leur</a:t>
            </a:r>
            <a:r>
              <a:rPr lang="en-GB" sz="1800" dirty="0"/>
              <a:t> </a:t>
            </a:r>
            <a:r>
              <a:rPr lang="en-GB" sz="1800" dirty="0" err="1"/>
              <a:t>probabilité</a:t>
            </a:r>
            <a:r>
              <a:rPr lang="en-GB" sz="1800" dirty="0"/>
              <a:t> </a:t>
            </a:r>
          </a:p>
          <a:p>
            <a:r>
              <a:rPr lang="en-GB" sz="1800" dirty="0" err="1"/>
              <a:t>Évaluation</a:t>
            </a:r>
            <a:r>
              <a:rPr lang="en-GB" sz="1800" dirty="0"/>
              <a:t> de </a:t>
            </a:r>
            <a:r>
              <a:rPr lang="en-GB" sz="1800" dirty="0" err="1"/>
              <a:t>leur</a:t>
            </a:r>
            <a:r>
              <a:rPr lang="en-GB" sz="1800" dirty="0"/>
              <a:t> impact </a:t>
            </a:r>
          </a:p>
          <a:p>
            <a:r>
              <a:rPr lang="en-GB" sz="1800" dirty="0"/>
              <a:t>Proposition </a:t>
            </a:r>
            <a:r>
              <a:rPr lang="en-GB" sz="1800" dirty="0" err="1"/>
              <a:t>d'actions</a:t>
            </a:r>
            <a:r>
              <a:rPr lang="en-GB" sz="1800" dirty="0"/>
              <a:t> correctives</a:t>
            </a:r>
          </a:p>
        </p:txBody>
      </p:sp>
      <p:cxnSp>
        <p:nvCxnSpPr>
          <p:cNvPr id="31" name="Straight Connector 30">
            <a:extLst>
              <a:ext uri="{FF2B5EF4-FFF2-40B4-BE49-F238E27FC236}">
                <a16:creationId xmlns:a16="http://schemas.microsoft.com/office/drawing/2014/main" id="{2D6DC692-C2FF-1C5E-D69D-02E384775D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5433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439C63-83BA-633A-CE78-82F4BD9342D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4081A43-8F95-F405-36D9-8ABBBC105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E24EEF97-5C36-7B58-B6A3-89A4ABA1EF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8F764788-7003-B298-74EE-7BB776D8ABDA}"/>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b="1" dirty="0" err="1">
                <a:solidFill>
                  <a:srgbClr val="FFFFFF"/>
                </a:solidFill>
              </a:rPr>
              <a:t>Résultats</a:t>
            </a:r>
            <a:r>
              <a:rPr lang="en-GB" sz="5600" b="1" dirty="0">
                <a:solidFill>
                  <a:srgbClr val="FFFFFF"/>
                </a:solidFill>
              </a:rPr>
              <a:t> de la </a:t>
            </a:r>
            <a:r>
              <a:rPr lang="en-GB" sz="5600" b="1" dirty="0" err="1">
                <a:solidFill>
                  <a:srgbClr val="FFFFFF"/>
                </a:solidFill>
              </a:rPr>
              <a:t>veille</a:t>
            </a:r>
            <a:r>
              <a:rPr lang="en-GB" sz="5600" b="1" dirty="0">
                <a:solidFill>
                  <a:srgbClr val="FFFFFF"/>
                </a:solidFill>
              </a:rPr>
              <a:t> </a:t>
            </a:r>
            <a:r>
              <a:rPr lang="en-GB" sz="5600" b="1" dirty="0" err="1">
                <a:solidFill>
                  <a:srgbClr val="FFFFFF"/>
                </a:solidFill>
              </a:rPr>
              <a:t>technologique</a:t>
            </a:r>
            <a:endParaRPr lang="en-US" sz="5600" b="1" dirty="0">
              <a:solidFill>
                <a:srgbClr val="FFFFFF"/>
              </a:solidFill>
            </a:endParaRPr>
          </a:p>
        </p:txBody>
      </p:sp>
      <p:grpSp>
        <p:nvGrpSpPr>
          <p:cNvPr id="26" name="Group 25">
            <a:extLst>
              <a:ext uri="{FF2B5EF4-FFF2-40B4-BE49-F238E27FC236}">
                <a16:creationId xmlns:a16="http://schemas.microsoft.com/office/drawing/2014/main" id="{87D321D6-D73F-1C94-F423-B40F3FF50CF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384368CD-0907-C9A5-0376-EE435294C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E38E1984-4608-891F-5261-8633F0AFB9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93E4CB27-4267-5EF5-0CCD-B841793FD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E4B39939-2DDA-5646-11D6-BE2ACEF42DCF}"/>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a:t>Après analyse</a:t>
            </a:r>
          </a:p>
          <a:p>
            <a:r>
              <a:rPr lang="en-GB" sz="1800" dirty="0" err="1"/>
              <a:t>Compréhension</a:t>
            </a:r>
            <a:r>
              <a:rPr lang="en-GB" sz="1800" dirty="0"/>
              <a:t> du </a:t>
            </a:r>
            <a:r>
              <a:rPr lang="en-GB" sz="1800" dirty="0" err="1"/>
              <a:t>fonctionnement</a:t>
            </a:r>
            <a:r>
              <a:rPr lang="en-GB" sz="1800" dirty="0"/>
              <a:t> </a:t>
            </a:r>
            <a:r>
              <a:rPr lang="en-GB" sz="1800" dirty="0" err="1"/>
              <a:t>d'une</a:t>
            </a:r>
            <a:r>
              <a:rPr lang="en-GB" sz="1800" dirty="0"/>
              <a:t> Prompt Injection </a:t>
            </a:r>
          </a:p>
          <a:p>
            <a:r>
              <a:rPr lang="en-GB" sz="1800" dirty="0"/>
              <a:t>Identification des </a:t>
            </a:r>
            <a:r>
              <a:rPr lang="en-GB" sz="1800" dirty="0" err="1"/>
              <a:t>risques</a:t>
            </a:r>
            <a:r>
              <a:rPr lang="en-GB" sz="1800" dirty="0"/>
              <a:t> pour les LLM </a:t>
            </a:r>
          </a:p>
          <a:p>
            <a:r>
              <a:rPr lang="en-GB" sz="1800" dirty="0" err="1"/>
              <a:t>Définition</a:t>
            </a:r>
            <a:r>
              <a:rPr lang="en-GB" sz="1800" dirty="0"/>
              <a:t> de </a:t>
            </a:r>
            <a:r>
              <a:rPr lang="en-GB" sz="1800" dirty="0" err="1"/>
              <a:t>plusieurs</a:t>
            </a:r>
            <a:r>
              <a:rPr lang="en-GB" sz="1800" dirty="0"/>
              <a:t> couches de protection </a:t>
            </a:r>
          </a:p>
          <a:p>
            <a:pPr lvl="1"/>
            <a:r>
              <a:rPr lang="en-GB" sz="1800" dirty="0"/>
              <a:t>Prompt </a:t>
            </a:r>
            <a:r>
              <a:rPr lang="en-GB" sz="1800" dirty="0" err="1"/>
              <a:t>système</a:t>
            </a:r>
            <a:r>
              <a:rPr lang="en-GB" sz="1800" dirty="0"/>
              <a:t> </a:t>
            </a:r>
            <a:r>
              <a:rPr lang="en-GB" sz="1800" dirty="0" err="1"/>
              <a:t>défensif</a:t>
            </a:r>
            <a:r>
              <a:rPr lang="en-GB" sz="1800" dirty="0"/>
              <a:t> </a:t>
            </a:r>
          </a:p>
          <a:p>
            <a:pPr lvl="1"/>
            <a:r>
              <a:rPr lang="en-GB" sz="1800" dirty="0"/>
              <a:t>Validation des entrées </a:t>
            </a:r>
            <a:r>
              <a:rPr lang="en-GB" sz="1800" dirty="0" err="1"/>
              <a:t>utilisateur</a:t>
            </a:r>
            <a:r>
              <a:rPr lang="en-GB" sz="1800" dirty="0"/>
              <a:t> </a:t>
            </a:r>
          </a:p>
          <a:p>
            <a:pPr lvl="1"/>
            <a:r>
              <a:rPr lang="en-GB" sz="1800" dirty="0" err="1"/>
              <a:t>Vérification</a:t>
            </a:r>
            <a:r>
              <a:rPr lang="en-GB" sz="1800" dirty="0"/>
              <a:t> des </a:t>
            </a:r>
            <a:r>
              <a:rPr lang="en-GB" sz="1800" dirty="0" err="1"/>
              <a:t>réponses</a:t>
            </a:r>
            <a:r>
              <a:rPr lang="en-GB" sz="1800" dirty="0"/>
              <a:t> </a:t>
            </a:r>
            <a:r>
              <a:rPr lang="en-GB" sz="1800" dirty="0" err="1"/>
              <a:t>générées</a:t>
            </a:r>
            <a:r>
              <a:rPr lang="en-GB" sz="1800" dirty="0"/>
              <a:t> </a:t>
            </a:r>
          </a:p>
          <a:p>
            <a:r>
              <a:rPr lang="en-GB" sz="1800" b="1" dirty="0" err="1"/>
              <a:t>Décision</a:t>
            </a:r>
            <a:r>
              <a:rPr lang="en-GB" sz="1800" b="1" dirty="0"/>
              <a:t> </a:t>
            </a:r>
            <a:r>
              <a:rPr lang="en-GB" sz="1800" b="1" dirty="0" err="1"/>
              <a:t>retenue</a:t>
            </a:r>
            <a:endParaRPr lang="en-GB" sz="1800" b="1" dirty="0"/>
          </a:p>
          <a:p>
            <a:r>
              <a:rPr lang="en-GB" sz="1800" dirty="0"/>
              <a:t>Nous </a:t>
            </a:r>
            <a:r>
              <a:rPr lang="en-GB" sz="1800" dirty="0" err="1"/>
              <a:t>avons</a:t>
            </a:r>
            <a:r>
              <a:rPr lang="en-GB" sz="1800" dirty="0"/>
              <a:t> </a:t>
            </a:r>
            <a:r>
              <a:rPr lang="en-GB" sz="1800" dirty="0" err="1"/>
              <a:t>intégré</a:t>
            </a:r>
            <a:r>
              <a:rPr lang="en-GB" sz="1800" dirty="0"/>
              <a:t> </a:t>
            </a:r>
            <a:r>
              <a:rPr lang="en-GB" sz="1800" dirty="0" err="1"/>
              <a:t>ces</a:t>
            </a:r>
            <a:r>
              <a:rPr lang="en-GB" sz="1800" dirty="0"/>
              <a:t> </a:t>
            </a:r>
            <a:r>
              <a:rPr lang="en-GB" sz="1800" dirty="0" err="1"/>
              <a:t>recommandations</a:t>
            </a:r>
            <a:r>
              <a:rPr lang="en-GB" sz="1800" dirty="0"/>
              <a:t> </a:t>
            </a:r>
            <a:r>
              <a:rPr lang="en-GB" sz="1800" dirty="0" err="1"/>
              <a:t>afin</a:t>
            </a:r>
            <a:r>
              <a:rPr lang="en-GB" sz="1800" dirty="0"/>
              <a:t> de :</a:t>
            </a:r>
          </a:p>
          <a:p>
            <a:r>
              <a:rPr lang="en-GB" sz="1800" dirty="0"/>
              <a:t>limiter les </a:t>
            </a:r>
            <a:r>
              <a:rPr lang="en-GB" sz="1800" dirty="0" err="1"/>
              <a:t>risques</a:t>
            </a:r>
            <a:r>
              <a:rPr lang="en-GB" sz="1800" dirty="0"/>
              <a:t> </a:t>
            </a:r>
            <a:r>
              <a:rPr lang="en-GB" sz="1800" dirty="0" err="1"/>
              <a:t>d'injection</a:t>
            </a:r>
            <a:r>
              <a:rPr lang="en-GB" sz="1800" dirty="0"/>
              <a:t> </a:t>
            </a:r>
          </a:p>
          <a:p>
            <a:r>
              <a:rPr lang="en-GB" sz="1800" dirty="0" err="1"/>
              <a:t>renforcer</a:t>
            </a:r>
            <a:r>
              <a:rPr lang="en-GB" sz="1800" dirty="0"/>
              <a:t> la sécurité de </a:t>
            </a:r>
            <a:r>
              <a:rPr lang="en-GB" sz="1800" dirty="0" err="1"/>
              <a:t>l'application</a:t>
            </a:r>
            <a:r>
              <a:rPr lang="en-GB" sz="1800" dirty="0"/>
              <a:t> </a:t>
            </a:r>
          </a:p>
          <a:p>
            <a:r>
              <a:rPr lang="en-GB" sz="1800" dirty="0"/>
              <a:t>respecter les exigences du sponsor </a:t>
            </a:r>
          </a:p>
        </p:txBody>
      </p:sp>
      <p:cxnSp>
        <p:nvCxnSpPr>
          <p:cNvPr id="31" name="Straight Connector 30">
            <a:extLst>
              <a:ext uri="{FF2B5EF4-FFF2-40B4-BE49-F238E27FC236}">
                <a16:creationId xmlns:a16="http://schemas.microsoft.com/office/drawing/2014/main" id="{5A53D41D-ACC3-14D8-E209-B5D6DC221C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72075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C276D-0D79-70AC-11AF-82A52DD1846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C822334E-370C-94A3-5241-FAA2CEF9F7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370627C-19ED-04F3-560F-D67C7DE04C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3417E84D-126F-A2B1-639D-E3E9CC62AD8D}"/>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b="1" dirty="0" err="1">
                <a:solidFill>
                  <a:srgbClr val="FFFFFF"/>
                </a:solidFill>
              </a:rPr>
              <a:t>Résultats</a:t>
            </a:r>
            <a:r>
              <a:rPr lang="en-GB" sz="5600" b="1" dirty="0">
                <a:solidFill>
                  <a:srgbClr val="FFFFFF"/>
                </a:solidFill>
              </a:rPr>
              <a:t> de </a:t>
            </a:r>
            <a:r>
              <a:rPr lang="en-GB" sz="5600" b="1" dirty="0" err="1">
                <a:solidFill>
                  <a:srgbClr val="FFFFFF"/>
                </a:solidFill>
              </a:rPr>
              <a:t>l'analyse</a:t>
            </a:r>
            <a:r>
              <a:rPr lang="en-GB" sz="5600" b="1" dirty="0">
                <a:solidFill>
                  <a:srgbClr val="FFFFFF"/>
                </a:solidFill>
              </a:rPr>
              <a:t> des </a:t>
            </a:r>
            <a:r>
              <a:rPr lang="en-GB" sz="5600" b="1" dirty="0" err="1">
                <a:solidFill>
                  <a:srgbClr val="FFFFFF"/>
                </a:solidFill>
              </a:rPr>
              <a:t>risques</a:t>
            </a:r>
            <a:endParaRPr lang="en-US" sz="5600" b="1" dirty="0">
              <a:solidFill>
                <a:srgbClr val="FFFFFF"/>
              </a:solidFill>
            </a:endParaRPr>
          </a:p>
        </p:txBody>
      </p:sp>
      <p:grpSp>
        <p:nvGrpSpPr>
          <p:cNvPr id="26" name="Group 25">
            <a:extLst>
              <a:ext uri="{FF2B5EF4-FFF2-40B4-BE49-F238E27FC236}">
                <a16:creationId xmlns:a16="http://schemas.microsoft.com/office/drawing/2014/main" id="{A883ED83-3663-435F-D60E-B20396986CC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02156B23-C9CB-BBBA-96D1-1FC5E06E60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121A9DFC-C722-12A2-01BF-C13B90B084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C5AA94CE-C9D4-3A30-6A99-C55B594C1D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9F98872-0DB6-FDD3-31EC-7A251A5EC1C3}"/>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err="1"/>
              <a:t>Principaux</a:t>
            </a:r>
            <a:r>
              <a:rPr lang="en-GB" sz="1800" b="1" dirty="0"/>
              <a:t> </a:t>
            </a:r>
            <a:r>
              <a:rPr lang="en-GB" sz="1800" b="1" dirty="0" err="1"/>
              <a:t>risques</a:t>
            </a:r>
            <a:r>
              <a:rPr lang="en-GB" sz="1800" b="1" dirty="0"/>
              <a:t> </a:t>
            </a:r>
            <a:r>
              <a:rPr lang="en-GB" sz="1800" b="1" dirty="0" err="1"/>
              <a:t>identifiés</a:t>
            </a:r>
            <a:endParaRPr lang="en-GB" sz="1800" b="1" dirty="0"/>
          </a:p>
          <a:p>
            <a:r>
              <a:rPr lang="en-GB" sz="1800" dirty="0"/>
              <a:t>Prompt Injection </a:t>
            </a:r>
          </a:p>
          <a:p>
            <a:r>
              <a:rPr lang="en-GB" sz="1800" dirty="0" err="1"/>
              <a:t>Fuite</a:t>
            </a:r>
            <a:r>
              <a:rPr lang="en-GB" sz="1800" dirty="0"/>
              <a:t> de données </a:t>
            </a:r>
            <a:r>
              <a:rPr lang="en-GB" sz="1800" dirty="0" err="1"/>
              <a:t>sensibles</a:t>
            </a:r>
            <a:r>
              <a:rPr lang="en-GB" sz="1800" dirty="0"/>
              <a:t> </a:t>
            </a:r>
          </a:p>
          <a:p>
            <a:r>
              <a:rPr lang="en-GB" sz="1800" dirty="0" err="1"/>
              <a:t>Génération</a:t>
            </a:r>
            <a:r>
              <a:rPr lang="en-GB" sz="1800" dirty="0"/>
              <a:t> de </a:t>
            </a:r>
            <a:r>
              <a:rPr lang="en-GB" sz="1800" dirty="0" err="1"/>
              <a:t>réponses</a:t>
            </a:r>
            <a:r>
              <a:rPr lang="en-GB" sz="1800" dirty="0"/>
              <a:t> </a:t>
            </a:r>
            <a:r>
              <a:rPr lang="en-GB" sz="1800" dirty="0" err="1"/>
              <a:t>erronées</a:t>
            </a:r>
            <a:r>
              <a:rPr lang="en-GB" sz="1800" dirty="0"/>
              <a:t> </a:t>
            </a:r>
          </a:p>
          <a:p>
            <a:r>
              <a:rPr lang="en-GB" sz="1800" dirty="0" err="1"/>
              <a:t>Contournement</a:t>
            </a:r>
            <a:r>
              <a:rPr lang="en-GB" sz="1800" dirty="0"/>
              <a:t> des </a:t>
            </a:r>
            <a:r>
              <a:rPr lang="en-GB" sz="1800" dirty="0" err="1"/>
              <a:t>règles</a:t>
            </a:r>
            <a:r>
              <a:rPr lang="en-GB" sz="1800" dirty="0"/>
              <a:t> de sécurité </a:t>
            </a:r>
          </a:p>
          <a:p>
            <a:r>
              <a:rPr lang="en-GB" sz="1800" b="1" dirty="0" err="1"/>
              <a:t>Mesures</a:t>
            </a:r>
            <a:r>
              <a:rPr lang="en-GB" sz="1800" b="1" dirty="0"/>
              <a:t> </a:t>
            </a:r>
            <a:r>
              <a:rPr lang="en-GB" sz="1800" b="1" dirty="0" err="1"/>
              <a:t>retenues</a:t>
            </a:r>
            <a:endParaRPr lang="en-GB" sz="1800" b="1" dirty="0"/>
          </a:p>
          <a:p>
            <a:r>
              <a:rPr lang="en-GB" sz="1800" dirty="0"/>
              <a:t>Validation des prompts </a:t>
            </a:r>
            <a:r>
              <a:rPr lang="en-GB" sz="1800" dirty="0" err="1"/>
              <a:t>utilisateurs</a:t>
            </a:r>
            <a:r>
              <a:rPr lang="en-GB" sz="1800" dirty="0"/>
              <a:t> </a:t>
            </a:r>
          </a:p>
          <a:p>
            <a:r>
              <a:rPr lang="en-GB" sz="1800" dirty="0" err="1"/>
              <a:t>Renforcement</a:t>
            </a:r>
            <a:r>
              <a:rPr lang="en-GB" sz="1800" dirty="0"/>
              <a:t> du prompt </a:t>
            </a:r>
            <a:r>
              <a:rPr lang="en-GB" sz="1800" dirty="0" err="1"/>
              <a:t>système</a:t>
            </a:r>
            <a:r>
              <a:rPr lang="en-GB" sz="1800" dirty="0"/>
              <a:t> </a:t>
            </a:r>
          </a:p>
          <a:p>
            <a:r>
              <a:rPr lang="en-GB" sz="1800" dirty="0" err="1"/>
              <a:t>Contrôle</a:t>
            </a:r>
            <a:r>
              <a:rPr lang="en-GB" sz="1800" dirty="0"/>
              <a:t> des </a:t>
            </a:r>
            <a:r>
              <a:rPr lang="en-GB" sz="1800" dirty="0" err="1"/>
              <a:t>réponses</a:t>
            </a:r>
            <a:r>
              <a:rPr lang="en-GB" sz="1800" dirty="0"/>
              <a:t> </a:t>
            </a:r>
            <a:r>
              <a:rPr lang="en-GB" sz="1800" dirty="0" err="1"/>
              <a:t>générées</a:t>
            </a:r>
            <a:r>
              <a:rPr lang="en-GB" sz="1800" dirty="0"/>
              <a:t> </a:t>
            </a:r>
          </a:p>
          <a:p>
            <a:r>
              <a:rPr lang="en-GB" sz="1800" dirty="0"/>
              <a:t>Documentation des </a:t>
            </a:r>
            <a:r>
              <a:rPr lang="en-GB" sz="1800" dirty="0" err="1"/>
              <a:t>risques</a:t>
            </a:r>
            <a:r>
              <a:rPr lang="en-GB" sz="1800" dirty="0"/>
              <a:t> dans un document </a:t>
            </a:r>
            <a:r>
              <a:rPr lang="en-GB" sz="1800" dirty="0" err="1"/>
              <a:t>d'analyse</a:t>
            </a:r>
            <a:r>
              <a:rPr lang="en-GB" sz="1800" dirty="0"/>
              <a:t> </a:t>
            </a:r>
          </a:p>
          <a:p>
            <a:r>
              <a:rPr lang="en-GB" sz="1800" dirty="0"/>
              <a:t>Cette analyse nous a </a:t>
            </a:r>
            <a:r>
              <a:rPr lang="en-GB" sz="1800" dirty="0" err="1"/>
              <a:t>permis</a:t>
            </a:r>
            <a:r>
              <a:rPr lang="en-GB" sz="1800" dirty="0"/>
              <a:t> de justifier les choix de sécurité </a:t>
            </a:r>
            <a:r>
              <a:rPr lang="en-GB" sz="1800" dirty="0" err="1"/>
              <a:t>retenus</a:t>
            </a:r>
            <a:r>
              <a:rPr lang="en-GB" sz="1800" dirty="0"/>
              <a:t> pour le </a:t>
            </a:r>
            <a:r>
              <a:rPr lang="en-GB" sz="1800" dirty="0" err="1"/>
              <a:t>projet</a:t>
            </a:r>
            <a:r>
              <a:rPr lang="en-GB" sz="1800" dirty="0"/>
              <a:t>.</a:t>
            </a:r>
          </a:p>
        </p:txBody>
      </p:sp>
      <p:cxnSp>
        <p:nvCxnSpPr>
          <p:cNvPr id="31" name="Straight Connector 30">
            <a:extLst>
              <a:ext uri="{FF2B5EF4-FFF2-40B4-BE49-F238E27FC236}">
                <a16:creationId xmlns:a16="http://schemas.microsoft.com/office/drawing/2014/main" id="{4C6891B2-7B76-54FA-A5CD-37339A72F7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4087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287B-C9DD-499B-DE8E-D7130A6C2EA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2800CCB-F024-8AC7-48C9-186164519DE5}"/>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D439997-5305-7C95-7C1D-663E9F8CFF4C}"/>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24817568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CBF6A1-3AC2-CB7C-25BA-D05F50D5B75D}"/>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BC606D3-A271-0462-C7DB-022A4C20F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C414FCF6-1089-5056-1C10-DAA8896A2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4B92813A-17B6-8EC4-EF81-B75633F4C105}"/>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dirty="0">
                <a:solidFill>
                  <a:srgbClr val="FFFFFF"/>
                </a:solidFill>
                <a:ea typeface="+mj-lt"/>
                <a:cs typeface="+mj-lt"/>
              </a:rPr>
              <a:t>Benchmark des </a:t>
            </a:r>
            <a:r>
              <a:rPr lang="en-US" sz="5600" dirty="0" err="1">
                <a:solidFill>
                  <a:srgbClr val="FFFFFF"/>
                </a:solidFill>
                <a:ea typeface="+mj-lt"/>
                <a:cs typeface="+mj-lt"/>
              </a:rPr>
              <a:t>modèles</a:t>
            </a:r>
            <a:r>
              <a:rPr lang="en-US" sz="5600" dirty="0">
                <a:solidFill>
                  <a:srgbClr val="FFFFFF"/>
                </a:solidFill>
                <a:ea typeface="+mj-lt"/>
                <a:cs typeface="+mj-lt"/>
              </a:rPr>
              <a:t> LLM</a:t>
            </a:r>
            <a:endParaRPr lang="en-US" dirty="0"/>
          </a:p>
        </p:txBody>
      </p:sp>
      <p:grpSp>
        <p:nvGrpSpPr>
          <p:cNvPr id="26" name="Group 25">
            <a:extLst>
              <a:ext uri="{FF2B5EF4-FFF2-40B4-BE49-F238E27FC236}">
                <a16:creationId xmlns:a16="http://schemas.microsoft.com/office/drawing/2014/main" id="{8C970432-0E85-92F5-0A43-28929151498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12822FCE-2EF4-EF80-30D0-8D63FB704D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2494E2DE-F780-4CF8-A586-85934C769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C76091EF-7C16-C02C-6987-12A3E2202D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DEE204B-A6A5-B23F-F87E-A3E9695C7734}"/>
              </a:ext>
            </a:extLst>
          </p:cNvPr>
          <p:cNvSpPr>
            <a:spLocks noGrp="1"/>
          </p:cNvSpPr>
          <p:nvPr>
            <p:ph type="subTitle" idx="1"/>
          </p:nvPr>
        </p:nvSpPr>
        <p:spPr>
          <a:xfrm>
            <a:off x="6297233" y="518400"/>
            <a:ext cx="4771607" cy="5837949"/>
          </a:xfrm>
        </p:spPr>
        <p:txBody>
          <a:bodyPr vert="horz" lIns="91440" tIns="45720" rIns="91440" bIns="45720" rtlCol="0" anchor="ctr">
            <a:normAutofit fontScale="92500" lnSpcReduction="10000"/>
          </a:bodyPr>
          <a:lstStyle/>
          <a:p>
            <a:r>
              <a:rPr lang="en-US" b="1" dirty="0" err="1"/>
              <a:t>Pourquoi</a:t>
            </a:r>
            <a:r>
              <a:rPr lang="en-US" b="1" dirty="0"/>
              <a:t> </a:t>
            </a:r>
            <a:r>
              <a:rPr lang="en-US" b="1" dirty="0" err="1"/>
              <a:t>ce</a:t>
            </a:r>
            <a:r>
              <a:rPr lang="en-US" b="1" dirty="0"/>
              <a:t> benchmark ?</a:t>
            </a:r>
          </a:p>
          <a:p>
            <a:r>
              <a:rPr lang="en-US" dirty="0">
                <a:ea typeface="+mn-lt"/>
                <a:cs typeface="+mn-lt"/>
              </a:rPr>
              <a:t>Lors de la perturbation J2, un retour </a:t>
            </a:r>
            <a:r>
              <a:rPr lang="en-US" dirty="0" err="1">
                <a:ea typeface="+mn-lt"/>
                <a:cs typeface="+mn-lt"/>
              </a:rPr>
              <a:t>utilisateur</a:t>
            </a:r>
            <a:r>
              <a:rPr lang="en-US" dirty="0">
                <a:ea typeface="+mn-lt"/>
                <a:cs typeface="+mn-lt"/>
              </a:rPr>
              <a:t> </a:t>
            </a:r>
            <a:r>
              <a:rPr lang="en-US" dirty="0" err="1">
                <a:ea typeface="+mn-lt"/>
                <a:cs typeface="+mn-lt"/>
              </a:rPr>
              <a:t>signalait</a:t>
            </a:r>
            <a:r>
              <a:rPr lang="en-US" dirty="0">
                <a:ea typeface="+mn-lt"/>
                <a:cs typeface="+mn-lt"/>
              </a:rPr>
              <a:t> </a:t>
            </a:r>
            <a:r>
              <a:rPr lang="en-US" dirty="0" err="1">
                <a:ea typeface="+mn-lt"/>
                <a:cs typeface="+mn-lt"/>
              </a:rPr>
              <a:t>que</a:t>
            </a:r>
            <a:r>
              <a:rPr lang="en-US" dirty="0">
                <a:ea typeface="+mn-lt"/>
                <a:cs typeface="+mn-lt"/>
              </a:rPr>
              <a:t> la </a:t>
            </a:r>
            <a:r>
              <a:rPr lang="en-US" dirty="0" err="1">
                <a:ea typeface="+mn-lt"/>
                <a:cs typeface="+mn-lt"/>
              </a:rPr>
              <a:t>génération</a:t>
            </a:r>
            <a:r>
              <a:rPr lang="en-US" dirty="0">
                <a:ea typeface="+mn-lt"/>
                <a:cs typeface="+mn-lt"/>
              </a:rPr>
              <a:t> des quiz </a:t>
            </a:r>
            <a:r>
              <a:rPr lang="en-US" dirty="0" err="1">
                <a:ea typeface="+mn-lt"/>
                <a:cs typeface="+mn-lt"/>
              </a:rPr>
              <a:t>prenait</a:t>
            </a:r>
            <a:r>
              <a:rPr lang="en-US" dirty="0">
                <a:ea typeface="+mn-lt"/>
                <a:cs typeface="+mn-lt"/>
              </a:rPr>
              <a:t> environ 45 </a:t>
            </a:r>
            <a:r>
              <a:rPr lang="en-US" dirty="0" err="1">
                <a:ea typeface="+mn-lt"/>
                <a:cs typeface="+mn-lt"/>
              </a:rPr>
              <a:t>secondes</a:t>
            </a:r>
            <a:r>
              <a:rPr lang="en-US" dirty="0">
                <a:ea typeface="+mn-lt"/>
                <a:cs typeface="+mn-lt"/>
              </a:rPr>
              <a:t>, </a:t>
            </a:r>
            <a:r>
              <a:rPr lang="en-US" dirty="0" err="1">
                <a:ea typeface="+mn-lt"/>
                <a:cs typeface="+mn-lt"/>
              </a:rPr>
              <a:t>rendant</a:t>
            </a:r>
            <a:r>
              <a:rPr lang="en-US" dirty="0">
                <a:ea typeface="+mn-lt"/>
                <a:cs typeface="+mn-lt"/>
              </a:rPr>
              <a:t> </a:t>
            </a:r>
            <a:r>
              <a:rPr lang="en-US" dirty="0" err="1">
                <a:ea typeface="+mn-lt"/>
                <a:cs typeface="+mn-lt"/>
              </a:rPr>
              <a:t>l'application</a:t>
            </a:r>
            <a:r>
              <a:rPr lang="en-US" dirty="0">
                <a:ea typeface="+mn-lt"/>
                <a:cs typeface="+mn-lt"/>
              </a:rPr>
              <a:t> peu </a:t>
            </a:r>
            <a:r>
              <a:rPr lang="en-US" dirty="0" err="1">
                <a:ea typeface="+mn-lt"/>
                <a:cs typeface="+mn-lt"/>
              </a:rPr>
              <a:t>utilisable</a:t>
            </a:r>
            <a:r>
              <a:rPr lang="en-US" dirty="0">
                <a:ea typeface="+mn-lt"/>
                <a:cs typeface="+mn-lt"/>
              </a:rPr>
              <a:t>.</a:t>
            </a:r>
          </a:p>
          <a:p>
            <a:r>
              <a:rPr lang="en-US" dirty="0">
                <a:ea typeface="+mn-lt"/>
                <a:cs typeface="+mn-lt"/>
              </a:rPr>
              <a:t>Le sponsor nous </a:t>
            </a:r>
            <a:r>
              <a:rPr lang="en-US" dirty="0" err="1">
                <a:ea typeface="+mn-lt"/>
                <a:cs typeface="+mn-lt"/>
              </a:rPr>
              <a:t>demandait</a:t>
            </a:r>
            <a:r>
              <a:rPr lang="en-US" dirty="0">
                <a:ea typeface="+mn-lt"/>
                <a:cs typeface="+mn-lt"/>
              </a:rPr>
              <a:t> </a:t>
            </a:r>
            <a:r>
              <a:rPr lang="en-US" dirty="0" err="1">
                <a:ea typeface="+mn-lt"/>
                <a:cs typeface="+mn-lt"/>
              </a:rPr>
              <a:t>donc</a:t>
            </a:r>
            <a:r>
              <a:rPr lang="en-US" dirty="0">
                <a:ea typeface="+mn-lt"/>
                <a:cs typeface="+mn-lt"/>
              </a:rPr>
              <a:t> de proposer </a:t>
            </a:r>
            <a:r>
              <a:rPr lang="en-US" dirty="0" err="1">
                <a:ea typeface="+mn-lt"/>
                <a:cs typeface="+mn-lt"/>
              </a:rPr>
              <a:t>rapidement</a:t>
            </a:r>
            <a:r>
              <a:rPr lang="en-US" dirty="0">
                <a:ea typeface="+mn-lt"/>
                <a:cs typeface="+mn-lt"/>
              </a:rPr>
              <a:t> </a:t>
            </a:r>
            <a:r>
              <a:rPr lang="en-US" dirty="0" err="1">
                <a:ea typeface="+mn-lt"/>
                <a:cs typeface="+mn-lt"/>
              </a:rPr>
              <a:t>une</a:t>
            </a:r>
            <a:r>
              <a:rPr lang="en-US" dirty="0">
                <a:ea typeface="+mn-lt"/>
                <a:cs typeface="+mn-lt"/>
              </a:rPr>
              <a:t> solution </a:t>
            </a:r>
            <a:r>
              <a:rPr lang="en-US" dirty="0" err="1">
                <a:ea typeface="+mn-lt"/>
                <a:cs typeface="+mn-lt"/>
              </a:rPr>
              <a:t>afin</a:t>
            </a:r>
            <a:r>
              <a:rPr lang="en-US" dirty="0">
                <a:ea typeface="+mn-lt"/>
                <a:cs typeface="+mn-lt"/>
              </a:rPr>
              <a:t> de </a:t>
            </a:r>
            <a:r>
              <a:rPr lang="en-US" dirty="0" err="1">
                <a:ea typeface="+mn-lt"/>
                <a:cs typeface="+mn-lt"/>
              </a:rPr>
              <a:t>réduire</a:t>
            </a:r>
            <a:r>
              <a:rPr lang="en-US" dirty="0">
                <a:ea typeface="+mn-lt"/>
                <a:cs typeface="+mn-lt"/>
              </a:rPr>
              <a:t> </a:t>
            </a:r>
            <a:r>
              <a:rPr lang="en-US" dirty="0" err="1">
                <a:ea typeface="+mn-lt"/>
                <a:cs typeface="+mn-lt"/>
              </a:rPr>
              <a:t>cette</a:t>
            </a:r>
            <a:r>
              <a:rPr lang="en-US" dirty="0">
                <a:ea typeface="+mn-lt"/>
                <a:cs typeface="+mn-lt"/>
              </a:rPr>
              <a:t> </a:t>
            </a:r>
            <a:r>
              <a:rPr lang="en-US" dirty="0" err="1">
                <a:ea typeface="+mn-lt"/>
                <a:cs typeface="+mn-lt"/>
              </a:rPr>
              <a:t>latence</a:t>
            </a:r>
            <a:r>
              <a:rPr lang="en-US" dirty="0">
                <a:ea typeface="+mn-lt"/>
                <a:cs typeface="+mn-lt"/>
              </a:rPr>
              <a:t>.</a:t>
            </a:r>
          </a:p>
          <a:p>
            <a:r>
              <a:rPr lang="en-US" b="1"/>
              <a:t>Notre démarche</a:t>
            </a:r>
          </a:p>
          <a:p>
            <a:pPr marL="285750" indent="-285750">
              <a:buFont typeface="Arial"/>
              <a:buChar char="•"/>
            </a:pPr>
            <a:r>
              <a:rPr lang="en-US" dirty="0" err="1">
                <a:ea typeface="+mn-lt"/>
                <a:cs typeface="+mn-lt"/>
              </a:rPr>
              <a:t>Réalisation</a:t>
            </a:r>
            <a:r>
              <a:rPr lang="en-US" dirty="0">
                <a:ea typeface="+mn-lt"/>
                <a:cs typeface="+mn-lt"/>
              </a:rPr>
              <a:t> d'un benchmark de </a:t>
            </a:r>
            <a:r>
              <a:rPr lang="en-US" dirty="0" err="1">
                <a:ea typeface="+mn-lt"/>
                <a:cs typeface="+mn-lt"/>
              </a:rPr>
              <a:t>plusieurs</a:t>
            </a:r>
            <a:r>
              <a:rPr lang="en-US" dirty="0">
                <a:ea typeface="+mn-lt"/>
                <a:cs typeface="+mn-lt"/>
              </a:rPr>
              <a:t> </a:t>
            </a:r>
            <a:r>
              <a:rPr lang="en-US" dirty="0" err="1">
                <a:ea typeface="+mn-lt"/>
                <a:cs typeface="+mn-lt"/>
              </a:rPr>
              <a:t>modèles</a:t>
            </a:r>
            <a:r>
              <a:rPr lang="en-US" dirty="0">
                <a:ea typeface="+mn-lt"/>
                <a:cs typeface="+mn-lt"/>
              </a:rPr>
              <a:t> LLM </a:t>
            </a:r>
          </a:p>
          <a:p>
            <a:pPr marL="285750" indent="-285750">
              <a:buFont typeface="Arial"/>
              <a:buChar char="•"/>
            </a:pPr>
            <a:r>
              <a:rPr lang="en-US" dirty="0" err="1">
                <a:ea typeface="+mn-lt"/>
                <a:cs typeface="+mn-lt"/>
              </a:rPr>
              <a:t>Comparaison</a:t>
            </a:r>
            <a:r>
              <a:rPr lang="en-US" dirty="0">
                <a:ea typeface="+mn-lt"/>
                <a:cs typeface="+mn-lt"/>
              </a:rPr>
              <a:t> </a:t>
            </a:r>
            <a:r>
              <a:rPr lang="en-US" dirty="0" err="1">
                <a:ea typeface="+mn-lt"/>
                <a:cs typeface="+mn-lt"/>
              </a:rPr>
              <a:t>selon</a:t>
            </a:r>
            <a:r>
              <a:rPr lang="en-US" dirty="0">
                <a:ea typeface="+mn-lt"/>
                <a:cs typeface="+mn-lt"/>
              </a:rPr>
              <a:t> des </a:t>
            </a:r>
            <a:r>
              <a:rPr lang="en-US" dirty="0" err="1">
                <a:ea typeface="+mn-lt"/>
                <a:cs typeface="+mn-lt"/>
              </a:rPr>
              <a:t>critères</a:t>
            </a:r>
            <a:r>
              <a:rPr lang="en-US" dirty="0">
                <a:ea typeface="+mn-lt"/>
                <a:cs typeface="+mn-lt"/>
              </a:rPr>
              <a:t> </a:t>
            </a:r>
            <a:r>
              <a:rPr lang="en-US" dirty="0" err="1">
                <a:ea typeface="+mn-lt"/>
                <a:cs typeface="+mn-lt"/>
              </a:rPr>
              <a:t>objectifs</a:t>
            </a:r>
            <a:r>
              <a:rPr lang="en-US" dirty="0">
                <a:ea typeface="+mn-lt"/>
                <a:cs typeface="+mn-lt"/>
              </a:rPr>
              <a:t> : </a:t>
            </a:r>
          </a:p>
          <a:p>
            <a:pPr marL="742950" lvl="1" indent="-285750">
              <a:buFont typeface="Arial"/>
              <a:buChar char="•"/>
            </a:pPr>
            <a:r>
              <a:rPr lang="en-US" sz="2400" dirty="0">
                <a:ea typeface="+mn-lt"/>
                <a:cs typeface="+mn-lt"/>
              </a:rPr>
              <a:t>Temps de </a:t>
            </a:r>
            <a:r>
              <a:rPr lang="en-US" sz="2400" dirty="0" err="1">
                <a:ea typeface="+mn-lt"/>
                <a:cs typeface="+mn-lt"/>
              </a:rPr>
              <a:t>génération</a:t>
            </a:r>
            <a:r>
              <a:rPr lang="en-US" sz="2400" dirty="0">
                <a:ea typeface="+mn-lt"/>
                <a:cs typeface="+mn-lt"/>
              </a:rPr>
              <a:t> </a:t>
            </a:r>
          </a:p>
          <a:p>
            <a:pPr marL="742950" lvl="1" indent="-285750">
              <a:buFont typeface="Arial"/>
              <a:buChar char="•"/>
            </a:pPr>
            <a:r>
              <a:rPr lang="en-US" sz="2400" dirty="0" err="1">
                <a:ea typeface="+mn-lt"/>
                <a:cs typeface="+mn-lt"/>
              </a:rPr>
              <a:t>Qualité</a:t>
            </a:r>
            <a:r>
              <a:rPr lang="en-US" sz="2400" dirty="0">
                <a:ea typeface="+mn-lt"/>
                <a:cs typeface="+mn-lt"/>
              </a:rPr>
              <a:t> des quiz </a:t>
            </a:r>
            <a:r>
              <a:rPr lang="en-US" sz="2400" dirty="0" err="1">
                <a:ea typeface="+mn-lt"/>
                <a:cs typeface="+mn-lt"/>
              </a:rPr>
              <a:t>générés</a:t>
            </a:r>
            <a:r>
              <a:rPr lang="en-US" sz="2400" dirty="0">
                <a:ea typeface="+mn-lt"/>
                <a:cs typeface="+mn-lt"/>
              </a:rPr>
              <a:t> </a:t>
            </a:r>
            <a:endParaRPr lang="en-US" dirty="0">
              <a:ea typeface="+mn-lt"/>
              <a:cs typeface="+mn-lt"/>
            </a:endParaRPr>
          </a:p>
          <a:p>
            <a:pPr marL="742950" lvl="1" indent="-285750">
              <a:buFont typeface="Arial"/>
              <a:buChar char="•"/>
            </a:pPr>
            <a:r>
              <a:rPr lang="en-US" sz="2400" dirty="0" err="1">
                <a:ea typeface="+mn-lt"/>
                <a:cs typeface="+mn-lt"/>
              </a:rPr>
              <a:t>Consommation</a:t>
            </a:r>
            <a:r>
              <a:rPr lang="en-US" sz="2400" dirty="0">
                <a:ea typeface="+mn-lt"/>
                <a:cs typeface="+mn-lt"/>
              </a:rPr>
              <a:t> des </a:t>
            </a:r>
            <a:r>
              <a:rPr lang="en-US" sz="2400" dirty="0" err="1">
                <a:ea typeface="+mn-lt"/>
                <a:cs typeface="+mn-lt"/>
              </a:rPr>
              <a:t>ressources</a:t>
            </a:r>
            <a:r>
              <a:rPr lang="en-US" sz="2400" dirty="0">
                <a:ea typeface="+mn-lt"/>
                <a:cs typeface="+mn-lt"/>
              </a:rPr>
              <a:t> </a:t>
            </a:r>
            <a:endParaRPr lang="en-US" dirty="0">
              <a:ea typeface="+mn-lt"/>
              <a:cs typeface="+mn-lt"/>
            </a:endParaRPr>
          </a:p>
          <a:p>
            <a:pPr marL="742950" lvl="1" indent="-285750">
              <a:buFont typeface="Arial"/>
              <a:buChar char="•"/>
            </a:pPr>
            <a:r>
              <a:rPr lang="en-US" sz="2400" dirty="0" err="1">
                <a:ea typeface="+mn-lt"/>
                <a:cs typeface="+mn-lt"/>
              </a:rPr>
              <a:t>Coût</a:t>
            </a:r>
            <a:r>
              <a:rPr lang="en-US" sz="2400" dirty="0">
                <a:ea typeface="+mn-lt"/>
                <a:cs typeface="+mn-lt"/>
              </a:rPr>
              <a:t> </a:t>
            </a:r>
            <a:r>
              <a:rPr lang="en-US" sz="2400" dirty="0" err="1">
                <a:ea typeface="+mn-lt"/>
                <a:cs typeface="+mn-lt"/>
              </a:rPr>
              <a:t>d'utilisation</a:t>
            </a:r>
            <a:endParaRPr lang="en-US" dirty="0" err="1">
              <a:ea typeface="+mn-lt"/>
              <a:cs typeface="+mn-lt"/>
            </a:endParaRPr>
          </a:p>
          <a:p>
            <a:endParaRPr lang="en-US" dirty="0"/>
          </a:p>
        </p:txBody>
      </p:sp>
      <p:cxnSp>
        <p:nvCxnSpPr>
          <p:cNvPr id="31" name="Straight Connector 30">
            <a:extLst>
              <a:ext uri="{FF2B5EF4-FFF2-40B4-BE49-F238E27FC236}">
                <a16:creationId xmlns:a16="http://schemas.microsoft.com/office/drawing/2014/main" id="{4CD5B95C-F8BA-F6F4-9135-352B76DD93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6826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276103-04E3-E6C0-1080-C0895BCF34C4}"/>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CC4A300-1080-F555-DEB5-BE80F2F57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CC680258-2459-A98F-0664-9990D0BE7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629767BD-2B2B-341E-6009-672C12C4E6F5}"/>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US" sz="5600" dirty="0" err="1">
                <a:solidFill>
                  <a:srgbClr val="FFFFFF"/>
                </a:solidFill>
                <a:ea typeface="+mj-lt"/>
                <a:cs typeface="+mj-lt"/>
              </a:rPr>
              <a:t>Résultats</a:t>
            </a:r>
            <a:r>
              <a:rPr lang="en-US" sz="5600" dirty="0">
                <a:solidFill>
                  <a:srgbClr val="FFFFFF"/>
                </a:solidFill>
                <a:ea typeface="+mj-lt"/>
                <a:cs typeface="+mj-lt"/>
              </a:rPr>
              <a:t> du benchmark</a:t>
            </a:r>
            <a:endParaRPr lang="en-US" dirty="0"/>
          </a:p>
        </p:txBody>
      </p:sp>
      <p:grpSp>
        <p:nvGrpSpPr>
          <p:cNvPr id="26" name="Group 25">
            <a:extLst>
              <a:ext uri="{FF2B5EF4-FFF2-40B4-BE49-F238E27FC236}">
                <a16:creationId xmlns:a16="http://schemas.microsoft.com/office/drawing/2014/main" id="{174B9312-C762-9217-FAAA-162DAD234E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8065EFA9-917C-68D9-BCD2-E872F5C822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B84388DF-ECC4-FDA3-017A-9863E2861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D9237F53-96B5-4B43-7627-F88E75A556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A0DF22C-6F64-AA8B-CF4C-6CF337DA37C5}"/>
              </a:ext>
            </a:extLst>
          </p:cNvPr>
          <p:cNvSpPr>
            <a:spLocks noGrp="1"/>
          </p:cNvSpPr>
          <p:nvPr>
            <p:ph type="subTitle" idx="1"/>
          </p:nvPr>
        </p:nvSpPr>
        <p:spPr>
          <a:xfrm>
            <a:off x="6297233" y="518400"/>
            <a:ext cx="4771607" cy="5837949"/>
          </a:xfrm>
        </p:spPr>
        <p:txBody>
          <a:bodyPr vert="horz" lIns="91440" tIns="45720" rIns="91440" bIns="45720" rtlCol="0" anchor="ctr">
            <a:normAutofit fontScale="85000" lnSpcReduction="20000"/>
          </a:bodyPr>
          <a:lstStyle/>
          <a:p>
            <a:r>
              <a:rPr lang="en-US" b="1" dirty="0">
                <a:ea typeface="+mn-lt"/>
                <a:cs typeface="+mn-lt"/>
              </a:rPr>
              <a:t>Après </a:t>
            </a:r>
            <a:r>
              <a:rPr lang="en-US" b="1" dirty="0" err="1">
                <a:ea typeface="+mn-lt"/>
                <a:cs typeface="+mn-lt"/>
              </a:rPr>
              <a:t>comparaison</a:t>
            </a:r>
            <a:r>
              <a:rPr lang="en-US" b="1" dirty="0">
                <a:ea typeface="+mn-lt"/>
                <a:cs typeface="+mn-lt"/>
              </a:rPr>
              <a:t> des </a:t>
            </a:r>
            <a:r>
              <a:rPr lang="en-US" b="1" dirty="0" err="1">
                <a:ea typeface="+mn-lt"/>
                <a:cs typeface="+mn-lt"/>
              </a:rPr>
              <a:t>différents</a:t>
            </a:r>
            <a:r>
              <a:rPr lang="en-US" b="1" dirty="0">
                <a:ea typeface="+mn-lt"/>
                <a:cs typeface="+mn-lt"/>
              </a:rPr>
              <a:t> </a:t>
            </a:r>
            <a:r>
              <a:rPr lang="en-US" b="1" dirty="0" err="1">
                <a:ea typeface="+mn-lt"/>
                <a:cs typeface="+mn-lt"/>
              </a:rPr>
              <a:t>modèles</a:t>
            </a:r>
            <a:r>
              <a:rPr lang="en-US" b="1" dirty="0">
                <a:ea typeface="+mn-lt"/>
                <a:cs typeface="+mn-lt"/>
              </a:rPr>
              <a:t> :</a:t>
            </a:r>
            <a:endParaRPr lang="en-US" b="1" dirty="0"/>
          </a:p>
          <a:p>
            <a:pPr marL="285750" indent="-285750">
              <a:buFont typeface="Arial"/>
              <a:buChar char="•"/>
            </a:pPr>
            <a:r>
              <a:rPr lang="en-US" dirty="0" err="1">
                <a:ea typeface="+mn-lt"/>
                <a:cs typeface="+mn-lt"/>
              </a:rPr>
              <a:t>Réduction</a:t>
            </a:r>
            <a:r>
              <a:rPr lang="en-US" dirty="0">
                <a:ea typeface="+mn-lt"/>
                <a:cs typeface="+mn-lt"/>
              </a:rPr>
              <a:t> significative du temps de </a:t>
            </a:r>
            <a:r>
              <a:rPr lang="en-US" dirty="0" err="1">
                <a:ea typeface="+mn-lt"/>
                <a:cs typeface="+mn-lt"/>
              </a:rPr>
              <a:t>génération</a:t>
            </a:r>
            <a:r>
              <a:rPr lang="en-US" dirty="0">
                <a:ea typeface="+mn-lt"/>
                <a:cs typeface="+mn-lt"/>
              </a:rPr>
              <a:t> </a:t>
            </a:r>
          </a:p>
          <a:p>
            <a:pPr marL="285750" indent="-285750">
              <a:buFont typeface="Arial"/>
              <a:buChar char="•"/>
            </a:pPr>
            <a:r>
              <a:rPr lang="en-US" dirty="0" err="1">
                <a:ea typeface="+mn-lt"/>
                <a:cs typeface="+mn-lt"/>
              </a:rPr>
              <a:t>Qualité</a:t>
            </a:r>
            <a:r>
              <a:rPr lang="en-US" dirty="0">
                <a:ea typeface="+mn-lt"/>
                <a:cs typeface="+mn-lt"/>
              </a:rPr>
              <a:t> des quiz </a:t>
            </a:r>
            <a:r>
              <a:rPr lang="en-US" dirty="0" err="1">
                <a:ea typeface="+mn-lt"/>
                <a:cs typeface="+mn-lt"/>
              </a:rPr>
              <a:t>maintenue</a:t>
            </a:r>
            <a:r>
              <a:rPr lang="en-US" dirty="0">
                <a:ea typeface="+mn-lt"/>
                <a:cs typeface="+mn-lt"/>
              </a:rPr>
              <a:t> </a:t>
            </a:r>
            <a:endParaRPr lang="en-US" dirty="0"/>
          </a:p>
          <a:p>
            <a:pPr marL="285750" indent="-285750">
              <a:buFont typeface="Arial"/>
              <a:buChar char="•"/>
            </a:pPr>
            <a:r>
              <a:rPr lang="en-US" dirty="0" err="1">
                <a:ea typeface="+mn-lt"/>
                <a:cs typeface="+mn-lt"/>
              </a:rPr>
              <a:t>Ressources</a:t>
            </a:r>
            <a:r>
              <a:rPr lang="en-US" dirty="0">
                <a:ea typeface="+mn-lt"/>
                <a:cs typeface="+mn-lt"/>
              </a:rPr>
              <a:t> </a:t>
            </a:r>
            <a:r>
              <a:rPr lang="en-US" dirty="0" err="1">
                <a:ea typeface="+mn-lt"/>
                <a:cs typeface="+mn-lt"/>
              </a:rPr>
              <a:t>mieux</a:t>
            </a:r>
            <a:r>
              <a:rPr lang="en-US" dirty="0">
                <a:ea typeface="+mn-lt"/>
                <a:cs typeface="+mn-lt"/>
              </a:rPr>
              <a:t> </a:t>
            </a:r>
            <a:r>
              <a:rPr lang="en-US" dirty="0" err="1">
                <a:ea typeface="+mn-lt"/>
                <a:cs typeface="+mn-lt"/>
              </a:rPr>
              <a:t>maîtrisées</a:t>
            </a:r>
            <a:r>
              <a:rPr lang="en-US" dirty="0">
                <a:ea typeface="+mn-lt"/>
                <a:cs typeface="+mn-lt"/>
              </a:rPr>
              <a:t> </a:t>
            </a:r>
            <a:endParaRPr lang="en-US" dirty="0"/>
          </a:p>
          <a:p>
            <a:pPr marL="285750" indent="-285750">
              <a:buFont typeface="Arial"/>
              <a:buChar char="•"/>
            </a:pPr>
            <a:r>
              <a:rPr lang="en-US" dirty="0" err="1">
                <a:ea typeface="+mn-lt"/>
                <a:cs typeface="+mn-lt"/>
              </a:rPr>
              <a:t>Coût</a:t>
            </a:r>
            <a:r>
              <a:rPr lang="en-US" dirty="0">
                <a:ea typeface="+mn-lt"/>
                <a:cs typeface="+mn-lt"/>
              </a:rPr>
              <a:t> compatible avec les </a:t>
            </a:r>
            <a:r>
              <a:rPr lang="en-US" dirty="0" err="1">
                <a:ea typeface="+mn-lt"/>
                <a:cs typeface="+mn-lt"/>
              </a:rPr>
              <a:t>contraintes</a:t>
            </a:r>
            <a:r>
              <a:rPr lang="en-US" dirty="0">
                <a:ea typeface="+mn-lt"/>
                <a:cs typeface="+mn-lt"/>
              </a:rPr>
              <a:t> du </a:t>
            </a:r>
            <a:r>
              <a:rPr lang="en-US" dirty="0" err="1">
                <a:ea typeface="+mn-lt"/>
                <a:cs typeface="+mn-lt"/>
              </a:rPr>
              <a:t>projet</a:t>
            </a:r>
            <a:r>
              <a:rPr lang="en-US" dirty="0">
                <a:ea typeface="+mn-lt"/>
                <a:cs typeface="+mn-lt"/>
              </a:rPr>
              <a:t> </a:t>
            </a:r>
            <a:endParaRPr lang="en-US" dirty="0"/>
          </a:p>
          <a:p>
            <a:r>
              <a:rPr lang="en-US" dirty="0" err="1"/>
              <a:t>Décision</a:t>
            </a:r>
            <a:r>
              <a:rPr lang="en-US" dirty="0"/>
              <a:t> </a:t>
            </a:r>
            <a:r>
              <a:rPr lang="en-US" dirty="0" err="1"/>
              <a:t>retenue</a:t>
            </a:r>
          </a:p>
          <a:p>
            <a:r>
              <a:rPr lang="en-US" dirty="0">
                <a:ea typeface="+mn-lt"/>
                <a:cs typeface="+mn-lt"/>
              </a:rPr>
              <a:t>Nous </a:t>
            </a:r>
            <a:r>
              <a:rPr lang="en-US" dirty="0" err="1">
                <a:ea typeface="+mn-lt"/>
                <a:cs typeface="+mn-lt"/>
              </a:rPr>
              <a:t>avons</a:t>
            </a:r>
            <a:r>
              <a:rPr lang="en-US" dirty="0">
                <a:ea typeface="+mn-lt"/>
                <a:cs typeface="+mn-lt"/>
              </a:rPr>
              <a:t> </a:t>
            </a:r>
            <a:r>
              <a:rPr lang="en-US" dirty="0" err="1">
                <a:ea typeface="+mn-lt"/>
                <a:cs typeface="+mn-lt"/>
              </a:rPr>
              <a:t>retenu</a:t>
            </a:r>
            <a:r>
              <a:rPr lang="en-US" dirty="0">
                <a:ea typeface="+mn-lt"/>
                <a:cs typeface="+mn-lt"/>
              </a:rPr>
              <a:t> le </a:t>
            </a:r>
            <a:r>
              <a:rPr lang="en-US" dirty="0" err="1">
                <a:ea typeface="+mn-lt"/>
                <a:cs typeface="+mn-lt"/>
              </a:rPr>
              <a:t>modèle</a:t>
            </a:r>
            <a:r>
              <a:rPr lang="en-US" dirty="0">
                <a:ea typeface="+mn-lt"/>
                <a:cs typeface="+mn-lt"/>
              </a:rPr>
              <a:t> </a:t>
            </a:r>
            <a:r>
              <a:rPr lang="en-US" dirty="0" err="1">
                <a:ea typeface="+mn-lt"/>
                <a:cs typeface="+mn-lt"/>
              </a:rPr>
              <a:t>offrant</a:t>
            </a:r>
            <a:r>
              <a:rPr lang="en-US" dirty="0">
                <a:ea typeface="+mn-lt"/>
                <a:cs typeface="+mn-lt"/>
              </a:rPr>
              <a:t> le </a:t>
            </a:r>
            <a:r>
              <a:rPr lang="en-US" b="1" dirty="0" err="1">
                <a:ea typeface="+mn-lt"/>
                <a:cs typeface="+mn-lt"/>
              </a:rPr>
              <a:t>meilleur</a:t>
            </a:r>
            <a:r>
              <a:rPr lang="en-US" b="1" dirty="0">
                <a:ea typeface="+mn-lt"/>
                <a:cs typeface="+mn-lt"/>
              </a:rPr>
              <a:t> </a:t>
            </a:r>
            <a:r>
              <a:rPr lang="en-US" b="1" dirty="0" err="1">
                <a:ea typeface="+mn-lt"/>
                <a:cs typeface="+mn-lt"/>
              </a:rPr>
              <a:t>compromis</a:t>
            </a:r>
            <a:r>
              <a:rPr lang="en-US" dirty="0">
                <a:ea typeface="+mn-lt"/>
                <a:cs typeface="+mn-lt"/>
              </a:rPr>
              <a:t> entre :</a:t>
            </a:r>
          </a:p>
          <a:p>
            <a:pPr marL="285750" indent="-285750">
              <a:buFont typeface="Arial"/>
              <a:buChar char="•"/>
            </a:pPr>
            <a:r>
              <a:rPr lang="en-US">
                <a:ea typeface="+mn-lt"/>
                <a:cs typeface="+mn-lt"/>
              </a:rPr>
              <a:t>Performance </a:t>
            </a:r>
            <a:endParaRPr lang="en-US"/>
          </a:p>
          <a:p>
            <a:pPr marL="285750" indent="-285750">
              <a:buFont typeface="Arial"/>
              <a:buChar char="•"/>
            </a:pPr>
            <a:r>
              <a:rPr lang="en-US" sz="2400" dirty="0" err="1">
                <a:ea typeface="+mn-lt"/>
                <a:cs typeface="+mn-lt"/>
              </a:rPr>
              <a:t>Qualité</a:t>
            </a:r>
            <a:r>
              <a:rPr lang="en-US" sz="2400" dirty="0">
                <a:ea typeface="+mn-lt"/>
                <a:cs typeface="+mn-lt"/>
              </a:rPr>
              <a:t> des </a:t>
            </a:r>
            <a:r>
              <a:rPr lang="en-US" dirty="0" err="1">
                <a:ea typeface="+mn-lt"/>
                <a:cs typeface="+mn-lt"/>
              </a:rPr>
              <a:t>réponses</a:t>
            </a:r>
            <a:r>
              <a:rPr lang="en-US" dirty="0">
                <a:ea typeface="+mn-lt"/>
                <a:cs typeface="+mn-lt"/>
              </a:rPr>
              <a:t> </a:t>
            </a:r>
            <a:endParaRPr lang="en-US" dirty="0"/>
          </a:p>
          <a:p>
            <a:pPr marL="285750" indent="-285750">
              <a:buFont typeface="Arial"/>
              <a:buChar char="•"/>
            </a:pPr>
            <a:r>
              <a:rPr lang="en-US" sz="2400" dirty="0" err="1">
                <a:ea typeface="+mn-lt"/>
                <a:cs typeface="+mn-lt"/>
              </a:rPr>
              <a:t>Consommation</a:t>
            </a:r>
            <a:r>
              <a:rPr lang="en-US" sz="2400" dirty="0">
                <a:ea typeface="+mn-lt"/>
                <a:cs typeface="+mn-lt"/>
              </a:rPr>
              <a:t> des </a:t>
            </a:r>
            <a:r>
              <a:rPr lang="en-US" sz="2400" dirty="0" err="1">
                <a:ea typeface="+mn-lt"/>
                <a:cs typeface="+mn-lt"/>
              </a:rPr>
              <a:t>ressources</a:t>
            </a:r>
            <a:r>
              <a:rPr lang="en-US" sz="2400" dirty="0">
                <a:ea typeface="+mn-lt"/>
                <a:cs typeface="+mn-lt"/>
              </a:rPr>
              <a:t> </a:t>
            </a:r>
            <a:endParaRPr lang="en-US" dirty="0">
              <a:ea typeface="+mn-lt"/>
              <a:cs typeface="+mn-lt"/>
            </a:endParaRPr>
          </a:p>
          <a:p>
            <a:pPr marL="285750" indent="-285750">
              <a:buFont typeface="Arial"/>
              <a:buChar char="•"/>
            </a:pPr>
            <a:r>
              <a:rPr lang="en-US" sz="2400" dirty="0" err="1">
                <a:ea typeface="+mn-lt"/>
                <a:cs typeface="+mn-lt"/>
              </a:rPr>
              <a:t>Coût</a:t>
            </a:r>
            <a:r>
              <a:rPr lang="en-US" sz="2400" dirty="0">
                <a:ea typeface="+mn-lt"/>
                <a:cs typeface="+mn-lt"/>
              </a:rPr>
              <a:t> </a:t>
            </a:r>
            <a:endParaRPr lang="en-US" dirty="0">
              <a:ea typeface="+mn-lt"/>
              <a:cs typeface="+mn-lt"/>
            </a:endParaRPr>
          </a:p>
          <a:p>
            <a:r>
              <a:rPr lang="en-US" dirty="0">
                <a:ea typeface="+mn-lt"/>
                <a:cs typeface="+mn-lt"/>
              </a:rPr>
              <a:t>Cette </a:t>
            </a:r>
            <a:r>
              <a:rPr lang="en-US" dirty="0" err="1">
                <a:ea typeface="+mn-lt"/>
                <a:cs typeface="+mn-lt"/>
              </a:rPr>
              <a:t>décision</a:t>
            </a:r>
            <a:r>
              <a:rPr lang="en-US" dirty="0">
                <a:ea typeface="+mn-lt"/>
                <a:cs typeface="+mn-lt"/>
              </a:rPr>
              <a:t> a ensuite </a:t>
            </a:r>
            <a:r>
              <a:rPr lang="en-US" dirty="0" err="1">
                <a:ea typeface="+mn-lt"/>
                <a:cs typeface="+mn-lt"/>
              </a:rPr>
              <a:t>été</a:t>
            </a:r>
            <a:r>
              <a:rPr lang="en-US" dirty="0">
                <a:ea typeface="+mn-lt"/>
                <a:cs typeface="+mn-lt"/>
              </a:rPr>
              <a:t> </a:t>
            </a:r>
            <a:r>
              <a:rPr lang="en-US" b="1" dirty="0" err="1">
                <a:ea typeface="+mn-lt"/>
                <a:cs typeface="+mn-lt"/>
              </a:rPr>
              <a:t>formalisée</a:t>
            </a:r>
            <a:r>
              <a:rPr lang="en-US" b="1" dirty="0">
                <a:ea typeface="+mn-lt"/>
                <a:cs typeface="+mn-lt"/>
              </a:rPr>
              <a:t> dans un ADR</a:t>
            </a:r>
            <a:r>
              <a:rPr lang="en-US" dirty="0">
                <a:ea typeface="+mn-lt"/>
                <a:cs typeface="+mn-lt"/>
              </a:rPr>
              <a:t> </a:t>
            </a:r>
            <a:r>
              <a:rPr lang="en-US" dirty="0" err="1">
                <a:ea typeface="+mn-lt"/>
                <a:cs typeface="+mn-lt"/>
              </a:rPr>
              <a:t>afin</a:t>
            </a:r>
            <a:r>
              <a:rPr lang="en-US" dirty="0">
                <a:ea typeface="+mn-lt"/>
                <a:cs typeface="+mn-lt"/>
              </a:rPr>
              <a:t> </a:t>
            </a:r>
            <a:r>
              <a:rPr lang="en-US" dirty="0" err="1">
                <a:ea typeface="+mn-lt"/>
                <a:cs typeface="+mn-lt"/>
              </a:rPr>
              <a:t>d'assurer</a:t>
            </a:r>
            <a:r>
              <a:rPr lang="en-US" dirty="0">
                <a:ea typeface="+mn-lt"/>
                <a:cs typeface="+mn-lt"/>
              </a:rPr>
              <a:t> </a:t>
            </a:r>
            <a:r>
              <a:rPr lang="en-US" dirty="0" err="1">
                <a:ea typeface="+mn-lt"/>
                <a:cs typeface="+mn-lt"/>
              </a:rPr>
              <a:t>sa</a:t>
            </a:r>
            <a:r>
              <a:rPr lang="en-US" dirty="0">
                <a:ea typeface="+mn-lt"/>
                <a:cs typeface="+mn-lt"/>
              </a:rPr>
              <a:t> justification et </a:t>
            </a:r>
            <a:r>
              <a:rPr lang="en-US" dirty="0" err="1">
                <a:ea typeface="+mn-lt"/>
                <a:cs typeface="+mn-lt"/>
              </a:rPr>
              <a:t>sa</a:t>
            </a:r>
            <a:r>
              <a:rPr lang="en-US" dirty="0">
                <a:ea typeface="+mn-lt"/>
                <a:cs typeface="+mn-lt"/>
              </a:rPr>
              <a:t> </a:t>
            </a:r>
            <a:r>
              <a:rPr lang="en-US" dirty="0" err="1">
                <a:ea typeface="+mn-lt"/>
                <a:cs typeface="+mn-lt"/>
              </a:rPr>
              <a:t>traçabilité</a:t>
            </a:r>
            <a:r>
              <a:rPr lang="en-US" dirty="0">
                <a:ea typeface="+mn-lt"/>
                <a:cs typeface="+mn-lt"/>
              </a:rPr>
              <a:t>.</a:t>
            </a:r>
            <a:endParaRPr lang="en-US" dirty="0"/>
          </a:p>
          <a:p>
            <a:endParaRPr lang="en-US" b="1" dirty="0"/>
          </a:p>
        </p:txBody>
      </p:sp>
      <p:cxnSp>
        <p:nvCxnSpPr>
          <p:cNvPr id="31" name="Straight Connector 30">
            <a:extLst>
              <a:ext uri="{FF2B5EF4-FFF2-40B4-BE49-F238E27FC236}">
                <a16:creationId xmlns:a16="http://schemas.microsoft.com/office/drawing/2014/main" id="{6EB429F8-B53D-DEED-0C74-D19AFD5CBD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72338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275DFA4-D840-829C-5962-6FA82C10EE60}"/>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5AD7BEE-38A0-1C37-B6FD-BAF720F0B9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54EDC48F-F845-2AB4-A8FC-CF0D9B799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C2BBBAB8-49B5-3FD4-6D4C-C5343B857021}"/>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dirty="0" err="1">
                <a:solidFill>
                  <a:srgbClr val="FFFFFF"/>
                </a:solidFill>
                <a:ea typeface="+mj-lt"/>
                <a:cs typeface="+mj-lt"/>
              </a:rPr>
              <a:t>Veille</a:t>
            </a:r>
            <a:r>
              <a:rPr lang="en-GB" sz="5600" dirty="0">
                <a:solidFill>
                  <a:srgbClr val="FFFFFF"/>
                </a:solidFill>
                <a:ea typeface="+mj-lt"/>
                <a:cs typeface="+mj-lt"/>
              </a:rPr>
              <a:t> </a:t>
            </a:r>
            <a:r>
              <a:rPr lang="en-GB" sz="5600" dirty="0" err="1">
                <a:solidFill>
                  <a:srgbClr val="FFFFFF"/>
                </a:solidFill>
                <a:ea typeface="+mj-lt"/>
                <a:cs typeface="+mj-lt"/>
              </a:rPr>
              <a:t>technologique</a:t>
            </a:r>
            <a:r>
              <a:rPr lang="en-GB" sz="5600" dirty="0">
                <a:solidFill>
                  <a:srgbClr val="FFFFFF"/>
                </a:solidFill>
                <a:ea typeface="+mj-lt"/>
                <a:cs typeface="+mj-lt"/>
              </a:rPr>
              <a:t> de sécurité</a:t>
            </a:r>
            <a:endParaRPr lang="en-US" sz="5600" dirty="0">
              <a:solidFill>
                <a:srgbClr val="FFFFFF"/>
              </a:solidFill>
              <a:ea typeface="+mj-lt"/>
              <a:cs typeface="+mj-lt"/>
            </a:endParaRPr>
          </a:p>
        </p:txBody>
      </p:sp>
      <p:grpSp>
        <p:nvGrpSpPr>
          <p:cNvPr id="26" name="Group 25">
            <a:extLst>
              <a:ext uri="{FF2B5EF4-FFF2-40B4-BE49-F238E27FC236}">
                <a16:creationId xmlns:a16="http://schemas.microsoft.com/office/drawing/2014/main" id="{B216CBF3-7DB3-1A4B-518F-AECFB7541A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A88678AD-AC1B-775F-39C5-BD08354EC9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DCC1D63D-1171-288E-D2CC-D2EEE9CCF7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69AA9E53-3F08-2186-A85C-8FC220E895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A136DF2D-CE40-9B20-C366-DF852EDF659C}"/>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400" b="1" dirty="0" err="1"/>
              <a:t>Pourquoi</a:t>
            </a:r>
            <a:r>
              <a:rPr lang="en-GB" sz="1400" b="1" dirty="0"/>
              <a:t> </a:t>
            </a:r>
            <a:r>
              <a:rPr lang="en-GB" sz="1400" b="1" dirty="0" err="1"/>
              <a:t>cette</a:t>
            </a:r>
            <a:r>
              <a:rPr lang="en-GB" sz="1400" b="1" dirty="0"/>
              <a:t> </a:t>
            </a:r>
            <a:r>
              <a:rPr lang="en-GB" sz="1400" b="1" dirty="0" err="1"/>
              <a:t>veille</a:t>
            </a:r>
            <a:r>
              <a:rPr lang="en-GB" sz="1400" b="1" dirty="0"/>
              <a:t> ?</a:t>
            </a:r>
          </a:p>
          <a:p>
            <a:r>
              <a:rPr lang="en-GB" sz="1400" dirty="0"/>
              <a:t>Lors de la perturbation J3, </a:t>
            </a:r>
            <a:r>
              <a:rPr lang="en-GB" sz="1400" dirty="0" err="1"/>
              <a:t>une</a:t>
            </a:r>
            <a:r>
              <a:rPr lang="en-GB" sz="1400" dirty="0"/>
              <a:t> </a:t>
            </a:r>
            <a:r>
              <a:rPr lang="en-GB" sz="1400" dirty="0" err="1"/>
              <a:t>vulnérabilité</a:t>
            </a:r>
            <a:r>
              <a:rPr lang="en-GB" sz="1400" dirty="0"/>
              <a:t> de </a:t>
            </a:r>
            <a:r>
              <a:rPr lang="en-GB" sz="1400" b="1" dirty="0"/>
              <a:t>Prompt Injection (OWASP LLM-01)</a:t>
            </a:r>
            <a:r>
              <a:rPr lang="en-GB" sz="1400" dirty="0"/>
              <a:t> a </a:t>
            </a:r>
            <a:r>
              <a:rPr lang="en-GB" sz="1400" dirty="0" err="1"/>
              <a:t>été</a:t>
            </a:r>
            <a:r>
              <a:rPr lang="en-GB" sz="1400" dirty="0"/>
              <a:t> </a:t>
            </a:r>
            <a:r>
              <a:rPr lang="en-GB" sz="1400" dirty="0" err="1"/>
              <a:t>identifiée</a:t>
            </a:r>
            <a:r>
              <a:rPr lang="en-GB" sz="1400" dirty="0"/>
              <a:t> sur </a:t>
            </a:r>
            <a:r>
              <a:rPr lang="en-GB" sz="1400" dirty="0" err="1"/>
              <a:t>notre</a:t>
            </a:r>
            <a:r>
              <a:rPr lang="en-GB" sz="1400" dirty="0"/>
              <a:t> application.</a:t>
            </a:r>
          </a:p>
          <a:p>
            <a:r>
              <a:rPr lang="en-GB" sz="1400" dirty="0"/>
              <a:t>Le sponsor </a:t>
            </a:r>
            <a:r>
              <a:rPr lang="en-GB" sz="1400" dirty="0" err="1"/>
              <a:t>demandait</a:t>
            </a:r>
            <a:r>
              <a:rPr lang="en-GB" sz="1400" dirty="0"/>
              <a:t> </a:t>
            </a:r>
            <a:r>
              <a:rPr lang="en-GB" sz="1400" dirty="0" err="1"/>
              <a:t>donc</a:t>
            </a:r>
            <a:r>
              <a:rPr lang="en-GB" sz="1400" dirty="0"/>
              <a:t> de :</a:t>
            </a:r>
          </a:p>
          <a:p>
            <a:r>
              <a:rPr lang="en-GB" sz="1400" dirty="0" err="1"/>
              <a:t>comprendre</a:t>
            </a:r>
            <a:r>
              <a:rPr lang="en-GB" sz="1400" dirty="0"/>
              <a:t> </a:t>
            </a:r>
            <a:r>
              <a:rPr lang="en-GB" sz="1400" dirty="0" err="1"/>
              <a:t>rapidement</a:t>
            </a:r>
            <a:r>
              <a:rPr lang="en-GB" sz="1400" dirty="0"/>
              <a:t> </a:t>
            </a:r>
            <a:r>
              <a:rPr lang="en-GB" sz="1400" dirty="0" err="1"/>
              <a:t>cette</a:t>
            </a:r>
            <a:r>
              <a:rPr lang="en-GB" sz="1400" dirty="0"/>
              <a:t> </a:t>
            </a:r>
            <a:r>
              <a:rPr lang="en-GB" sz="1400" dirty="0" err="1"/>
              <a:t>vulnérabilité</a:t>
            </a:r>
            <a:r>
              <a:rPr lang="en-GB" sz="1400" dirty="0"/>
              <a:t> ; </a:t>
            </a:r>
          </a:p>
          <a:p>
            <a:r>
              <a:rPr lang="en-GB" sz="1400" dirty="0"/>
              <a:t>identifier les </a:t>
            </a:r>
            <a:r>
              <a:rPr lang="en-GB" sz="1400" dirty="0" err="1"/>
              <a:t>bonnes</a:t>
            </a:r>
            <a:r>
              <a:rPr lang="en-GB" sz="1400" dirty="0"/>
              <a:t> pratiques de protection ; </a:t>
            </a:r>
          </a:p>
          <a:p>
            <a:r>
              <a:rPr lang="en-GB" sz="1400" dirty="0"/>
              <a:t>proposer </a:t>
            </a:r>
            <a:r>
              <a:rPr lang="en-GB" sz="1400" dirty="0" err="1"/>
              <a:t>une</a:t>
            </a:r>
            <a:r>
              <a:rPr lang="en-GB" sz="1400" dirty="0"/>
              <a:t> solution avant la livraison. </a:t>
            </a:r>
          </a:p>
          <a:p>
            <a:r>
              <a:rPr lang="en-GB" sz="1400" b="1" dirty="0"/>
              <a:t>Notre démarche</a:t>
            </a:r>
          </a:p>
          <a:p>
            <a:r>
              <a:rPr lang="en-GB" sz="1400" dirty="0"/>
              <a:t>Étude de la documentation OWASP LLM Top 10 </a:t>
            </a:r>
          </a:p>
          <a:p>
            <a:r>
              <a:rPr lang="en-GB" sz="1400" dirty="0"/>
              <a:t>Analyse du podcast </a:t>
            </a:r>
            <a:r>
              <a:rPr lang="en-GB" sz="1400" dirty="0" err="1"/>
              <a:t>fourni</a:t>
            </a:r>
            <a:r>
              <a:rPr lang="en-GB" sz="1400" dirty="0"/>
              <a:t> </a:t>
            </a:r>
          </a:p>
          <a:p>
            <a:r>
              <a:rPr lang="en-GB" sz="1400" dirty="0"/>
              <a:t>Recherche sur les </a:t>
            </a:r>
            <a:r>
              <a:rPr lang="en-GB" sz="1400" dirty="0" err="1"/>
              <a:t>attaques</a:t>
            </a:r>
            <a:r>
              <a:rPr lang="en-GB" sz="1400" dirty="0"/>
              <a:t> </a:t>
            </a:r>
            <a:r>
              <a:rPr lang="en-GB" sz="1400" dirty="0" err="1"/>
              <a:t>réelles</a:t>
            </a:r>
            <a:r>
              <a:rPr lang="en-GB" sz="1400" dirty="0"/>
              <a:t> </a:t>
            </a:r>
          </a:p>
          <a:p>
            <a:r>
              <a:rPr lang="en-GB" sz="1400" dirty="0"/>
              <a:t>Identification des </a:t>
            </a:r>
            <a:r>
              <a:rPr lang="en-GB" sz="1400" dirty="0" err="1"/>
              <a:t>contre-mesures</a:t>
            </a:r>
            <a:r>
              <a:rPr lang="en-GB" sz="1400" dirty="0"/>
              <a:t> </a:t>
            </a:r>
          </a:p>
        </p:txBody>
      </p:sp>
      <p:cxnSp>
        <p:nvCxnSpPr>
          <p:cNvPr id="31" name="Straight Connector 30">
            <a:extLst>
              <a:ext uri="{FF2B5EF4-FFF2-40B4-BE49-F238E27FC236}">
                <a16:creationId xmlns:a16="http://schemas.microsoft.com/office/drawing/2014/main" id="{3FFD9D7D-4A1E-C51E-1418-7FE4921993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66719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B1E662-5644-6A6B-199B-CEEC2E829F1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6DB498-58E6-8050-8590-714B6227F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618E4BE1-98D1-7B96-1032-6623967BF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18CE0FCC-65A3-3DCA-76EB-933B0A7D157F}"/>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dirty="0" err="1">
                <a:solidFill>
                  <a:srgbClr val="FFFFFF"/>
                </a:solidFill>
                <a:ea typeface="+mj-lt"/>
                <a:cs typeface="+mj-lt"/>
              </a:rPr>
              <a:t>Résultats</a:t>
            </a:r>
            <a:r>
              <a:rPr lang="en-GB" sz="5600" dirty="0">
                <a:solidFill>
                  <a:srgbClr val="FFFFFF"/>
                </a:solidFill>
                <a:ea typeface="+mj-lt"/>
                <a:cs typeface="+mj-lt"/>
              </a:rPr>
              <a:t> de la </a:t>
            </a:r>
            <a:r>
              <a:rPr lang="en-GB" sz="5600" dirty="0" err="1">
                <a:solidFill>
                  <a:srgbClr val="FFFFFF"/>
                </a:solidFill>
                <a:ea typeface="+mj-lt"/>
                <a:cs typeface="+mj-lt"/>
              </a:rPr>
              <a:t>veille</a:t>
            </a:r>
            <a:r>
              <a:rPr lang="en-GB" sz="5600" dirty="0">
                <a:solidFill>
                  <a:srgbClr val="FFFFFF"/>
                </a:solidFill>
                <a:ea typeface="+mj-lt"/>
                <a:cs typeface="+mj-lt"/>
              </a:rPr>
              <a:t> </a:t>
            </a:r>
            <a:r>
              <a:rPr lang="en-GB" sz="5600" dirty="0" err="1">
                <a:solidFill>
                  <a:srgbClr val="FFFFFF"/>
                </a:solidFill>
                <a:ea typeface="+mj-lt"/>
                <a:cs typeface="+mj-lt"/>
              </a:rPr>
              <a:t>technologique</a:t>
            </a:r>
            <a:endParaRPr lang="en-US" sz="5600" dirty="0">
              <a:solidFill>
                <a:srgbClr val="FFFFFF"/>
              </a:solidFill>
              <a:ea typeface="+mj-lt"/>
              <a:cs typeface="+mj-lt"/>
            </a:endParaRPr>
          </a:p>
        </p:txBody>
      </p:sp>
      <p:grpSp>
        <p:nvGrpSpPr>
          <p:cNvPr id="26" name="Group 25">
            <a:extLst>
              <a:ext uri="{FF2B5EF4-FFF2-40B4-BE49-F238E27FC236}">
                <a16:creationId xmlns:a16="http://schemas.microsoft.com/office/drawing/2014/main" id="{BCD81FCD-8243-CC82-8929-A8B23B0794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252CA55A-1DA6-E877-5767-FEE234C9C7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D8C00350-1A98-E15F-25DD-EAA1AF70BB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03B9A628-B04A-3252-4C78-9F8995CB8F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66D7CD9B-A0C3-CFC7-2B5B-8284616FF9C1}"/>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a:t>Après analyse</a:t>
            </a:r>
          </a:p>
          <a:p>
            <a:r>
              <a:rPr lang="en-GB" sz="1800" dirty="0" err="1"/>
              <a:t>Compréhension</a:t>
            </a:r>
            <a:r>
              <a:rPr lang="en-GB" sz="1800" dirty="0"/>
              <a:t> du </a:t>
            </a:r>
            <a:r>
              <a:rPr lang="en-GB" sz="1800" dirty="0" err="1"/>
              <a:t>fonctionnement</a:t>
            </a:r>
            <a:r>
              <a:rPr lang="en-GB" sz="1800" dirty="0"/>
              <a:t> </a:t>
            </a:r>
            <a:r>
              <a:rPr lang="en-GB" sz="1800" dirty="0" err="1"/>
              <a:t>d'une</a:t>
            </a:r>
            <a:r>
              <a:rPr lang="en-GB" sz="1800" dirty="0"/>
              <a:t> Prompt Injection </a:t>
            </a:r>
          </a:p>
          <a:p>
            <a:r>
              <a:rPr lang="en-GB" sz="1800" dirty="0"/>
              <a:t>Identification des </a:t>
            </a:r>
            <a:r>
              <a:rPr lang="en-GB" sz="1800" dirty="0" err="1"/>
              <a:t>risques</a:t>
            </a:r>
            <a:r>
              <a:rPr lang="en-GB" sz="1800" dirty="0"/>
              <a:t> pour les LLM </a:t>
            </a:r>
          </a:p>
          <a:p>
            <a:r>
              <a:rPr lang="en-GB" sz="1800" dirty="0" err="1"/>
              <a:t>Définition</a:t>
            </a:r>
            <a:r>
              <a:rPr lang="en-GB" sz="1800" dirty="0"/>
              <a:t> de </a:t>
            </a:r>
            <a:r>
              <a:rPr lang="en-GB" sz="1800" dirty="0" err="1"/>
              <a:t>plusieurs</a:t>
            </a:r>
            <a:r>
              <a:rPr lang="en-GB" sz="1800" dirty="0"/>
              <a:t> couches de protection </a:t>
            </a:r>
          </a:p>
          <a:p>
            <a:pPr lvl="1"/>
            <a:r>
              <a:rPr lang="en-GB" sz="1800" dirty="0"/>
              <a:t>Prompt </a:t>
            </a:r>
            <a:r>
              <a:rPr lang="en-GB" sz="1800" dirty="0" err="1"/>
              <a:t>système</a:t>
            </a:r>
            <a:r>
              <a:rPr lang="en-GB" sz="1800" dirty="0"/>
              <a:t> </a:t>
            </a:r>
            <a:r>
              <a:rPr lang="en-GB" sz="1800" dirty="0" err="1"/>
              <a:t>défensif</a:t>
            </a:r>
            <a:r>
              <a:rPr lang="en-GB" sz="1800" dirty="0"/>
              <a:t> </a:t>
            </a:r>
          </a:p>
          <a:p>
            <a:pPr lvl="1"/>
            <a:r>
              <a:rPr lang="en-GB" sz="1800" dirty="0"/>
              <a:t>Validation des entrées </a:t>
            </a:r>
            <a:r>
              <a:rPr lang="en-GB" sz="1800" dirty="0" err="1"/>
              <a:t>utilisateur</a:t>
            </a:r>
            <a:r>
              <a:rPr lang="en-GB" sz="1800" dirty="0"/>
              <a:t> </a:t>
            </a:r>
          </a:p>
          <a:p>
            <a:pPr lvl="1"/>
            <a:r>
              <a:rPr lang="en-GB" sz="1800" dirty="0" err="1"/>
              <a:t>Vérification</a:t>
            </a:r>
            <a:r>
              <a:rPr lang="en-GB" sz="1800" dirty="0"/>
              <a:t> des </a:t>
            </a:r>
            <a:r>
              <a:rPr lang="en-GB" sz="1800" dirty="0" err="1"/>
              <a:t>réponses</a:t>
            </a:r>
            <a:r>
              <a:rPr lang="en-GB" sz="1800" dirty="0"/>
              <a:t> </a:t>
            </a:r>
            <a:r>
              <a:rPr lang="en-GB" sz="1800" dirty="0" err="1"/>
              <a:t>générées</a:t>
            </a:r>
            <a:r>
              <a:rPr lang="en-GB" sz="1800" dirty="0"/>
              <a:t> </a:t>
            </a:r>
          </a:p>
          <a:p>
            <a:r>
              <a:rPr lang="en-GB" sz="1800" b="1" dirty="0" err="1"/>
              <a:t>Décision</a:t>
            </a:r>
            <a:r>
              <a:rPr lang="en-GB" sz="1800" b="1" dirty="0"/>
              <a:t> </a:t>
            </a:r>
            <a:r>
              <a:rPr lang="en-GB" sz="1800" b="1" dirty="0" err="1"/>
              <a:t>retenue</a:t>
            </a:r>
            <a:endParaRPr lang="en-GB" sz="1800" b="1" dirty="0"/>
          </a:p>
          <a:p>
            <a:r>
              <a:rPr lang="en-GB" sz="1800" dirty="0"/>
              <a:t>Nous </a:t>
            </a:r>
            <a:r>
              <a:rPr lang="en-GB" sz="1800" dirty="0" err="1"/>
              <a:t>avons</a:t>
            </a:r>
            <a:r>
              <a:rPr lang="en-GB" sz="1800" dirty="0"/>
              <a:t> </a:t>
            </a:r>
            <a:r>
              <a:rPr lang="en-GB" sz="1800" dirty="0" err="1"/>
              <a:t>intégré</a:t>
            </a:r>
            <a:r>
              <a:rPr lang="en-GB" sz="1800" dirty="0"/>
              <a:t> </a:t>
            </a:r>
            <a:r>
              <a:rPr lang="en-GB" sz="1800" dirty="0" err="1"/>
              <a:t>ces</a:t>
            </a:r>
            <a:r>
              <a:rPr lang="en-GB" sz="1800" dirty="0"/>
              <a:t> </a:t>
            </a:r>
            <a:r>
              <a:rPr lang="en-GB" sz="1800" dirty="0" err="1"/>
              <a:t>recommandations</a:t>
            </a:r>
            <a:r>
              <a:rPr lang="en-GB" sz="1800" dirty="0"/>
              <a:t> </a:t>
            </a:r>
            <a:r>
              <a:rPr lang="en-GB" sz="1800" dirty="0" err="1"/>
              <a:t>afin</a:t>
            </a:r>
            <a:r>
              <a:rPr lang="en-GB" sz="1800" dirty="0"/>
              <a:t> de :</a:t>
            </a:r>
          </a:p>
          <a:p>
            <a:r>
              <a:rPr lang="en-GB" sz="1800" dirty="0"/>
              <a:t>limiter les </a:t>
            </a:r>
            <a:r>
              <a:rPr lang="en-GB" sz="1800" dirty="0" err="1"/>
              <a:t>risques</a:t>
            </a:r>
            <a:r>
              <a:rPr lang="en-GB" sz="1800" dirty="0"/>
              <a:t> </a:t>
            </a:r>
            <a:r>
              <a:rPr lang="en-GB" sz="1800" dirty="0" err="1"/>
              <a:t>d'injection</a:t>
            </a:r>
            <a:r>
              <a:rPr lang="en-GB" sz="1800" dirty="0"/>
              <a:t> </a:t>
            </a:r>
          </a:p>
          <a:p>
            <a:r>
              <a:rPr lang="en-GB" sz="1800" dirty="0" err="1"/>
              <a:t>renforcer</a:t>
            </a:r>
            <a:r>
              <a:rPr lang="en-GB" sz="1800" dirty="0"/>
              <a:t> la sécurité de </a:t>
            </a:r>
            <a:r>
              <a:rPr lang="en-GB" sz="1800" dirty="0" err="1"/>
              <a:t>l'application</a:t>
            </a:r>
            <a:r>
              <a:rPr lang="en-GB" sz="1800" dirty="0"/>
              <a:t> </a:t>
            </a:r>
          </a:p>
          <a:p>
            <a:r>
              <a:rPr lang="en-GB" sz="1800" dirty="0"/>
              <a:t>respecter les exigences du sponsor </a:t>
            </a:r>
          </a:p>
        </p:txBody>
      </p:sp>
      <p:cxnSp>
        <p:nvCxnSpPr>
          <p:cNvPr id="31" name="Straight Connector 30">
            <a:extLst>
              <a:ext uri="{FF2B5EF4-FFF2-40B4-BE49-F238E27FC236}">
                <a16:creationId xmlns:a16="http://schemas.microsoft.com/office/drawing/2014/main" id="{2892D033-44B8-3AF6-7451-817696B0157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807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C8C7EEF-2F7E-245C-C233-C2421FCDD2AC}"/>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2903F7F6-62E6-AEB4-2318-481C3CB3C1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83524A9B-42D1-623C-999F-8B69B9F92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BAB95B0C-A9C9-5C8F-8216-4068EFC39F22}"/>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dirty="0">
                <a:solidFill>
                  <a:srgbClr val="FFFFFF"/>
                </a:solidFill>
                <a:ea typeface="+mj-lt"/>
                <a:cs typeface="+mj-lt"/>
              </a:rPr>
              <a:t>Analyse des </a:t>
            </a:r>
            <a:r>
              <a:rPr lang="en-GB" sz="5600" dirty="0" err="1">
                <a:solidFill>
                  <a:srgbClr val="FFFFFF"/>
                </a:solidFill>
                <a:ea typeface="+mj-lt"/>
                <a:cs typeface="+mj-lt"/>
              </a:rPr>
              <a:t>risques</a:t>
            </a:r>
            <a:endParaRPr lang="en-US" sz="5600" dirty="0">
              <a:solidFill>
                <a:srgbClr val="FFFFFF"/>
              </a:solidFill>
              <a:ea typeface="+mj-lt"/>
              <a:cs typeface="+mj-lt"/>
            </a:endParaRPr>
          </a:p>
        </p:txBody>
      </p:sp>
      <p:grpSp>
        <p:nvGrpSpPr>
          <p:cNvPr id="26" name="Group 25">
            <a:extLst>
              <a:ext uri="{FF2B5EF4-FFF2-40B4-BE49-F238E27FC236}">
                <a16:creationId xmlns:a16="http://schemas.microsoft.com/office/drawing/2014/main" id="{017B82EF-09DE-520E-F9C7-F4F20C9D1C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2E062471-E915-6EA9-6971-ECB47A18DF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7677406E-E45C-DADE-09A0-49D7CDBF67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945A8A48-4EBD-4C92-A7A4-739F385D33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B1BBC963-A3BD-E88A-6880-FB572EF3D3D7}"/>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err="1"/>
              <a:t>Pourquoi</a:t>
            </a:r>
            <a:r>
              <a:rPr lang="en-GB" sz="1800" b="1" dirty="0"/>
              <a:t> </a:t>
            </a:r>
            <a:r>
              <a:rPr lang="en-GB" sz="1800" b="1" dirty="0" err="1"/>
              <a:t>cette</a:t>
            </a:r>
            <a:r>
              <a:rPr lang="en-GB" sz="1800" b="1" dirty="0"/>
              <a:t> analyse ?</a:t>
            </a:r>
          </a:p>
          <a:p>
            <a:r>
              <a:rPr lang="en-GB" sz="1800" dirty="0"/>
              <a:t>La perturbation J3 impose de prendre </a:t>
            </a:r>
            <a:r>
              <a:rPr lang="en-GB" sz="1800" dirty="0" err="1"/>
              <a:t>en</a:t>
            </a:r>
            <a:r>
              <a:rPr lang="en-GB" sz="1800" dirty="0"/>
              <a:t> compte les </a:t>
            </a:r>
            <a:r>
              <a:rPr lang="en-GB" sz="1800" dirty="0" err="1"/>
              <a:t>risques</a:t>
            </a:r>
            <a:r>
              <a:rPr lang="en-GB" sz="1800" dirty="0"/>
              <a:t> </a:t>
            </a:r>
            <a:r>
              <a:rPr lang="en-GB" sz="1800" dirty="0" err="1"/>
              <a:t>liés</a:t>
            </a:r>
            <a:r>
              <a:rPr lang="en-GB" sz="1800" dirty="0"/>
              <a:t> à </a:t>
            </a:r>
            <a:r>
              <a:rPr lang="en-GB" sz="1800" dirty="0" err="1"/>
              <a:t>l'utilisation</a:t>
            </a:r>
            <a:r>
              <a:rPr lang="en-GB" sz="1800" dirty="0"/>
              <a:t> d'un LLM.</a:t>
            </a:r>
          </a:p>
          <a:p>
            <a:r>
              <a:rPr lang="en-GB" sz="1800" dirty="0"/>
              <a:t>Notre </a:t>
            </a:r>
            <a:r>
              <a:rPr lang="en-GB" sz="1800" dirty="0" err="1"/>
              <a:t>objectif</a:t>
            </a:r>
            <a:r>
              <a:rPr lang="en-GB" sz="1800" dirty="0"/>
              <a:t> </a:t>
            </a:r>
            <a:r>
              <a:rPr lang="en-GB" sz="1800" dirty="0" err="1"/>
              <a:t>était</a:t>
            </a:r>
            <a:r>
              <a:rPr lang="en-GB" sz="1800" dirty="0"/>
              <a:t> de :</a:t>
            </a:r>
          </a:p>
          <a:p>
            <a:r>
              <a:rPr lang="en-GB" sz="1800" dirty="0"/>
              <a:t>identifier les menaces </a:t>
            </a:r>
            <a:r>
              <a:rPr lang="en-GB" sz="1800" dirty="0" err="1"/>
              <a:t>principales</a:t>
            </a:r>
            <a:r>
              <a:rPr lang="en-GB" sz="1800" dirty="0"/>
              <a:t> ; </a:t>
            </a:r>
          </a:p>
          <a:p>
            <a:r>
              <a:rPr lang="en-GB" sz="1800" dirty="0" err="1"/>
              <a:t>évaluer</a:t>
            </a:r>
            <a:r>
              <a:rPr lang="en-GB" sz="1800" dirty="0"/>
              <a:t> </a:t>
            </a:r>
            <a:r>
              <a:rPr lang="en-GB" sz="1800" dirty="0" err="1"/>
              <a:t>leur</a:t>
            </a:r>
            <a:r>
              <a:rPr lang="en-GB" sz="1800" dirty="0"/>
              <a:t> impact ; </a:t>
            </a:r>
          </a:p>
          <a:p>
            <a:r>
              <a:rPr lang="en-GB" sz="1800" dirty="0" err="1"/>
              <a:t>définir</a:t>
            </a:r>
            <a:r>
              <a:rPr lang="en-GB" sz="1800" dirty="0"/>
              <a:t> des </a:t>
            </a:r>
            <a:r>
              <a:rPr lang="en-GB" sz="1800" dirty="0" err="1"/>
              <a:t>mesures</a:t>
            </a:r>
            <a:r>
              <a:rPr lang="en-GB" sz="1800" dirty="0"/>
              <a:t> de </a:t>
            </a:r>
            <a:r>
              <a:rPr lang="en-GB" sz="1800" dirty="0" err="1"/>
              <a:t>réduction</a:t>
            </a:r>
            <a:r>
              <a:rPr lang="en-GB" sz="1800" dirty="0"/>
              <a:t> des </a:t>
            </a:r>
            <a:r>
              <a:rPr lang="en-GB" sz="1800" dirty="0" err="1"/>
              <a:t>risques</a:t>
            </a:r>
            <a:r>
              <a:rPr lang="en-GB" sz="1800" dirty="0"/>
              <a:t>. </a:t>
            </a:r>
          </a:p>
          <a:p>
            <a:r>
              <a:rPr lang="en-GB" sz="1800" b="1" dirty="0"/>
              <a:t>Notre démarche</a:t>
            </a:r>
          </a:p>
          <a:p>
            <a:r>
              <a:rPr lang="en-GB" sz="1800" dirty="0"/>
              <a:t>Identification des </a:t>
            </a:r>
            <a:r>
              <a:rPr lang="en-GB" sz="1800" dirty="0" err="1"/>
              <a:t>risques</a:t>
            </a:r>
            <a:r>
              <a:rPr lang="en-GB" sz="1800" dirty="0"/>
              <a:t> </a:t>
            </a:r>
          </a:p>
          <a:p>
            <a:r>
              <a:rPr lang="en-GB" sz="1800" dirty="0" err="1"/>
              <a:t>Évaluation</a:t>
            </a:r>
            <a:r>
              <a:rPr lang="en-GB" sz="1800" dirty="0"/>
              <a:t> de </a:t>
            </a:r>
            <a:r>
              <a:rPr lang="en-GB" sz="1800" dirty="0" err="1"/>
              <a:t>leur</a:t>
            </a:r>
            <a:r>
              <a:rPr lang="en-GB" sz="1800" dirty="0"/>
              <a:t> </a:t>
            </a:r>
            <a:r>
              <a:rPr lang="en-GB" sz="1800" dirty="0" err="1"/>
              <a:t>probabilité</a:t>
            </a:r>
            <a:r>
              <a:rPr lang="en-GB" sz="1800" dirty="0"/>
              <a:t> </a:t>
            </a:r>
          </a:p>
          <a:p>
            <a:r>
              <a:rPr lang="en-GB" sz="1800" dirty="0" err="1"/>
              <a:t>Évaluation</a:t>
            </a:r>
            <a:r>
              <a:rPr lang="en-GB" sz="1800" dirty="0"/>
              <a:t> de </a:t>
            </a:r>
            <a:r>
              <a:rPr lang="en-GB" sz="1800" dirty="0" err="1"/>
              <a:t>leur</a:t>
            </a:r>
            <a:r>
              <a:rPr lang="en-GB" sz="1800" dirty="0"/>
              <a:t> impact </a:t>
            </a:r>
          </a:p>
          <a:p>
            <a:r>
              <a:rPr lang="en-GB" sz="1800" dirty="0"/>
              <a:t>Proposition </a:t>
            </a:r>
            <a:r>
              <a:rPr lang="en-GB" sz="1800" dirty="0" err="1"/>
              <a:t>d'actions</a:t>
            </a:r>
            <a:r>
              <a:rPr lang="en-GB" sz="1800" dirty="0"/>
              <a:t> correctives</a:t>
            </a:r>
          </a:p>
        </p:txBody>
      </p:sp>
      <p:cxnSp>
        <p:nvCxnSpPr>
          <p:cNvPr id="31" name="Straight Connector 30">
            <a:extLst>
              <a:ext uri="{FF2B5EF4-FFF2-40B4-BE49-F238E27FC236}">
                <a16:creationId xmlns:a16="http://schemas.microsoft.com/office/drawing/2014/main" id="{79520FB0-793D-337B-88C8-FE1705E9D0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5075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962699-E2E0-B080-396B-A389CAEDF8F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397D68E-75B5-4DE6-3951-2E35218201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4" name="Rectangle 23">
            <a:extLst>
              <a:ext uri="{FF2B5EF4-FFF2-40B4-BE49-F238E27FC236}">
                <a16:creationId xmlns:a16="http://schemas.microsoft.com/office/drawing/2014/main" id="{9C4BDD0C-DDBF-B255-EEDC-047A3A57B1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 name="Titre 1">
            <a:extLst>
              <a:ext uri="{FF2B5EF4-FFF2-40B4-BE49-F238E27FC236}">
                <a16:creationId xmlns:a16="http://schemas.microsoft.com/office/drawing/2014/main" id="{2E16EEAE-388D-FDC8-4F16-C3E40E4D8802}"/>
              </a:ext>
            </a:extLst>
          </p:cNvPr>
          <p:cNvSpPr>
            <a:spLocks noGrp="1"/>
          </p:cNvSpPr>
          <p:nvPr>
            <p:ph type="ctrTitle"/>
          </p:nvPr>
        </p:nvSpPr>
        <p:spPr>
          <a:xfrm>
            <a:off x="1188069" y="381935"/>
            <a:ext cx="4008583" cy="5974414"/>
          </a:xfrm>
        </p:spPr>
        <p:txBody>
          <a:bodyPr vert="horz" lIns="91440" tIns="45720" rIns="91440" bIns="45720" rtlCol="0" anchor="ctr">
            <a:normAutofit/>
          </a:bodyPr>
          <a:lstStyle/>
          <a:p>
            <a:pPr algn="l"/>
            <a:r>
              <a:rPr lang="en-GB" sz="5600" dirty="0" err="1">
                <a:solidFill>
                  <a:srgbClr val="FFFFFF"/>
                </a:solidFill>
                <a:ea typeface="+mj-lt"/>
                <a:cs typeface="+mj-lt"/>
              </a:rPr>
              <a:t>Résultats</a:t>
            </a:r>
            <a:r>
              <a:rPr lang="en-GB" sz="5600" dirty="0">
                <a:solidFill>
                  <a:srgbClr val="FFFFFF"/>
                </a:solidFill>
                <a:ea typeface="+mj-lt"/>
                <a:cs typeface="+mj-lt"/>
              </a:rPr>
              <a:t> de </a:t>
            </a:r>
            <a:r>
              <a:rPr lang="en-GB" sz="5600" dirty="0" err="1">
                <a:solidFill>
                  <a:srgbClr val="FFFFFF"/>
                </a:solidFill>
                <a:ea typeface="+mj-lt"/>
                <a:cs typeface="+mj-lt"/>
              </a:rPr>
              <a:t>l'analyse</a:t>
            </a:r>
            <a:r>
              <a:rPr lang="en-GB" sz="5600" dirty="0">
                <a:solidFill>
                  <a:srgbClr val="FFFFFF"/>
                </a:solidFill>
                <a:ea typeface="+mj-lt"/>
                <a:cs typeface="+mj-lt"/>
              </a:rPr>
              <a:t> des </a:t>
            </a:r>
            <a:r>
              <a:rPr lang="en-GB" sz="5600" dirty="0" err="1">
                <a:solidFill>
                  <a:srgbClr val="FFFFFF"/>
                </a:solidFill>
                <a:ea typeface="+mj-lt"/>
                <a:cs typeface="+mj-lt"/>
              </a:rPr>
              <a:t>risques</a:t>
            </a:r>
            <a:endParaRPr lang="en-US" sz="5600" dirty="0">
              <a:solidFill>
                <a:srgbClr val="FFFFFF"/>
              </a:solidFill>
              <a:ea typeface="+mj-lt"/>
              <a:cs typeface="+mj-lt"/>
            </a:endParaRPr>
          </a:p>
        </p:txBody>
      </p:sp>
      <p:grpSp>
        <p:nvGrpSpPr>
          <p:cNvPr id="26" name="Group 25">
            <a:extLst>
              <a:ext uri="{FF2B5EF4-FFF2-40B4-BE49-F238E27FC236}">
                <a16:creationId xmlns:a16="http://schemas.microsoft.com/office/drawing/2014/main" id="{C8B1E7BC-8268-8F78-1F1D-8D5324B3C4B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27" name="Graphic 11">
              <a:extLst>
                <a:ext uri="{FF2B5EF4-FFF2-40B4-BE49-F238E27FC236}">
                  <a16:creationId xmlns:a16="http://schemas.microsoft.com/office/drawing/2014/main" id="{F05878AE-0A6D-23AF-040E-8AE810BA30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8" name="Graphic 10">
              <a:extLst>
                <a:ext uri="{FF2B5EF4-FFF2-40B4-BE49-F238E27FC236}">
                  <a16:creationId xmlns:a16="http://schemas.microsoft.com/office/drawing/2014/main" id="{F94F2012-44A4-DF11-3592-5924144A43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29" name="Graphic 12">
              <a:extLst>
                <a:ext uri="{FF2B5EF4-FFF2-40B4-BE49-F238E27FC236}">
                  <a16:creationId xmlns:a16="http://schemas.microsoft.com/office/drawing/2014/main" id="{AA64A03E-1254-CBC4-2BE7-9796E8A5FA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grpSp>
      <p:sp>
        <p:nvSpPr>
          <p:cNvPr id="3" name="Sous-titre 2">
            <a:extLst>
              <a:ext uri="{FF2B5EF4-FFF2-40B4-BE49-F238E27FC236}">
                <a16:creationId xmlns:a16="http://schemas.microsoft.com/office/drawing/2014/main" id="{2DEC6715-6879-194D-9D6D-35E88C434D97}"/>
              </a:ext>
            </a:extLst>
          </p:cNvPr>
          <p:cNvSpPr>
            <a:spLocks noGrp="1"/>
          </p:cNvSpPr>
          <p:nvPr>
            <p:ph type="subTitle" idx="1"/>
          </p:nvPr>
        </p:nvSpPr>
        <p:spPr>
          <a:xfrm>
            <a:off x="6297233" y="518400"/>
            <a:ext cx="4771607" cy="5837949"/>
          </a:xfrm>
        </p:spPr>
        <p:txBody>
          <a:bodyPr vert="horz" lIns="91440" tIns="45720" rIns="91440" bIns="45720" rtlCol="0" anchor="ctr">
            <a:normAutofit/>
          </a:bodyPr>
          <a:lstStyle/>
          <a:p>
            <a:r>
              <a:rPr lang="en-GB" sz="1800" b="1" dirty="0" err="1"/>
              <a:t>Principaux</a:t>
            </a:r>
            <a:r>
              <a:rPr lang="en-GB" sz="1800" b="1" dirty="0"/>
              <a:t> </a:t>
            </a:r>
            <a:r>
              <a:rPr lang="en-GB" sz="1800" b="1" dirty="0" err="1"/>
              <a:t>risques</a:t>
            </a:r>
            <a:r>
              <a:rPr lang="en-GB" sz="1800" b="1" dirty="0"/>
              <a:t> </a:t>
            </a:r>
            <a:r>
              <a:rPr lang="en-GB" sz="1800" b="1" dirty="0" err="1"/>
              <a:t>identifiés</a:t>
            </a:r>
            <a:endParaRPr lang="en-GB" sz="1800" b="1" dirty="0"/>
          </a:p>
          <a:p>
            <a:r>
              <a:rPr lang="en-GB" sz="1800" dirty="0"/>
              <a:t>Prompt Injection </a:t>
            </a:r>
          </a:p>
          <a:p>
            <a:r>
              <a:rPr lang="en-GB" sz="1800" dirty="0" err="1"/>
              <a:t>Fuite</a:t>
            </a:r>
            <a:r>
              <a:rPr lang="en-GB" sz="1800" dirty="0"/>
              <a:t> de données </a:t>
            </a:r>
            <a:r>
              <a:rPr lang="en-GB" sz="1800" dirty="0" err="1"/>
              <a:t>sensibles</a:t>
            </a:r>
            <a:r>
              <a:rPr lang="en-GB" sz="1800" dirty="0"/>
              <a:t> </a:t>
            </a:r>
          </a:p>
          <a:p>
            <a:r>
              <a:rPr lang="en-GB" sz="1800" dirty="0" err="1"/>
              <a:t>Génération</a:t>
            </a:r>
            <a:r>
              <a:rPr lang="en-GB" sz="1800" dirty="0"/>
              <a:t> de </a:t>
            </a:r>
            <a:r>
              <a:rPr lang="en-GB" sz="1800" dirty="0" err="1"/>
              <a:t>réponses</a:t>
            </a:r>
            <a:r>
              <a:rPr lang="en-GB" sz="1800" dirty="0"/>
              <a:t> </a:t>
            </a:r>
            <a:r>
              <a:rPr lang="en-GB" sz="1800" dirty="0" err="1"/>
              <a:t>erronées</a:t>
            </a:r>
            <a:r>
              <a:rPr lang="en-GB" sz="1800" dirty="0"/>
              <a:t> </a:t>
            </a:r>
          </a:p>
          <a:p>
            <a:r>
              <a:rPr lang="en-GB" sz="1800" dirty="0" err="1"/>
              <a:t>Contournement</a:t>
            </a:r>
            <a:r>
              <a:rPr lang="en-GB" sz="1800" dirty="0"/>
              <a:t> des </a:t>
            </a:r>
            <a:r>
              <a:rPr lang="en-GB" sz="1800" dirty="0" err="1"/>
              <a:t>règles</a:t>
            </a:r>
            <a:r>
              <a:rPr lang="en-GB" sz="1800" dirty="0"/>
              <a:t> de sécurité </a:t>
            </a:r>
          </a:p>
          <a:p>
            <a:r>
              <a:rPr lang="en-GB" sz="1800" b="1" dirty="0" err="1"/>
              <a:t>Mesures</a:t>
            </a:r>
            <a:r>
              <a:rPr lang="en-GB" sz="1800" b="1" dirty="0"/>
              <a:t> </a:t>
            </a:r>
            <a:r>
              <a:rPr lang="en-GB" sz="1800" b="1" dirty="0" err="1"/>
              <a:t>retenues</a:t>
            </a:r>
            <a:endParaRPr lang="en-GB" sz="1800" b="1" dirty="0"/>
          </a:p>
          <a:p>
            <a:r>
              <a:rPr lang="en-GB" sz="1800" dirty="0"/>
              <a:t>Validation des prompts </a:t>
            </a:r>
            <a:r>
              <a:rPr lang="en-GB" sz="1800" dirty="0" err="1"/>
              <a:t>utilisateurs</a:t>
            </a:r>
            <a:r>
              <a:rPr lang="en-GB" sz="1800" dirty="0"/>
              <a:t> </a:t>
            </a:r>
          </a:p>
          <a:p>
            <a:r>
              <a:rPr lang="en-GB" sz="1800" dirty="0" err="1"/>
              <a:t>Renforcement</a:t>
            </a:r>
            <a:r>
              <a:rPr lang="en-GB" sz="1800" dirty="0"/>
              <a:t> du prompt </a:t>
            </a:r>
            <a:r>
              <a:rPr lang="en-GB" sz="1800" dirty="0" err="1"/>
              <a:t>système</a:t>
            </a:r>
            <a:r>
              <a:rPr lang="en-GB" sz="1800" dirty="0"/>
              <a:t> </a:t>
            </a:r>
          </a:p>
          <a:p>
            <a:r>
              <a:rPr lang="en-GB" sz="1800" dirty="0" err="1"/>
              <a:t>Contrôle</a:t>
            </a:r>
            <a:r>
              <a:rPr lang="en-GB" sz="1800" dirty="0"/>
              <a:t> des </a:t>
            </a:r>
            <a:r>
              <a:rPr lang="en-GB" sz="1800" dirty="0" err="1"/>
              <a:t>réponses</a:t>
            </a:r>
            <a:r>
              <a:rPr lang="en-GB" sz="1800" dirty="0"/>
              <a:t> </a:t>
            </a:r>
            <a:r>
              <a:rPr lang="en-GB" sz="1800" dirty="0" err="1"/>
              <a:t>générées</a:t>
            </a:r>
            <a:r>
              <a:rPr lang="en-GB" sz="1800" dirty="0"/>
              <a:t> </a:t>
            </a:r>
          </a:p>
          <a:p>
            <a:r>
              <a:rPr lang="en-GB" sz="1800" dirty="0"/>
              <a:t>Documentation des </a:t>
            </a:r>
            <a:r>
              <a:rPr lang="en-GB" sz="1800" dirty="0" err="1"/>
              <a:t>risques</a:t>
            </a:r>
            <a:r>
              <a:rPr lang="en-GB" sz="1800" dirty="0"/>
              <a:t> dans un document </a:t>
            </a:r>
            <a:r>
              <a:rPr lang="en-GB" sz="1800" dirty="0" err="1"/>
              <a:t>d'analyse</a:t>
            </a:r>
            <a:r>
              <a:rPr lang="en-GB" sz="1800" dirty="0"/>
              <a:t> </a:t>
            </a:r>
          </a:p>
          <a:p>
            <a:r>
              <a:rPr lang="en-GB" sz="1800" dirty="0"/>
              <a:t>Cette analyse nous a </a:t>
            </a:r>
            <a:r>
              <a:rPr lang="en-GB" sz="1800" dirty="0" err="1"/>
              <a:t>permis</a:t>
            </a:r>
            <a:r>
              <a:rPr lang="en-GB" sz="1800" dirty="0"/>
              <a:t> de justifier les choix de sécurité </a:t>
            </a:r>
            <a:r>
              <a:rPr lang="en-GB" sz="1800" dirty="0" err="1"/>
              <a:t>retenus</a:t>
            </a:r>
            <a:r>
              <a:rPr lang="en-GB" sz="1800" dirty="0"/>
              <a:t> pour le </a:t>
            </a:r>
            <a:r>
              <a:rPr lang="en-GB" sz="1800" dirty="0" err="1"/>
              <a:t>projet</a:t>
            </a:r>
            <a:r>
              <a:rPr lang="en-GB" sz="1800"/>
              <a:t>.</a:t>
            </a:r>
          </a:p>
        </p:txBody>
      </p:sp>
      <p:cxnSp>
        <p:nvCxnSpPr>
          <p:cNvPr id="31" name="Straight Connector 30">
            <a:extLst>
              <a:ext uri="{FF2B5EF4-FFF2-40B4-BE49-F238E27FC236}">
                <a16:creationId xmlns:a16="http://schemas.microsoft.com/office/drawing/2014/main" id="{7EC4F8B7-DBE5-B763-D5F4-A0A6C661A6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24901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5376D-6BDA-9046-D860-837C89D6841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10051A8-7EFB-F68A-0E96-72E35950BA76}"/>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56BB8A0E-D3F8-EB96-0599-73F7B428C682}"/>
              </a:ext>
            </a:extLst>
          </p:cNvPr>
          <p:cNvSpPr>
            <a:spLocks noGrp="1"/>
          </p:cNvSpPr>
          <p:nvPr>
            <p:ph idx="1"/>
          </p:nvPr>
        </p:nvSpPr>
        <p:spPr/>
        <p:txBody>
          <a:bodyPr/>
          <a:lstStyle/>
          <a:p>
            <a:endParaRPr lang="fr-FR"/>
          </a:p>
        </p:txBody>
      </p:sp>
    </p:spTree>
    <p:extLst>
      <p:ext uri="{BB962C8B-B14F-4D97-AF65-F5344CB8AC3E}">
        <p14:creationId xmlns:p14="http://schemas.microsoft.com/office/powerpoint/2010/main" val="9317242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7a771e-02cb-4c1a-a357-20624cfae5a5">
      <Terms xmlns="http://schemas.microsoft.com/office/infopath/2007/PartnerControls"/>
    </lcf76f155ced4ddcb4097134ff3c332f>
    <TaxCatchAll xmlns="78c7a825-5576-4260-86cd-49ed1229aaf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7E35FF551331140B273BB19EEA78143" ma:contentTypeVersion="10" ma:contentTypeDescription="Crée un document." ma:contentTypeScope="" ma:versionID="5a865a7a6de2f2e2466daf78c60cb2ad">
  <xsd:schema xmlns:xsd="http://www.w3.org/2001/XMLSchema" xmlns:xs="http://www.w3.org/2001/XMLSchema" xmlns:p="http://schemas.microsoft.com/office/2006/metadata/properties" xmlns:ns2="aa7a771e-02cb-4c1a-a357-20624cfae5a5" xmlns:ns3="78c7a825-5576-4260-86cd-49ed1229aaf2" targetNamespace="http://schemas.microsoft.com/office/2006/metadata/properties" ma:root="true" ma:fieldsID="a556321fbc9c08b9748fbc72a54dcaf4" ns2:_="" ns3:_="">
    <xsd:import namespace="aa7a771e-02cb-4c1a-a357-20624cfae5a5"/>
    <xsd:import namespace="78c7a825-5576-4260-86cd-49ed1229aaf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7a771e-02cb-4c1a-a357-20624cfae5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a567f5d5-0c03-422f-bbbb-479e45a2137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8c7a825-5576-4260-86cd-49ed1229aaf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e3cf94d-7b4a-4765-9027-e93108760d61}" ma:internalName="TaxCatchAll" ma:showField="CatchAllData" ma:web="78c7a825-5576-4260-86cd-49ed1229aa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271375A-583D-4202-AEB4-CE07CCBA59A4}">
  <ds:schemaRefs>
    <ds:schemaRef ds:uri="78c7a825-5576-4260-86cd-49ed1229aaf2"/>
    <ds:schemaRef ds:uri="aa7a771e-02cb-4c1a-a357-20624cfae5a5"/>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202549E-03EE-4A9B-8A94-5B80C847C8E1}">
  <ds:schemaRefs>
    <ds:schemaRef ds:uri="http://schemas.microsoft.com/sharepoint/v3/contenttype/forms"/>
  </ds:schemaRefs>
</ds:datastoreItem>
</file>

<file path=customXml/itemProps3.xml><?xml version="1.0" encoding="utf-8"?>
<ds:datastoreItem xmlns:ds="http://schemas.openxmlformats.org/officeDocument/2006/customXml" ds:itemID="{5EB6B62F-0935-4C73-86B8-D7213D2BD9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a7a771e-02cb-4c1a-a357-20624cfae5a5"/>
    <ds:schemaRef ds:uri="78c7a825-5576-4260-86cd-49ed1229aa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3818</Words>
  <Application>Microsoft Office PowerPoint</Application>
  <PresentationFormat>Grand écran</PresentationFormat>
  <Paragraphs>409</Paragraphs>
  <Slides>50</Slides>
  <Notes>0</Notes>
  <HiddenSlides>0</HiddenSlides>
  <MMClips>0</MMClips>
  <ScaleCrop>false</ScaleCrop>
  <HeadingPairs>
    <vt:vector size="6" baseType="variant">
      <vt:variant>
        <vt:lpstr>Polices utilisées</vt:lpstr>
      </vt:variant>
      <vt:variant>
        <vt:i4>3</vt:i4>
      </vt:variant>
      <vt:variant>
        <vt:lpstr>Thème</vt:lpstr>
      </vt:variant>
      <vt:variant>
        <vt:i4>2</vt:i4>
      </vt:variant>
      <vt:variant>
        <vt:lpstr>Titres des diapositives</vt:lpstr>
      </vt:variant>
      <vt:variant>
        <vt:i4>50</vt:i4>
      </vt:variant>
    </vt:vector>
  </HeadingPairs>
  <TitlesOfParts>
    <vt:vector size="55" baseType="lpstr">
      <vt:lpstr>Aptos</vt:lpstr>
      <vt:lpstr>Aptos Display</vt:lpstr>
      <vt:lpstr>Arial</vt:lpstr>
      <vt:lpstr>Thème Office</vt:lpstr>
      <vt:lpstr>1_Thème Office</vt:lpstr>
      <vt:lpstr>Sommaire</vt:lpstr>
      <vt:lpstr>Présentation de l'équipe</vt:lpstr>
      <vt:lpstr>Résumé du projet</vt:lpstr>
      <vt:lpstr>Présentation PowerPoint</vt:lpstr>
      <vt:lpstr>Architecture Decision Record Pourquoi un ADR ?</vt:lpstr>
      <vt:lpstr>Structure de l'ADR</vt:lpstr>
      <vt:lpstr>Présentation PowerPoint</vt:lpstr>
      <vt:lpstr>Perturbation J1 : Arrivée de Mme Lefèvre (Produit / Scope)</vt:lpstr>
      <vt:lpstr>Perturbation J2 : La latence inacceptable (Technique)</vt:lpstr>
      <vt:lpstr>Perturbation J3 : Prompt Injection (Sécurité)</vt:lpstr>
      <vt:lpstr>Perturbation J3-bis : Demande RGPD</vt:lpstr>
      <vt:lpstr>Perturbation J4 : Le retour de Mme Lefèvre</vt:lpstr>
      <vt:lpstr>Bilan des perturbations Objectif global</vt:lpstr>
      <vt:lpstr>Présentation PowerPoint</vt:lpstr>
      <vt:lpstr>Product
Vision Board</vt:lpstr>
      <vt:lpstr>Fiches
Personas</vt:lpstr>
      <vt:lpstr>Customer
Journey</vt:lpstr>
      <vt:lpstr>Story Map</vt:lpstr>
      <vt:lpstr>Release
Planning</vt:lpstr>
      <vt:lpstr>Product
Backlog</vt:lpstr>
      <vt:lpstr>Sprint
Backlog</vt:lpstr>
      <vt:lpstr>Présentation PowerPoint</vt:lpstr>
      <vt:lpstr>Perturbation J3 - Sécurité Prompt Injection</vt:lpstr>
      <vt:lpstr>Mesures de protection LLM</vt:lpstr>
      <vt:lpstr>Présentation PowerPoint</vt:lpstr>
      <vt:lpstr>Perturbation J3- RGPD</vt:lpstr>
      <vt:lpstr>Mentions légales &amp; conformité</vt:lpstr>
      <vt:lpstr>Présentation PowerPoint</vt:lpstr>
      <vt:lpstr>Sommaire</vt:lpstr>
      <vt:lpstr>Présentation de l'équipe</vt:lpstr>
      <vt:lpstr>Résumé du projet</vt:lpstr>
      <vt:lpstr>Architecture Decision Record Pourquoi un ADR ?</vt:lpstr>
      <vt:lpstr>Benchmark des modèles LLM</vt:lpstr>
      <vt:lpstr>Résultats du benchmark</vt:lpstr>
      <vt:lpstr>Structure de l'ADR</vt:lpstr>
      <vt:lpstr>Perturbation J3- RGPD</vt:lpstr>
      <vt:lpstr>Mentions légales &amp; conformité</vt:lpstr>
      <vt:lpstr>Veille technologique de sécurité</vt:lpstr>
      <vt:lpstr>Résultats de la veille technologique</vt:lpstr>
      <vt:lpstr>Analyse des risques</vt:lpstr>
      <vt:lpstr>Résultats de la veille technologique</vt:lpstr>
      <vt:lpstr>Résultats de l'analyse des risques</vt:lpstr>
      <vt:lpstr>Présentation PowerPoint</vt:lpstr>
      <vt:lpstr>Benchmark des modèles LLM</vt:lpstr>
      <vt:lpstr>Résultats du benchmark</vt:lpstr>
      <vt:lpstr>Veille technologique de sécurité</vt:lpstr>
      <vt:lpstr>Résultats de la veille technologique</vt:lpstr>
      <vt:lpstr>Analyse des risques</vt:lpstr>
      <vt:lpstr>Résultats de l'analyse des risques</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Raphael Touzet</dc:creator>
  <cp:lastModifiedBy>Raphael Touzet</cp:lastModifiedBy>
  <cp:revision>3</cp:revision>
  <dcterms:created xsi:type="dcterms:W3CDTF">2026-07-02T10:03:48Z</dcterms:created>
  <dcterms:modified xsi:type="dcterms:W3CDTF">2026-07-02T15:53:59Z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0x01010047E35FF551331140B273BB19EEA78143</vt:lpwstr>
  </property>
  <property fmtid="{D5CDD505-2E9C-101B-9397-08002B2CF9AE}" pid="3" name="MediaServiceImageTags">
    <vt:lpwstr/>
  </property>
</Properties>
</file>